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4" r:id="rId4"/>
    <p:sldId id="265" r:id="rId5"/>
    <p:sldId id="258" r:id="rId6"/>
    <p:sldId id="266" r:id="rId7"/>
    <p:sldId id="267" r:id="rId8"/>
    <p:sldId id="268" r:id="rId9"/>
    <p:sldId id="269" r:id="rId10"/>
    <p:sldId id="273" r:id="rId11"/>
    <p:sldId id="259" r:id="rId12"/>
    <p:sldId id="260" r:id="rId13"/>
    <p:sldId id="261" r:id="rId14"/>
    <p:sldId id="262" r:id="rId15"/>
    <p:sldId id="263"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4610"/>
  </p:normalViewPr>
  <p:slideViewPr>
    <p:cSldViewPr snapToGrid="0" snapToObjects="1">
      <p:cViewPr varScale="1">
        <p:scale>
          <a:sx n="82" d="100"/>
          <a:sy n="82" d="100"/>
        </p:scale>
        <p:origin x="6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3982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3C19-16DF-FA68-43A7-3CBDC6D87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B3AA4-B0EB-42BE-7AD1-EF6D313ED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B1041-3EA6-86C1-9F87-8F1BD80CD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EF791D-33BC-95A1-EC2C-5C3DD96D7BE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6651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D4C25-18A3-FC7C-1293-4A317A4E4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84F30-A403-AA26-F3DB-34D52D93E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53988-EE92-14D7-338E-CF26757369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58C1D5-FFFE-F28D-FA12-867DF8CCC9C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36153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973568" y="1234440"/>
            <a:ext cx="3794760" cy="4343400"/>
          </a:xfrm>
          <a:prstGeom prst="roundRect">
            <a:avLst>
              <a:gd name="adj" fmla="val 3373"/>
            </a:avLst>
          </a:prstGeom>
          <a:solidFill>
            <a:srgbClr val="F3F8FF"/>
          </a:solidFill>
          <a:ln w="12700">
            <a:solidFill>
              <a:srgbClr val="CFE0F5"/>
            </a:solidFill>
            <a:prstDash val="solid"/>
          </a:ln>
          <a:effectLst>
            <a:outerShdw blurRad="127000" dist="38100" dir="5400000" algn="bl" rotWithShape="0">
              <a:srgbClr val="9FB8D8">
                <a:alpha val="40000"/>
              </a:srgbClr>
            </a:outerShdw>
          </a:effectLst>
        </p:spPr>
      </p:sp>
      <p:pic>
        <p:nvPicPr>
          <p:cNvPr id="3" name="Image 0" descr="preencoded.png"/>
          <p:cNvPicPr>
            <a:picLocks noChangeAspect="1"/>
          </p:cNvPicPr>
          <p:nvPr/>
        </p:nvPicPr>
        <p:blipFill>
          <a:blip r:embed="rId4"/>
          <a:stretch>
            <a:fillRect/>
          </a:stretch>
        </p:blipFill>
        <p:spPr>
          <a:xfrm>
            <a:off x="8732520" y="1572768"/>
            <a:ext cx="2286000" cy="2628900"/>
          </a:xfrm>
          <a:prstGeom prst="rect">
            <a:avLst/>
          </a:prstGeom>
        </p:spPr>
      </p:pic>
      <p:sp>
        <p:nvSpPr>
          <p:cNvPr id="4" name="Text 1"/>
          <p:cNvSpPr/>
          <p:nvPr/>
        </p:nvSpPr>
        <p:spPr>
          <a:xfrm>
            <a:off x="7973568" y="4663440"/>
            <a:ext cx="3794760" cy="320040"/>
          </a:xfrm>
          <a:prstGeom prst="rect">
            <a:avLst/>
          </a:prstGeom>
          <a:noFill/>
          <a:ln/>
        </p:spPr>
        <p:txBody>
          <a:bodyPr wrap="square" rtlCol="0" anchor="ctr"/>
          <a:lstStyle/>
          <a:p>
            <a:pPr marL="0" indent="0" algn="ctr">
              <a:buNone/>
            </a:pPr>
            <a:r>
              <a:rPr lang="en-US" sz="1000" b="1" kern="0" spc="150" dirty="0">
                <a:solidFill>
                  <a:srgbClr val="1D6FE6"/>
                </a:solidFill>
                <a:latin typeface="Calibri" pitchFamily="34" charset="0"/>
                <a:ea typeface="Calibri" pitchFamily="34" charset="-122"/>
                <a:cs typeface="Calibri" pitchFamily="34" charset="-120"/>
              </a:rPr>
              <a:t>SECURITY INTELLIGENCE FRAMEWORK</a:t>
            </a:r>
            <a:endParaRPr lang="en-US" sz="1000" dirty="0"/>
          </a:p>
        </p:txBody>
      </p:sp>
      <p:sp>
        <p:nvSpPr>
          <p:cNvPr id="5" name="Shape 2"/>
          <p:cNvSpPr/>
          <p:nvPr/>
        </p:nvSpPr>
        <p:spPr>
          <a:xfrm>
            <a:off x="548640" y="868680"/>
            <a:ext cx="658368" cy="658368"/>
          </a:xfrm>
          <a:prstGeom prst="roundRect">
            <a:avLst>
              <a:gd name="adj" fmla="val 12500"/>
            </a:avLst>
          </a:prstGeom>
          <a:solidFill>
            <a:srgbClr val="E9F2FE"/>
          </a:solidFill>
          <a:ln w="12700">
            <a:solidFill>
              <a:srgbClr val="1D6FE6">
                <a:alpha val="55000"/>
              </a:srgbClr>
            </a:solidFill>
            <a:prstDash val="solid"/>
          </a:ln>
        </p:spPr>
      </p:sp>
      <p:pic>
        <p:nvPicPr>
          <p:cNvPr id="6" name="Image 1" descr="preencoded.png"/>
          <p:cNvPicPr>
            <a:picLocks noChangeAspect="1"/>
          </p:cNvPicPr>
          <p:nvPr/>
        </p:nvPicPr>
        <p:blipFill>
          <a:blip r:embed="rId5"/>
          <a:stretch>
            <a:fillRect/>
          </a:stretch>
        </p:blipFill>
        <p:spPr>
          <a:xfrm>
            <a:off x="706648" y="1026688"/>
            <a:ext cx="342351" cy="342351"/>
          </a:xfrm>
          <a:prstGeom prst="rect">
            <a:avLst/>
          </a:prstGeom>
        </p:spPr>
      </p:pic>
      <p:sp>
        <p:nvSpPr>
          <p:cNvPr id="7" name="Text 3"/>
          <p:cNvSpPr/>
          <p:nvPr/>
        </p:nvSpPr>
        <p:spPr>
          <a:xfrm>
            <a:off x="1371600" y="932688"/>
            <a:ext cx="6400800" cy="320040"/>
          </a:xfrm>
          <a:prstGeom prst="rect">
            <a:avLst/>
          </a:prstGeom>
          <a:noFill/>
          <a:ln/>
        </p:spPr>
        <p:txBody>
          <a:bodyPr wrap="square" rtlCol="0" anchor="ctr"/>
          <a:lstStyle/>
          <a:p>
            <a:pPr marL="0" indent="0">
              <a:buNone/>
            </a:pPr>
            <a:r>
              <a:rPr lang="en-US" sz="1300" b="1" kern="0" spc="200" dirty="0">
                <a:solidFill>
                  <a:srgbClr val="1D6FE6"/>
                </a:solidFill>
                <a:latin typeface="Calibri" pitchFamily="34" charset="0"/>
                <a:ea typeface="Calibri" pitchFamily="34" charset="-122"/>
                <a:cs typeface="Calibri" pitchFamily="34" charset="-120"/>
              </a:rPr>
              <a:t>INFOSYS SPRINGBOARD  ·  VIRTUAL INTERNSHIP 7.0</a:t>
            </a:r>
            <a:endParaRPr lang="en-US" sz="1300" dirty="0"/>
          </a:p>
        </p:txBody>
      </p:sp>
      <p:sp>
        <p:nvSpPr>
          <p:cNvPr id="8" name="Text 4"/>
          <p:cNvSpPr/>
          <p:nvPr/>
        </p:nvSpPr>
        <p:spPr>
          <a:xfrm>
            <a:off x="548640" y="1783080"/>
            <a:ext cx="7315200" cy="2103120"/>
          </a:xfrm>
          <a:prstGeom prst="rect">
            <a:avLst/>
          </a:prstGeom>
          <a:noFill/>
          <a:ln/>
        </p:spPr>
        <p:txBody>
          <a:bodyPr wrap="square" rtlCol="0" anchor="ctr"/>
          <a:lstStyle/>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Cyber Threat Analytics</a:t>
            </a:r>
            <a:endParaRPr lang="en-US" sz="3500" dirty="0"/>
          </a:p>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Platform &amp; Incident</a:t>
            </a:r>
            <a:endParaRPr lang="en-US" sz="3500" dirty="0"/>
          </a:p>
          <a:p>
            <a:pPr marL="0" indent="0" algn="l">
              <a:lnSpc>
                <a:spcPct val="100000"/>
              </a:lnSpc>
              <a:buNone/>
            </a:pPr>
            <a:r>
              <a:rPr lang="en-US" sz="3500" b="1" dirty="0">
                <a:solidFill>
                  <a:srgbClr val="16294A"/>
                </a:solidFill>
                <a:latin typeface="Bookman Old Style" pitchFamily="34" charset="0"/>
                <a:ea typeface="Bookman Old Style" pitchFamily="34" charset="-122"/>
                <a:cs typeface="Bookman Old Style" pitchFamily="34" charset="-120"/>
              </a:rPr>
              <a:t>Visualization </a:t>
            </a:r>
            <a:r>
              <a:rPr lang="en-US" sz="3500" b="1">
                <a:solidFill>
                  <a:srgbClr val="16294A"/>
                </a:solidFill>
                <a:latin typeface="Bookman Old Style" pitchFamily="34" charset="0"/>
                <a:ea typeface="Bookman Old Style" pitchFamily="34" charset="-122"/>
                <a:cs typeface="Bookman Old Style" pitchFamily="34" charset="-120"/>
              </a:rPr>
              <a:t>System Group 1</a:t>
            </a:r>
            <a:endParaRPr lang="en-US" sz="3500" dirty="0"/>
          </a:p>
        </p:txBody>
      </p:sp>
      <p:sp>
        <p:nvSpPr>
          <p:cNvPr id="9" name="Text 5"/>
          <p:cNvSpPr/>
          <p:nvPr/>
        </p:nvSpPr>
        <p:spPr>
          <a:xfrm>
            <a:off x="548640" y="3977640"/>
            <a:ext cx="7223760" cy="640080"/>
          </a:xfrm>
          <a:prstGeom prst="rect">
            <a:avLst/>
          </a:prstGeom>
          <a:noFill/>
          <a:ln/>
        </p:spPr>
        <p:txBody>
          <a:bodyPr wrap="square" rtlCol="0" anchor="ctr"/>
          <a:lstStyle/>
          <a:p>
            <a:pPr marL="0" indent="0" algn="l">
              <a:buNone/>
            </a:pPr>
            <a:r>
              <a:rPr lang="en-US" sz="1350" dirty="0">
                <a:solidFill>
                  <a:srgbClr val="51617C"/>
                </a:solidFill>
                <a:latin typeface="Calibri" pitchFamily="34" charset="0"/>
                <a:ea typeface="Calibri" pitchFamily="34" charset="-122"/>
                <a:cs typeface="Calibri" pitchFamily="34" charset="-120"/>
              </a:rPr>
              <a:t>A team-built Power BI framework that turns 40,000 raw cybersecurity events into seven interactive dashboards of clear, actionable threat intelligence.</a:t>
            </a:r>
            <a:endParaRPr lang="en-US" sz="1350" dirty="0"/>
          </a:p>
        </p:txBody>
      </p:sp>
      <p:sp>
        <p:nvSpPr>
          <p:cNvPr id="10" name="Text 6"/>
          <p:cNvSpPr/>
          <p:nvPr/>
        </p:nvSpPr>
        <p:spPr>
          <a:xfrm>
            <a:off x="548640" y="4709160"/>
            <a:ext cx="7223760" cy="228600"/>
          </a:xfrm>
          <a:prstGeom prst="rect">
            <a:avLst/>
          </a:prstGeom>
          <a:noFill/>
          <a:ln/>
        </p:spPr>
        <p:txBody>
          <a:bodyPr wrap="square" rtlCol="0" anchor="ctr"/>
          <a:lstStyle/>
          <a:p>
            <a:pPr marL="0" indent="0">
              <a:buNone/>
            </a:pPr>
            <a:r>
              <a:rPr lang="en-US" sz="1000" b="1" kern="0" spc="200" dirty="0">
                <a:solidFill>
                  <a:srgbClr val="6E7E98"/>
                </a:solidFill>
                <a:latin typeface="Calibri" pitchFamily="34" charset="0"/>
                <a:ea typeface="Calibri" pitchFamily="34" charset="-122"/>
                <a:cs typeface="Calibri" pitchFamily="34" charset="-120"/>
              </a:rPr>
              <a:t>TEAM MEMBERS</a:t>
            </a:r>
            <a:endParaRPr lang="en-US" sz="1000" dirty="0"/>
          </a:p>
        </p:txBody>
      </p:sp>
      <p:sp>
        <p:nvSpPr>
          <p:cNvPr id="11" name="Text 7"/>
          <p:cNvSpPr/>
          <p:nvPr/>
        </p:nvSpPr>
        <p:spPr>
          <a:xfrm>
            <a:off x="548640" y="4937760"/>
            <a:ext cx="7223760" cy="365760"/>
          </a:xfrm>
          <a:prstGeom prst="rect">
            <a:avLst/>
          </a:prstGeom>
          <a:noFill/>
          <a:ln/>
        </p:spPr>
        <p:txBody>
          <a:bodyPr wrap="square" rtlCol="0" anchor="ctr"/>
          <a:lstStyle/>
          <a:p>
            <a:pPr marL="0" indent="0" algn="l">
              <a:buNone/>
            </a:pPr>
            <a:r>
              <a:rPr lang="en-US" sz="1500" b="1" dirty="0">
                <a:solidFill>
                  <a:srgbClr val="16294A"/>
                </a:solidFill>
                <a:latin typeface="Calibri" pitchFamily="34" charset="0"/>
                <a:ea typeface="Calibri" pitchFamily="34" charset="-122"/>
                <a:cs typeface="Calibri" pitchFamily="34" charset="-120"/>
              </a:rPr>
              <a:t>Siddhant Singh</a:t>
            </a:r>
            <a:r>
              <a:rPr lang="en-US" sz="1500" dirty="0">
                <a:solidFill>
                  <a:srgbClr val="CFE0F5"/>
                </a:solidFill>
                <a:latin typeface="Calibri" pitchFamily="34" charset="0"/>
                <a:ea typeface="Calibri" pitchFamily="34" charset="-122"/>
                <a:cs typeface="Calibri" pitchFamily="34" charset="-120"/>
              </a:rPr>
              <a:t>   |   </a:t>
            </a:r>
            <a:r>
              <a:rPr lang="en-US" sz="1500" b="1" dirty="0">
                <a:solidFill>
                  <a:srgbClr val="16294A"/>
                </a:solidFill>
                <a:latin typeface="Calibri" pitchFamily="34" charset="0"/>
                <a:ea typeface="Calibri" pitchFamily="34" charset="-122"/>
                <a:cs typeface="Calibri" pitchFamily="34" charset="-120"/>
              </a:rPr>
              <a:t>Priyam Sinha</a:t>
            </a:r>
            <a:r>
              <a:rPr lang="en-US" sz="1500" dirty="0">
                <a:solidFill>
                  <a:srgbClr val="CFE0F5"/>
                </a:solidFill>
                <a:latin typeface="Calibri" pitchFamily="34" charset="0"/>
                <a:ea typeface="Calibri" pitchFamily="34" charset="-122"/>
                <a:cs typeface="Calibri" pitchFamily="34" charset="-120"/>
              </a:rPr>
              <a:t>   |   </a:t>
            </a:r>
            <a:r>
              <a:rPr lang="en-US" sz="1500" b="1" dirty="0">
                <a:solidFill>
                  <a:srgbClr val="16294A"/>
                </a:solidFill>
                <a:latin typeface="Calibri" pitchFamily="34" charset="0"/>
                <a:ea typeface="Calibri" pitchFamily="34" charset="-122"/>
                <a:cs typeface="Calibri" pitchFamily="34" charset="-120"/>
              </a:rPr>
              <a:t>Ponnuru Nithiin</a:t>
            </a:r>
            <a:endParaRPr lang="en-US" sz="1500" dirty="0"/>
          </a:p>
        </p:txBody>
      </p:sp>
      <p:sp>
        <p:nvSpPr>
          <p:cNvPr id="12" name="Text 8"/>
          <p:cNvSpPr/>
          <p:nvPr/>
        </p:nvSpPr>
        <p:spPr>
          <a:xfrm>
            <a:off x="548640" y="5349240"/>
            <a:ext cx="7223760" cy="320040"/>
          </a:xfrm>
          <a:prstGeom prst="rect">
            <a:avLst/>
          </a:prstGeom>
          <a:noFill/>
          <a:ln/>
        </p:spPr>
        <p:txBody>
          <a:bodyPr wrap="square" rtlCol="0" anchor="ctr"/>
          <a:lstStyle/>
          <a:p>
            <a:pPr marL="0" indent="0" algn="l">
              <a:buNone/>
            </a:pPr>
            <a:r>
              <a:rPr lang="en-US" sz="1200" dirty="0">
                <a:solidFill>
                  <a:srgbClr val="51617C"/>
                </a:solidFill>
                <a:latin typeface="Calibri" pitchFamily="34" charset="0"/>
                <a:ea typeface="Calibri" pitchFamily="34" charset="-122"/>
                <a:cs typeface="Calibri" pitchFamily="34" charset="-120"/>
              </a:rPr>
              <a:t>Infosys Springboard Virtual Internship 7.0</a:t>
            </a:r>
            <a:r>
              <a:rPr lang="en-US" sz="1200" dirty="0">
                <a:solidFill>
                  <a:srgbClr val="CFE0F5"/>
                </a:solidFill>
                <a:latin typeface="Calibri" pitchFamily="34" charset="0"/>
                <a:ea typeface="Calibri" pitchFamily="34" charset="-122"/>
                <a:cs typeface="Calibri" pitchFamily="34" charset="-120"/>
              </a:rPr>
              <a:t>     ·     </a:t>
            </a:r>
            <a:r>
              <a:rPr lang="en-US" sz="1200" b="1" dirty="0">
                <a:solidFill>
                  <a:srgbClr val="1D6FE6"/>
                </a:solidFill>
                <a:latin typeface="Calibri" pitchFamily="34" charset="0"/>
                <a:ea typeface="Calibri" pitchFamily="34" charset="-122"/>
                <a:cs typeface="Calibri" pitchFamily="34" charset="-120"/>
              </a:rPr>
              <a:t>Mentor: Ms. Nithyasri S J</a:t>
            </a:r>
            <a:endParaRPr lang="en-US" sz="1200" dirty="0"/>
          </a:p>
        </p:txBody>
      </p:sp>
      <p:sp>
        <p:nvSpPr>
          <p:cNvPr id="13" name="Shape 9"/>
          <p:cNvSpPr/>
          <p:nvPr/>
        </p:nvSpPr>
        <p:spPr>
          <a:xfrm>
            <a:off x="548640" y="5897880"/>
            <a:ext cx="2148840" cy="658368"/>
          </a:xfrm>
          <a:prstGeom prst="roundRect">
            <a:avLst>
              <a:gd name="adj" fmla="val 1111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4" name="Text 10"/>
          <p:cNvSpPr/>
          <p:nvPr/>
        </p:nvSpPr>
        <p:spPr>
          <a:xfrm>
            <a:off x="713232" y="5897880"/>
            <a:ext cx="1874520" cy="658368"/>
          </a:xfrm>
          <a:prstGeom prst="rect">
            <a:avLst/>
          </a:prstGeom>
          <a:noFill/>
          <a:ln/>
        </p:spPr>
        <p:txBody>
          <a:bodyPr wrap="square" rtlCol="0" anchor="ctr"/>
          <a:lstStyle/>
          <a:p>
            <a:pPr marL="0" indent="0" algn="l">
              <a:buNone/>
            </a:pPr>
            <a:r>
              <a:rPr lang="en-US" sz="1900" b="1" dirty="0">
                <a:solidFill>
                  <a:srgbClr val="1D6FE6"/>
                </a:solidFill>
                <a:latin typeface="Calibri" pitchFamily="34" charset="0"/>
                <a:ea typeface="Calibri" pitchFamily="34" charset="-122"/>
                <a:cs typeface="Calibri" pitchFamily="34" charset="-120"/>
              </a:rPr>
              <a:t>40,000   </a:t>
            </a:r>
            <a:r>
              <a:rPr lang="en-US" sz="1200" dirty="0">
                <a:solidFill>
                  <a:srgbClr val="51617C"/>
                </a:solidFill>
                <a:latin typeface="Calibri" pitchFamily="34" charset="0"/>
                <a:ea typeface="Calibri" pitchFamily="34" charset="-122"/>
                <a:cs typeface="Calibri" pitchFamily="34" charset="-120"/>
              </a:rPr>
              <a:t>Incidents</a:t>
            </a:r>
            <a:endParaRPr lang="en-US" sz="1900" dirty="0"/>
          </a:p>
        </p:txBody>
      </p:sp>
      <p:sp>
        <p:nvSpPr>
          <p:cNvPr id="15" name="Shape 11"/>
          <p:cNvSpPr/>
          <p:nvPr/>
        </p:nvSpPr>
        <p:spPr>
          <a:xfrm>
            <a:off x="2880360" y="5897880"/>
            <a:ext cx="2148840" cy="658368"/>
          </a:xfrm>
          <a:prstGeom prst="roundRect">
            <a:avLst>
              <a:gd name="adj" fmla="val 1111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6" name="Text 12"/>
          <p:cNvSpPr/>
          <p:nvPr/>
        </p:nvSpPr>
        <p:spPr>
          <a:xfrm>
            <a:off x="3044952" y="5897880"/>
            <a:ext cx="1874520" cy="658368"/>
          </a:xfrm>
          <a:prstGeom prst="rect">
            <a:avLst/>
          </a:prstGeom>
          <a:noFill/>
          <a:ln/>
        </p:spPr>
        <p:txBody>
          <a:bodyPr wrap="square" rtlCol="0" anchor="ctr"/>
          <a:lstStyle/>
          <a:p>
            <a:pPr marL="0" indent="0" algn="l">
              <a:buNone/>
            </a:pPr>
            <a:r>
              <a:rPr lang="en-US" sz="1900" b="1" dirty="0">
                <a:solidFill>
                  <a:srgbClr val="1D6FE6"/>
                </a:solidFill>
                <a:latin typeface="Calibri" pitchFamily="34" charset="0"/>
                <a:ea typeface="Calibri" pitchFamily="34" charset="-122"/>
                <a:cs typeface="Calibri" pitchFamily="34" charset="-120"/>
              </a:rPr>
              <a:t>7   </a:t>
            </a:r>
            <a:r>
              <a:rPr lang="en-US" sz="1200" dirty="0">
                <a:solidFill>
                  <a:srgbClr val="51617C"/>
                </a:solidFill>
                <a:latin typeface="Calibri" pitchFamily="34" charset="0"/>
                <a:ea typeface="Calibri" pitchFamily="34" charset="-122"/>
                <a:cs typeface="Calibri" pitchFamily="34" charset="-120"/>
              </a:rPr>
              <a:t>Dashboards</a:t>
            </a:r>
            <a:endParaRPr lang="en-US" sz="1900" dirty="0"/>
          </a:p>
        </p:txBody>
      </p:sp>
      <p:sp>
        <p:nvSpPr>
          <p:cNvPr id="17" name="Shape 13"/>
          <p:cNvSpPr/>
          <p:nvPr/>
        </p:nvSpPr>
        <p:spPr>
          <a:xfrm>
            <a:off x="5212080" y="5897880"/>
            <a:ext cx="2148840" cy="658368"/>
          </a:xfrm>
          <a:prstGeom prst="roundRect">
            <a:avLst>
              <a:gd name="adj" fmla="val 11111"/>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Text 14"/>
          <p:cNvSpPr/>
          <p:nvPr/>
        </p:nvSpPr>
        <p:spPr>
          <a:xfrm>
            <a:off x="5376672" y="5897880"/>
            <a:ext cx="1874520" cy="658368"/>
          </a:xfrm>
          <a:prstGeom prst="rect">
            <a:avLst/>
          </a:prstGeom>
          <a:noFill/>
          <a:ln/>
        </p:spPr>
        <p:txBody>
          <a:bodyPr wrap="square" rtlCol="0" anchor="ctr"/>
          <a:lstStyle/>
          <a:p>
            <a:pPr marL="0" indent="0" algn="l">
              <a:buNone/>
            </a:pPr>
            <a:r>
              <a:rPr lang="en-US" sz="1900" b="1" dirty="0">
                <a:solidFill>
                  <a:srgbClr val="1D6FE6"/>
                </a:solidFill>
                <a:latin typeface="Calibri" pitchFamily="34" charset="0"/>
                <a:ea typeface="Calibri" pitchFamily="34" charset="-122"/>
                <a:cs typeface="Calibri" pitchFamily="34" charset="-120"/>
              </a:rPr>
              <a:t>28   </a:t>
            </a:r>
            <a:r>
              <a:rPr lang="en-US" sz="1200" dirty="0">
                <a:solidFill>
                  <a:srgbClr val="51617C"/>
                </a:solidFill>
                <a:latin typeface="Calibri" pitchFamily="34" charset="0"/>
                <a:ea typeface="Calibri" pitchFamily="34" charset="-122"/>
                <a:cs typeface="Calibri" pitchFamily="34" charset="-120"/>
              </a:rPr>
              <a:t>States</a:t>
            </a:r>
            <a:endParaRPr lang="en-US" sz="1900" dirty="0"/>
          </a:p>
        </p:txBody>
      </p:sp>
      <p:grpSp>
        <p:nvGrpSpPr>
          <p:cNvPr id="22" name="Group 18">
            <a:extLst>
              <a:ext uri="{FF2B5EF4-FFF2-40B4-BE49-F238E27FC236}">
                <a16:creationId xmlns:a16="http://schemas.microsoft.com/office/drawing/2014/main" id="{39946B17-29D7-B4F8-97C2-F1738CBB63DB}"/>
              </a:ext>
            </a:extLst>
          </p:cNvPr>
          <p:cNvGrpSpPr/>
          <p:nvPr/>
        </p:nvGrpSpPr>
        <p:grpSpPr>
          <a:xfrm>
            <a:off x="8536577" y="209310"/>
            <a:ext cx="2604706" cy="430770"/>
            <a:chOff x="0" y="0"/>
            <a:chExt cx="3584702" cy="861695"/>
          </a:xfrm>
        </p:grpSpPr>
        <p:sp>
          <p:nvSpPr>
            <p:cNvPr id="23" name="Freeform 19">
              <a:extLst>
                <a:ext uri="{FF2B5EF4-FFF2-40B4-BE49-F238E27FC236}">
                  <a16:creationId xmlns:a16="http://schemas.microsoft.com/office/drawing/2014/main" id="{7E412BBF-DBD4-0EB1-DF45-57D49CE775BE}"/>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01 · PROJECT OBJECTIVE</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Goals and modules of the framework</a:t>
            </a:r>
            <a:endParaRPr lang="en-US" sz="2400" dirty="0"/>
          </a:p>
        </p:txBody>
      </p:sp>
      <p:sp>
        <p:nvSpPr>
          <p:cNvPr id="5" name="Shape 3"/>
          <p:cNvSpPr/>
          <p:nvPr/>
        </p:nvSpPr>
        <p:spPr>
          <a:xfrm>
            <a:off x="548640" y="1554480"/>
            <a:ext cx="5989320" cy="4663440"/>
          </a:xfrm>
          <a:prstGeom prst="roundRect">
            <a:avLst>
              <a:gd name="adj" fmla="val 156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22960" y="1810512"/>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54634" y="1942186"/>
            <a:ext cx="285293" cy="285293"/>
          </a:xfrm>
          <a:prstGeom prst="rect">
            <a:avLst/>
          </a:prstGeom>
        </p:spPr>
      </p:pic>
      <p:sp>
        <p:nvSpPr>
          <p:cNvPr id="8" name="Text 5"/>
          <p:cNvSpPr/>
          <p:nvPr/>
        </p:nvSpPr>
        <p:spPr>
          <a:xfrm>
            <a:off x="1508760" y="1810512"/>
            <a:ext cx="480060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PROJECT OBJECTIVE</a:t>
            </a:r>
            <a:endParaRPr lang="en-US" sz="1600" dirty="0"/>
          </a:p>
        </p:txBody>
      </p:sp>
      <p:sp>
        <p:nvSpPr>
          <p:cNvPr id="9" name="Text 6"/>
          <p:cNvSpPr/>
          <p:nvPr/>
        </p:nvSpPr>
        <p:spPr>
          <a:xfrm>
            <a:off x="896112" y="2487168"/>
            <a:ext cx="5294376" cy="3566160"/>
          </a:xfrm>
          <a:prstGeom prst="rect">
            <a:avLst/>
          </a:prstGeom>
          <a:noFill/>
          <a:ln/>
        </p:spPr>
        <p:txBody>
          <a:bodyPr wrap="square" rtlCol="0" anchor="t"/>
          <a:lstStyle/>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Consolidate 40,000 raw cybersecurity incidents into one Power BI analytical framework</a:t>
            </a:r>
            <a:endParaRPr lang="en-US" sz="1300" dirty="0"/>
          </a:p>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Detect and quantify attack patterns, severity levels and anomaly behaviour</a:t>
            </a:r>
            <a:endParaRPr lang="en-US" sz="1300" dirty="0"/>
          </a:p>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Monitor network traffic, user behaviour and response effectiveness</a:t>
            </a:r>
            <a:endParaRPr lang="en-US" sz="1300" dirty="0"/>
          </a:p>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Communicate complex log data as clear KPIs for technical and non-technical audiences</a:t>
            </a:r>
            <a:endParaRPr lang="en-US" sz="1300" dirty="0"/>
          </a:p>
        </p:txBody>
      </p:sp>
      <p:sp>
        <p:nvSpPr>
          <p:cNvPr id="10" name="Shape 7"/>
          <p:cNvSpPr/>
          <p:nvPr/>
        </p:nvSpPr>
        <p:spPr>
          <a:xfrm>
            <a:off x="6766560" y="1554480"/>
            <a:ext cx="4873752" cy="4663440"/>
          </a:xfrm>
          <a:prstGeom prst="roundRect">
            <a:avLst>
              <a:gd name="adj" fmla="val 1569"/>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1" name="Shape 8"/>
          <p:cNvSpPr/>
          <p:nvPr/>
        </p:nvSpPr>
        <p:spPr>
          <a:xfrm>
            <a:off x="7040880" y="1810512"/>
            <a:ext cx="548640" cy="548640"/>
          </a:xfrm>
          <a:prstGeom prst="roundRect">
            <a:avLst>
              <a:gd name="adj" fmla="val 15000"/>
            </a:avLst>
          </a:prstGeom>
          <a:solidFill>
            <a:srgbClr val="E9F2FE"/>
          </a:solidFill>
          <a:ln w="12700">
            <a:solidFill>
              <a:srgbClr val="1D6FE6">
                <a:alpha val="55000"/>
              </a:srgbClr>
            </a:solidFill>
            <a:prstDash val="solid"/>
          </a:ln>
        </p:spPr>
      </p:sp>
      <p:pic>
        <p:nvPicPr>
          <p:cNvPr id="12" name="Image 1" descr="preencoded.png"/>
          <p:cNvPicPr>
            <a:picLocks noChangeAspect="1"/>
          </p:cNvPicPr>
          <p:nvPr/>
        </p:nvPicPr>
        <p:blipFill>
          <a:blip r:embed="rId5"/>
          <a:stretch>
            <a:fillRect/>
          </a:stretch>
        </p:blipFill>
        <p:spPr>
          <a:xfrm>
            <a:off x="7172554" y="1942186"/>
            <a:ext cx="285293" cy="285293"/>
          </a:xfrm>
          <a:prstGeom prst="rect">
            <a:avLst/>
          </a:prstGeom>
        </p:spPr>
      </p:pic>
      <p:sp>
        <p:nvSpPr>
          <p:cNvPr id="13" name="Text 9"/>
          <p:cNvSpPr/>
          <p:nvPr/>
        </p:nvSpPr>
        <p:spPr>
          <a:xfrm>
            <a:off x="7726680" y="1810512"/>
            <a:ext cx="3685032"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PROJECT MODULES</a:t>
            </a:r>
            <a:endParaRPr lang="en-US" sz="1600" dirty="0"/>
          </a:p>
        </p:txBody>
      </p:sp>
      <p:sp>
        <p:nvSpPr>
          <p:cNvPr id="14" name="Text 10"/>
          <p:cNvSpPr/>
          <p:nvPr/>
        </p:nvSpPr>
        <p:spPr>
          <a:xfrm>
            <a:off x="7114032" y="2487168"/>
            <a:ext cx="4178808" cy="3566160"/>
          </a:xfrm>
          <a:prstGeom prst="rect">
            <a:avLst/>
          </a:prstGeom>
          <a:noFill/>
          <a:ln/>
        </p:spPr>
        <p:txBody>
          <a:bodyPr wrap="square" rtlCol="0" anchor="t"/>
          <a:lstStyle/>
          <a:p>
            <a:pPr marL="190500" indent="-190500" algn="l">
              <a:lnSpc>
                <a:spcPct val="103000"/>
              </a:lnSpc>
              <a:spcAft>
                <a:spcPts val="1300"/>
              </a:spcAft>
              <a:buSzPct val="100000"/>
              <a:buChar char="•"/>
            </a:pPr>
            <a:r>
              <a:rPr lang="en-US" sz="1300" dirty="0">
                <a:solidFill>
                  <a:srgbClr val="51617C"/>
                </a:solidFill>
                <a:latin typeface="Calibri" pitchFamily="34" charset="0"/>
                <a:ea typeface="Calibri" pitchFamily="34" charset="-122"/>
                <a:cs typeface="Calibri" pitchFamily="34" charset="-120"/>
              </a:rPr>
              <a:t>Cyber Security Attacks Analysis</a:t>
            </a:r>
            <a:endParaRPr lang="en-US" sz="1300" dirty="0"/>
          </a:p>
          <a:p>
            <a:pPr marL="190500" indent="-190500" algn="l">
              <a:lnSpc>
                <a:spcPct val="103000"/>
              </a:lnSpc>
              <a:spcAft>
                <a:spcPts val="1300"/>
              </a:spcAft>
              <a:buSzPct val="100000"/>
              <a:buChar char="•"/>
            </a:pPr>
            <a:r>
              <a:rPr lang="en-US" sz="1300" dirty="0">
                <a:solidFill>
                  <a:srgbClr val="51617C"/>
                </a:solidFill>
                <a:latin typeface="Calibri" pitchFamily="34" charset="0"/>
                <a:ea typeface="Calibri" pitchFamily="34" charset="-122"/>
                <a:cs typeface="Calibri" pitchFamily="34" charset="-120"/>
              </a:rPr>
              <a:t>Threat Detection &amp; Anomaly Analysis</a:t>
            </a:r>
            <a:endParaRPr lang="en-US" sz="1300" dirty="0"/>
          </a:p>
          <a:p>
            <a:pPr marL="190500" indent="-190500" algn="l">
              <a:lnSpc>
                <a:spcPct val="103000"/>
              </a:lnSpc>
              <a:spcAft>
                <a:spcPts val="1300"/>
              </a:spcAft>
              <a:buSzPct val="100000"/>
              <a:buChar char="•"/>
            </a:pPr>
            <a:r>
              <a:rPr lang="en-US" sz="1300" dirty="0">
                <a:solidFill>
                  <a:srgbClr val="51617C"/>
                </a:solidFill>
                <a:latin typeface="Calibri" pitchFamily="34" charset="0"/>
                <a:ea typeface="Calibri" pitchFamily="34" charset="-122"/>
                <a:cs typeface="Calibri" pitchFamily="34" charset="-120"/>
              </a:rPr>
              <a:t>Network Traffic Analysis</a:t>
            </a:r>
            <a:endParaRPr lang="en-US" sz="1300" dirty="0"/>
          </a:p>
          <a:p>
            <a:pPr marL="190500" indent="-190500" algn="l">
              <a:lnSpc>
                <a:spcPct val="103000"/>
              </a:lnSpc>
              <a:spcAft>
                <a:spcPts val="1300"/>
              </a:spcAft>
              <a:buSzPct val="100000"/>
              <a:buChar char="•"/>
            </a:pPr>
            <a:r>
              <a:rPr lang="en-US" sz="1300" dirty="0">
                <a:solidFill>
                  <a:srgbClr val="51617C"/>
                </a:solidFill>
                <a:latin typeface="Calibri" pitchFamily="34" charset="0"/>
                <a:ea typeface="Calibri" pitchFamily="34" charset="-122"/>
                <a:cs typeface="Calibri" pitchFamily="34" charset="-120"/>
              </a:rPr>
              <a:t>User Behaviour Analytics</a:t>
            </a:r>
            <a:endParaRPr lang="en-US" sz="1300" dirty="0"/>
          </a:p>
          <a:p>
            <a:pPr marL="190500" indent="-190500" algn="l">
              <a:lnSpc>
                <a:spcPct val="103000"/>
              </a:lnSpc>
              <a:spcAft>
                <a:spcPts val="1300"/>
              </a:spcAft>
              <a:buSzPct val="100000"/>
              <a:buChar char="•"/>
            </a:pPr>
            <a:r>
              <a:rPr lang="en-US" sz="1300" dirty="0">
                <a:solidFill>
                  <a:srgbClr val="51617C"/>
                </a:solidFill>
                <a:latin typeface="Calibri" pitchFamily="34" charset="0"/>
                <a:ea typeface="Calibri" pitchFamily="34" charset="-122"/>
                <a:cs typeface="Calibri" pitchFamily="34" charset="-120"/>
              </a:rPr>
              <a:t>Threat Profile, Severity &amp; Alert Response</a:t>
            </a:r>
            <a:endParaRPr lang="en-US" sz="1300" dirty="0"/>
          </a:p>
        </p:txBody>
      </p:sp>
      <p:grpSp>
        <p:nvGrpSpPr>
          <p:cNvPr id="15" name="Group 18">
            <a:extLst>
              <a:ext uri="{FF2B5EF4-FFF2-40B4-BE49-F238E27FC236}">
                <a16:creationId xmlns:a16="http://schemas.microsoft.com/office/drawing/2014/main" id="{D765860D-D010-7A1B-B9CD-28B57E2243ED}"/>
              </a:ext>
            </a:extLst>
          </p:cNvPr>
          <p:cNvGrpSpPr/>
          <p:nvPr/>
        </p:nvGrpSpPr>
        <p:grpSpPr>
          <a:xfrm>
            <a:off x="127718" y="92211"/>
            <a:ext cx="1168193" cy="227829"/>
            <a:chOff x="0" y="0"/>
            <a:chExt cx="3584702" cy="861695"/>
          </a:xfrm>
        </p:grpSpPr>
        <p:sp>
          <p:nvSpPr>
            <p:cNvPr id="16" name="Freeform 19">
              <a:extLst>
                <a:ext uri="{FF2B5EF4-FFF2-40B4-BE49-F238E27FC236}">
                  <a16:creationId xmlns:a16="http://schemas.microsoft.com/office/drawing/2014/main" id="{B09FCE33-B29D-5EFC-7797-A0A61F46248A}"/>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02 · PROJECT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The eight-stage Power BI pipeline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9552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710488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1" name="Picture 50">
            <a:extLst>
              <a:ext uri="{FF2B5EF4-FFF2-40B4-BE49-F238E27FC236}">
                <a16:creationId xmlns:a16="http://schemas.microsoft.com/office/drawing/2014/main" id="{B2CAA4B8-24C6-BA51-7412-502BDB002E4B}"/>
              </a:ext>
            </a:extLst>
          </p:cNvPr>
          <p:cNvPicPr>
            <a:picLocks noChangeAspect="1"/>
          </p:cNvPicPr>
          <p:nvPr/>
        </p:nvPicPr>
        <p:blipFill>
          <a:blip r:embed="rId4"/>
          <a:srcRect t="14667" b="3401"/>
          <a:stretch>
            <a:fillRect/>
          </a:stretch>
        </p:blipFill>
        <p:spPr>
          <a:xfrm>
            <a:off x="4025445" y="1389887"/>
            <a:ext cx="3616326" cy="5304261"/>
          </a:xfrm>
          <a:prstGeom prst="rect">
            <a:avLst/>
          </a:prstGeom>
          <a:ln>
            <a:solidFill>
              <a:schemeClr val="tx1"/>
            </a:solidFill>
          </a:ln>
        </p:spPr>
      </p:pic>
      <p:grpSp>
        <p:nvGrpSpPr>
          <p:cNvPr id="5" name="Group 18">
            <a:extLst>
              <a:ext uri="{FF2B5EF4-FFF2-40B4-BE49-F238E27FC236}">
                <a16:creationId xmlns:a16="http://schemas.microsoft.com/office/drawing/2014/main" id="{293BE149-28EA-B0AB-1B9C-813A04A042AD}"/>
              </a:ext>
            </a:extLst>
          </p:cNvPr>
          <p:cNvGrpSpPr/>
          <p:nvPr/>
        </p:nvGrpSpPr>
        <p:grpSpPr>
          <a:xfrm>
            <a:off x="127718" y="92211"/>
            <a:ext cx="1168193" cy="227829"/>
            <a:chOff x="0" y="0"/>
            <a:chExt cx="3584702" cy="861695"/>
          </a:xfrm>
        </p:grpSpPr>
        <p:sp>
          <p:nvSpPr>
            <p:cNvPr id="6" name="Freeform 19">
              <a:extLst>
                <a:ext uri="{FF2B5EF4-FFF2-40B4-BE49-F238E27FC236}">
                  <a16:creationId xmlns:a16="http://schemas.microsoft.com/office/drawing/2014/main" id="{D94F7C17-1DF3-8F2F-BBF1-2693C7682100}"/>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4BC94DC-4D4C-005C-F53D-2440A827DF3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8F9C20C-331B-355E-0A62-1410623DCB3A}"/>
              </a:ext>
            </a:extLst>
          </p:cNvPr>
          <p:cNvSpPr/>
          <p:nvPr/>
        </p:nvSpPr>
        <p:spPr>
          <a:xfrm>
            <a:off x="548640" y="457200"/>
            <a:ext cx="100584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300" normalizeH="0" baseline="0" noProof="0" dirty="0">
                <a:ln>
                  <a:noFill/>
                </a:ln>
                <a:solidFill>
                  <a:srgbClr val="1D6FE6"/>
                </a:solidFill>
                <a:effectLst/>
                <a:uLnTx/>
                <a:uFillTx/>
                <a:latin typeface="Calibri" pitchFamily="34" charset="0"/>
                <a:ea typeface="Calibri" pitchFamily="34" charset="-122"/>
                <a:cs typeface="Calibri" pitchFamily="34" charset="-120"/>
              </a:rPr>
              <a:t>02.1 · PROJECT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6A1F9F8D-7634-13F1-04FB-8CF5177A93BB}"/>
              </a:ext>
            </a:extLst>
          </p:cNvPr>
          <p:cNvSpPr/>
          <p:nvPr/>
        </p:nvSpPr>
        <p:spPr>
          <a:xfrm>
            <a:off x="548640" y="749808"/>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294A"/>
                </a:solidFill>
                <a:effectLst/>
                <a:uLnTx/>
                <a:uFillTx/>
                <a:latin typeface="Bookman Old Style" pitchFamily="34" charset="0"/>
                <a:ea typeface="Bookman Old Style" pitchFamily="34" charset="-122"/>
                <a:cs typeface="Bookman Old Style" pitchFamily="34" charset="-120"/>
              </a:rPr>
              <a:t>The eight-stage Power BI pipeline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4C01A62B-6340-1361-3BC9-C5EF58CA544E}"/>
              </a:ext>
            </a:extLst>
          </p:cNvPr>
          <p:cNvSpPr/>
          <p:nvPr/>
        </p:nvSpPr>
        <p:spPr>
          <a:xfrm>
            <a:off x="795528" y="2167127"/>
            <a:ext cx="10942382" cy="4485599"/>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9F8921D6-12D9-F262-DBBB-4AAC4C39E957}"/>
              </a:ext>
            </a:extLst>
          </p:cNvPr>
          <p:cNvSpPr/>
          <p:nvPr/>
        </p:nvSpPr>
        <p:spPr>
          <a:xfrm>
            <a:off x="7104888" y="2167128"/>
            <a:ext cx="502920" cy="5029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18">
            <a:extLst>
              <a:ext uri="{FF2B5EF4-FFF2-40B4-BE49-F238E27FC236}">
                <a16:creationId xmlns:a16="http://schemas.microsoft.com/office/drawing/2014/main" id="{6085B85C-0102-2871-7987-B45CA2616EA5}"/>
              </a:ext>
            </a:extLst>
          </p:cNvPr>
          <p:cNvGrpSpPr/>
          <p:nvPr/>
        </p:nvGrpSpPr>
        <p:grpSpPr>
          <a:xfrm>
            <a:off x="127718" y="92211"/>
            <a:ext cx="1168193" cy="227829"/>
            <a:chOff x="0" y="0"/>
            <a:chExt cx="3584702" cy="861695"/>
          </a:xfrm>
        </p:grpSpPr>
        <p:sp>
          <p:nvSpPr>
            <p:cNvPr id="6" name="Freeform 19">
              <a:extLst>
                <a:ext uri="{FF2B5EF4-FFF2-40B4-BE49-F238E27FC236}">
                  <a16:creationId xmlns:a16="http://schemas.microsoft.com/office/drawing/2014/main" id="{76BEAF47-31D6-3F0D-9BDA-42E532D4C922}"/>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7" name="TextBox 6">
            <a:extLst>
              <a:ext uri="{FF2B5EF4-FFF2-40B4-BE49-F238E27FC236}">
                <a16:creationId xmlns:a16="http://schemas.microsoft.com/office/drawing/2014/main" id="{CFCC084D-2582-77DD-F9FC-CF55FF11AF3D}"/>
              </a:ext>
            </a:extLst>
          </p:cNvPr>
          <p:cNvSpPr txBox="1"/>
          <p:nvPr/>
        </p:nvSpPr>
        <p:spPr>
          <a:xfrm>
            <a:off x="6139543" y="1035698"/>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8132BE53-7182-D1F0-49AE-4B891310143E}"/>
              </a:ext>
            </a:extLst>
          </p:cNvPr>
          <p:cNvSpPr txBox="1"/>
          <p:nvPr/>
        </p:nvSpPr>
        <p:spPr>
          <a:xfrm>
            <a:off x="548640" y="1389888"/>
            <a:ext cx="11430000" cy="5078313"/>
          </a:xfrm>
          <a:prstGeom prst="rect">
            <a:avLst/>
          </a:prstGeom>
          <a:noFill/>
        </p:spPr>
        <p:txBody>
          <a:bodyPr wrap="square" rtlCol="0">
            <a:spAutoFit/>
          </a:bodyPr>
          <a:lstStyle/>
          <a:p>
            <a:r>
              <a:rPr lang="en-IN" sz="1200" dirty="0"/>
              <a:t>End-to-End Cybersecurity Analytics Workflow</a:t>
            </a:r>
          </a:p>
          <a:p>
            <a:r>
              <a:rPr lang="en-IN" sz="1200" dirty="0"/>
              <a:t>1. Problem Understanding</a:t>
            </a:r>
            <a:br>
              <a:rPr lang="en-IN" sz="1200" dirty="0"/>
            </a:br>
            <a:r>
              <a:rPr lang="en-IN" sz="1200" dirty="0"/>
              <a:t>The project began by identifying key cybersecurity questions: number and types of attacks, severity, anomaly behaviour, network activity, user behaviour, and effectiveness of security responses. KPIs such as Total Attacks, High Severity, Malware Detected, Average Anomaly Score and Block Rate were defined for analysis. </a:t>
            </a:r>
          </a:p>
          <a:p>
            <a:r>
              <a:rPr lang="en-IN" sz="1200" dirty="0"/>
              <a:t>2. Data Collection</a:t>
            </a:r>
            <a:br>
              <a:rPr lang="en-IN" sz="1200" dirty="0"/>
            </a:br>
            <a:r>
              <a:rPr lang="en-IN" sz="1200" dirty="0"/>
              <a:t>A publicly available 40,000-record cybersecurity dataset from Kaggle, covering January 2020 to October 2023, was collected. It contained information on IPs, protocols, attack types, severity, malware indicators, anomaly scores, devices, operating systems, browsers and geography. </a:t>
            </a:r>
          </a:p>
          <a:p>
            <a:r>
              <a:rPr lang="en-IN" sz="1200" dirty="0"/>
              <a:t>3. Data Understanding</a:t>
            </a:r>
            <a:br>
              <a:rPr lang="en-IN" sz="1200" dirty="0"/>
            </a:br>
            <a:r>
              <a:rPr lang="en-IN" sz="1200" dirty="0"/>
              <a:t>The collected data was explored to understand its structure, variables, categories, quality and analytical potential. Key dimensions such as DDoS, Malware, Intrusion; Low, Medium, High severity; TCP, UDP, ICMP; and Blocked, Logged, Ignored were identified for further analysis.</a:t>
            </a:r>
          </a:p>
          <a:p>
            <a:r>
              <a:rPr lang="en-IN" sz="1200" dirty="0"/>
              <a:t>4. Data Connection</a:t>
            </a:r>
            <a:br>
              <a:rPr lang="en-IN" sz="1200" dirty="0"/>
            </a:br>
            <a:r>
              <a:rPr lang="en-IN" sz="1200" dirty="0"/>
              <a:t>The dataset was imported into Microsoft Power BI, with Power Query used as the ETL environment. A structured data model was established, including a dedicated Date table and relationships to ensure consistent filtering and analysis across dashboards. </a:t>
            </a:r>
          </a:p>
          <a:p>
            <a:r>
              <a:rPr lang="en-IN" sz="1200" dirty="0"/>
              <a:t>5. Data Preprocessing</a:t>
            </a:r>
            <a:br>
              <a:rPr lang="en-IN" sz="1200" dirty="0"/>
            </a:br>
            <a:r>
              <a:rPr lang="en-IN" sz="1200" dirty="0"/>
              <a:t>The raw data was cleaned and transformed through 19 Power Query steps. This included removing duplicates, correcting data types, handling missing values, splitting location fields into City and State, extracting browser information, removing unnecessary payload data, creating a Severity Sort key, and grouping anomaly scores into four bands: 0–25, 26–50, 51–75 and 76–100. </a:t>
            </a:r>
          </a:p>
          <a:p>
            <a:r>
              <a:rPr lang="en-IN" sz="1200" dirty="0"/>
              <a:t>6. Data </a:t>
            </a:r>
            <a:r>
              <a:rPr lang="en-IN" sz="1200" dirty="0" err="1"/>
              <a:t>Modeling</a:t>
            </a:r>
            <a:br>
              <a:rPr lang="en-IN" sz="1200" dirty="0"/>
            </a:br>
            <a:r>
              <a:rPr lang="en-IN" sz="1200" dirty="0"/>
              <a:t>The cleaned data was structured for analysis using a Date table, relationships and DAX measures/calculated columns. Key calculations included Total Attacks, High Severity, % High Severity, Malware Detected, Average Anomaly Score, Block Rate and Anomaly Score Band. </a:t>
            </a:r>
          </a:p>
          <a:p>
            <a:r>
              <a:rPr lang="en-IN" sz="1200" dirty="0"/>
              <a:t>7. Data Visualization</a:t>
            </a:r>
            <a:br>
              <a:rPr lang="en-IN" sz="1200" dirty="0"/>
            </a:br>
            <a:r>
              <a:rPr lang="en-IN" sz="1200" dirty="0"/>
              <a:t>The analysis was converted into five interactive Power BI dashboards: Cyber Security Attacks Analysis, Threat Detection &amp; Anomaly Analysis, Network Traffic Analysis, User Behaviour Analytics, and Threat Profile &amp; Severity Breakdown. Slicers, cross-filtering and advanced visuals enabled users to explore threats from overview to detailed analysis. </a:t>
            </a:r>
          </a:p>
          <a:p>
            <a:r>
              <a:rPr lang="en-IN" sz="1200" dirty="0"/>
              <a:t>8. Share / Publish Report</a:t>
            </a:r>
            <a:br>
              <a:rPr lang="en-IN" sz="1200" dirty="0"/>
            </a:br>
            <a:r>
              <a:rPr lang="en-IN" sz="1200" dirty="0"/>
              <a:t>The final insights were documented in the Milestone 3 report and PowerPoint presentation, while the .</a:t>
            </a:r>
            <a:r>
              <a:rPr lang="en-IN" sz="1200" dirty="0" err="1"/>
              <a:t>pbix</a:t>
            </a:r>
            <a:r>
              <a:rPr lang="en-IN" sz="1200" dirty="0"/>
              <a:t> file and supporting artefacts were maintained through GitHub. The project was reviewed with the mentor through Microsoft Teams and prepared for stakeholder access through Power BI publishing.</a:t>
            </a:r>
          </a:p>
          <a:p>
            <a:endParaRPr lang="en-IN" sz="1200" dirty="0"/>
          </a:p>
        </p:txBody>
      </p:sp>
    </p:spTree>
    <p:extLst>
      <p:ext uri="{BB962C8B-B14F-4D97-AF65-F5344CB8AC3E}">
        <p14:creationId xmlns:p14="http://schemas.microsoft.com/office/powerpoint/2010/main" val="459774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03 · PROJECT EXECUTION MILESTONES</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How the project was delivered</a:t>
            </a:r>
            <a:endParaRPr lang="en-US" sz="2400" dirty="0"/>
          </a:p>
        </p:txBody>
      </p:sp>
      <p:sp>
        <p:nvSpPr>
          <p:cNvPr id="5" name="Shape 3"/>
          <p:cNvSpPr/>
          <p:nvPr/>
        </p:nvSpPr>
        <p:spPr>
          <a:xfrm>
            <a:off x="54864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04672" y="1892808"/>
            <a:ext cx="960120" cy="566928"/>
          </a:xfrm>
          <a:prstGeom prst="roundRect">
            <a:avLst>
              <a:gd name="adj" fmla="val 14516"/>
            </a:avLst>
          </a:prstGeom>
          <a:solidFill>
            <a:srgbClr val="1D6FE6"/>
          </a:solidFill>
          <a:ln/>
        </p:spPr>
      </p:sp>
      <p:sp>
        <p:nvSpPr>
          <p:cNvPr id="7" name="Text 5"/>
          <p:cNvSpPr/>
          <p:nvPr/>
        </p:nvSpPr>
        <p:spPr>
          <a:xfrm>
            <a:off x="804672" y="1892808"/>
            <a:ext cx="960120" cy="566928"/>
          </a:xfrm>
          <a:prstGeom prst="rect">
            <a:avLst/>
          </a:prstGeom>
          <a:noFill/>
          <a:ln/>
        </p:spPr>
        <p:txBody>
          <a:bodyPr wrap="square"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M1</a:t>
            </a:r>
            <a:endParaRPr lang="en-US" sz="2200" dirty="0"/>
          </a:p>
        </p:txBody>
      </p:sp>
      <p:sp>
        <p:nvSpPr>
          <p:cNvPr id="8" name="Text 6"/>
          <p:cNvSpPr/>
          <p:nvPr/>
        </p:nvSpPr>
        <p:spPr>
          <a:xfrm>
            <a:off x="822960" y="2624328"/>
            <a:ext cx="2084832" cy="237744"/>
          </a:xfrm>
          <a:prstGeom prst="rect">
            <a:avLst/>
          </a:prstGeom>
          <a:noFill/>
          <a:ln/>
        </p:spPr>
        <p:txBody>
          <a:bodyPr wrap="square" rtlCol="0" anchor="ctr"/>
          <a:lstStyle/>
          <a:p>
            <a:pPr marL="0" indent="0">
              <a:buNone/>
            </a:pPr>
            <a:r>
              <a:rPr lang="en-US" sz="1000" b="1" kern="0" spc="100" dirty="0">
                <a:solidFill>
                  <a:srgbClr val="1D6FE6"/>
                </a:solidFill>
                <a:latin typeface="Calibri" pitchFamily="34" charset="0"/>
                <a:ea typeface="Calibri" pitchFamily="34" charset="-122"/>
                <a:cs typeface="Calibri" pitchFamily="34" charset="-120"/>
              </a:rPr>
              <a:t>MILESTONE 1</a:t>
            </a:r>
            <a:endParaRPr lang="en-US" sz="1000" dirty="0"/>
          </a:p>
        </p:txBody>
      </p:sp>
      <p:sp>
        <p:nvSpPr>
          <p:cNvPr id="9" name="Text 7"/>
          <p:cNvSpPr/>
          <p:nvPr/>
        </p:nvSpPr>
        <p:spPr>
          <a:xfrm>
            <a:off x="822960" y="2862072"/>
            <a:ext cx="2084832" cy="777240"/>
          </a:xfrm>
          <a:prstGeom prst="rect">
            <a:avLst/>
          </a:prstGeom>
          <a:noFill/>
          <a:ln/>
        </p:spPr>
        <p:txBody>
          <a:bodyPr wrap="square" rtlCol="0" anchor="t"/>
          <a:lstStyle/>
          <a:p>
            <a:pPr marL="0" indent="0">
              <a:lnSpc>
                <a:spcPct val="98000"/>
              </a:lnSpc>
              <a:buNone/>
            </a:pPr>
            <a:endParaRPr lang="en-US" sz="1500" dirty="0"/>
          </a:p>
        </p:txBody>
      </p:sp>
      <p:sp>
        <p:nvSpPr>
          <p:cNvPr id="10" name="Text 8"/>
          <p:cNvSpPr/>
          <p:nvPr/>
        </p:nvSpPr>
        <p:spPr>
          <a:xfrm>
            <a:off x="822960" y="3657600"/>
            <a:ext cx="2084832" cy="2194560"/>
          </a:xfrm>
          <a:prstGeom prst="rect">
            <a:avLst/>
          </a:prstGeom>
          <a:noFill/>
          <a:ln/>
        </p:spPr>
        <p:txBody>
          <a:bodyPr wrap="square" rtlCol="0" anchor="t"/>
          <a:lstStyle/>
          <a:p>
            <a:pPr marL="0" indent="0">
              <a:lnSpc>
                <a:spcPct val="105000"/>
              </a:lnSpc>
              <a:buNone/>
            </a:pPr>
            <a:r>
              <a:rPr lang="en-US" sz="1200" dirty="0">
                <a:solidFill>
                  <a:srgbClr val="51617C"/>
                </a:solidFill>
                <a:latin typeface="Calibri" pitchFamily="34" charset="0"/>
                <a:ea typeface="Calibri" pitchFamily="34" charset="-122"/>
                <a:cs typeface="Calibri" pitchFamily="34" charset="-120"/>
              </a:rPr>
              <a:t>Sourced the 40,000-record Kaggle dataset and shaped it through 19 Power Query steps - types, nulls, date/time split and category standardisation.</a:t>
            </a:r>
            <a:endParaRPr lang="en-US" sz="1200" dirty="0"/>
          </a:p>
        </p:txBody>
      </p:sp>
      <p:sp>
        <p:nvSpPr>
          <p:cNvPr id="11" name="Shape 9"/>
          <p:cNvSpPr/>
          <p:nvPr/>
        </p:nvSpPr>
        <p:spPr>
          <a:xfrm>
            <a:off x="342900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endParaRPr lang="en-IN" dirty="0"/>
          </a:p>
        </p:txBody>
      </p:sp>
      <p:sp>
        <p:nvSpPr>
          <p:cNvPr id="12" name="Shape 10"/>
          <p:cNvSpPr/>
          <p:nvPr/>
        </p:nvSpPr>
        <p:spPr>
          <a:xfrm>
            <a:off x="3685032" y="1892808"/>
            <a:ext cx="960120" cy="566928"/>
          </a:xfrm>
          <a:prstGeom prst="roundRect">
            <a:avLst>
              <a:gd name="adj" fmla="val 14516"/>
            </a:avLst>
          </a:prstGeom>
          <a:solidFill>
            <a:srgbClr val="1D6FE6"/>
          </a:solidFill>
          <a:ln/>
        </p:spPr>
      </p:sp>
      <p:sp>
        <p:nvSpPr>
          <p:cNvPr id="13" name="Text 11"/>
          <p:cNvSpPr/>
          <p:nvPr/>
        </p:nvSpPr>
        <p:spPr>
          <a:xfrm>
            <a:off x="3685032" y="1892808"/>
            <a:ext cx="960120" cy="566928"/>
          </a:xfrm>
          <a:prstGeom prst="rect">
            <a:avLst/>
          </a:prstGeom>
          <a:noFill/>
          <a:ln/>
        </p:spPr>
        <p:txBody>
          <a:bodyPr wrap="square"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M2</a:t>
            </a:r>
            <a:endParaRPr lang="en-US" sz="2200" dirty="0"/>
          </a:p>
        </p:txBody>
      </p:sp>
      <p:sp>
        <p:nvSpPr>
          <p:cNvPr id="14" name="Text 12"/>
          <p:cNvSpPr/>
          <p:nvPr/>
        </p:nvSpPr>
        <p:spPr>
          <a:xfrm>
            <a:off x="3703320" y="2624328"/>
            <a:ext cx="2084832" cy="237744"/>
          </a:xfrm>
          <a:prstGeom prst="rect">
            <a:avLst/>
          </a:prstGeom>
          <a:noFill/>
          <a:ln/>
        </p:spPr>
        <p:txBody>
          <a:bodyPr wrap="square" rtlCol="0" anchor="ctr"/>
          <a:lstStyle/>
          <a:p>
            <a:pPr marL="0" indent="0">
              <a:buNone/>
            </a:pPr>
            <a:r>
              <a:rPr lang="en-US" sz="1000" b="1" kern="0" spc="100" dirty="0">
                <a:solidFill>
                  <a:srgbClr val="1D6FE6"/>
                </a:solidFill>
                <a:latin typeface="Calibri" pitchFamily="34" charset="0"/>
                <a:ea typeface="Calibri" pitchFamily="34" charset="-122"/>
                <a:cs typeface="Calibri" pitchFamily="34" charset="-120"/>
              </a:rPr>
              <a:t>MILESTONE 2</a:t>
            </a:r>
            <a:endParaRPr lang="en-US" sz="1000" dirty="0"/>
          </a:p>
        </p:txBody>
      </p:sp>
      <p:sp>
        <p:nvSpPr>
          <p:cNvPr id="15" name="Text 13"/>
          <p:cNvSpPr/>
          <p:nvPr/>
        </p:nvSpPr>
        <p:spPr>
          <a:xfrm>
            <a:off x="3703320" y="2862072"/>
            <a:ext cx="2084832" cy="777240"/>
          </a:xfrm>
          <a:prstGeom prst="rect">
            <a:avLst/>
          </a:prstGeom>
          <a:noFill/>
          <a:ln/>
        </p:spPr>
        <p:txBody>
          <a:bodyPr wrap="square" rtlCol="0" anchor="t"/>
          <a:lstStyle/>
          <a:p>
            <a:pPr marL="0" indent="0">
              <a:lnSpc>
                <a:spcPct val="98000"/>
              </a:lnSpc>
              <a:buNone/>
            </a:pPr>
            <a:r>
              <a:rPr lang="en-US" sz="1500" b="1" dirty="0">
                <a:solidFill>
                  <a:srgbClr val="16294A"/>
                </a:solidFill>
                <a:latin typeface="Bookman Old Style" pitchFamily="34" charset="0"/>
                <a:ea typeface="Bookman Old Style" pitchFamily="34" charset="-122"/>
                <a:cs typeface="Bookman Old Style" pitchFamily="34" charset="-120"/>
              </a:rPr>
              <a:t>Data Modeling</a:t>
            </a:r>
            <a:endParaRPr lang="en-US" sz="1500" dirty="0"/>
          </a:p>
        </p:txBody>
      </p:sp>
      <p:sp>
        <p:nvSpPr>
          <p:cNvPr id="16" name="Text 14"/>
          <p:cNvSpPr/>
          <p:nvPr/>
        </p:nvSpPr>
        <p:spPr>
          <a:xfrm>
            <a:off x="3703320" y="3657600"/>
            <a:ext cx="2084832" cy="2194560"/>
          </a:xfrm>
          <a:prstGeom prst="rect">
            <a:avLst/>
          </a:prstGeom>
          <a:noFill/>
          <a:ln/>
        </p:spPr>
        <p:txBody>
          <a:bodyPr wrap="square" rtlCol="0" anchor="t"/>
          <a:lstStyle/>
          <a:p>
            <a:pPr marL="0" indent="0">
              <a:lnSpc>
                <a:spcPct val="105000"/>
              </a:lnSpc>
              <a:buNone/>
            </a:pPr>
            <a:r>
              <a:rPr lang="en-US" sz="1200" dirty="0">
                <a:solidFill>
                  <a:srgbClr val="51617C"/>
                </a:solidFill>
                <a:latin typeface="Calibri" pitchFamily="34" charset="0"/>
                <a:ea typeface="Calibri" pitchFamily="34" charset="-122"/>
                <a:cs typeface="Calibri" pitchFamily="34" charset="-120"/>
              </a:rPr>
              <a:t>Built and marked a Date table, established relationships and authored core DAX measures and the Anomaly Score Band logic.</a:t>
            </a:r>
            <a:endParaRPr lang="en-US" sz="1200" dirty="0"/>
          </a:p>
        </p:txBody>
      </p:sp>
      <p:sp>
        <p:nvSpPr>
          <p:cNvPr id="17" name="Shape 15"/>
          <p:cNvSpPr/>
          <p:nvPr/>
        </p:nvSpPr>
        <p:spPr>
          <a:xfrm>
            <a:off x="630936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Shape 16"/>
          <p:cNvSpPr/>
          <p:nvPr/>
        </p:nvSpPr>
        <p:spPr>
          <a:xfrm>
            <a:off x="6565392" y="1892808"/>
            <a:ext cx="960120" cy="566928"/>
          </a:xfrm>
          <a:prstGeom prst="roundRect">
            <a:avLst>
              <a:gd name="adj" fmla="val 14516"/>
            </a:avLst>
          </a:prstGeom>
          <a:solidFill>
            <a:srgbClr val="1D6FE6"/>
          </a:solidFill>
          <a:ln/>
        </p:spPr>
      </p:sp>
      <p:sp>
        <p:nvSpPr>
          <p:cNvPr id="19" name="Text 17"/>
          <p:cNvSpPr/>
          <p:nvPr/>
        </p:nvSpPr>
        <p:spPr>
          <a:xfrm>
            <a:off x="6565392" y="1892808"/>
            <a:ext cx="960120" cy="566928"/>
          </a:xfrm>
          <a:prstGeom prst="rect">
            <a:avLst/>
          </a:prstGeom>
          <a:noFill/>
          <a:ln/>
        </p:spPr>
        <p:txBody>
          <a:bodyPr wrap="square"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M3</a:t>
            </a:r>
            <a:endParaRPr lang="en-US" sz="2200" dirty="0"/>
          </a:p>
        </p:txBody>
      </p:sp>
      <p:sp>
        <p:nvSpPr>
          <p:cNvPr id="20" name="Text 18"/>
          <p:cNvSpPr/>
          <p:nvPr/>
        </p:nvSpPr>
        <p:spPr>
          <a:xfrm>
            <a:off x="6583680" y="2624328"/>
            <a:ext cx="2084832" cy="237744"/>
          </a:xfrm>
          <a:prstGeom prst="rect">
            <a:avLst/>
          </a:prstGeom>
          <a:noFill/>
          <a:ln/>
        </p:spPr>
        <p:txBody>
          <a:bodyPr wrap="square" rtlCol="0" anchor="ctr"/>
          <a:lstStyle/>
          <a:p>
            <a:pPr marL="0" indent="0">
              <a:buNone/>
            </a:pPr>
            <a:r>
              <a:rPr lang="en-US" sz="1000" b="1" kern="0" spc="100" dirty="0">
                <a:solidFill>
                  <a:srgbClr val="1D6FE6"/>
                </a:solidFill>
                <a:latin typeface="Calibri" pitchFamily="34" charset="0"/>
                <a:ea typeface="Calibri" pitchFamily="34" charset="-122"/>
                <a:cs typeface="Calibri" pitchFamily="34" charset="-120"/>
              </a:rPr>
              <a:t>MILESTONE 3</a:t>
            </a:r>
            <a:endParaRPr lang="en-US" sz="1000" dirty="0"/>
          </a:p>
        </p:txBody>
      </p:sp>
      <p:sp>
        <p:nvSpPr>
          <p:cNvPr id="21" name="Text 19"/>
          <p:cNvSpPr/>
          <p:nvPr/>
        </p:nvSpPr>
        <p:spPr>
          <a:xfrm>
            <a:off x="6583680" y="2862072"/>
            <a:ext cx="2084832" cy="777240"/>
          </a:xfrm>
          <a:prstGeom prst="rect">
            <a:avLst/>
          </a:prstGeom>
          <a:noFill/>
          <a:ln/>
        </p:spPr>
        <p:txBody>
          <a:bodyPr wrap="square" rtlCol="0" anchor="t"/>
          <a:lstStyle/>
          <a:p>
            <a:pPr marL="0" indent="0">
              <a:lnSpc>
                <a:spcPct val="98000"/>
              </a:lnSpc>
              <a:buNone/>
            </a:pPr>
            <a:r>
              <a:rPr lang="en-US" sz="1500" b="1" dirty="0">
                <a:solidFill>
                  <a:srgbClr val="16294A"/>
                </a:solidFill>
                <a:latin typeface="Bookman Old Style" pitchFamily="34" charset="0"/>
                <a:ea typeface="Bookman Old Style" pitchFamily="34" charset="-122"/>
                <a:cs typeface="Bookman Old Style" pitchFamily="34" charset="-120"/>
              </a:rPr>
              <a:t>Development</a:t>
            </a:r>
            <a:endParaRPr lang="en-US" sz="1500" dirty="0"/>
          </a:p>
        </p:txBody>
      </p:sp>
      <p:sp>
        <p:nvSpPr>
          <p:cNvPr id="22" name="Text 20"/>
          <p:cNvSpPr/>
          <p:nvPr/>
        </p:nvSpPr>
        <p:spPr>
          <a:xfrm>
            <a:off x="6583680" y="3657600"/>
            <a:ext cx="2084832" cy="2194560"/>
          </a:xfrm>
          <a:prstGeom prst="rect">
            <a:avLst/>
          </a:prstGeom>
          <a:noFill/>
          <a:ln/>
        </p:spPr>
        <p:txBody>
          <a:bodyPr wrap="square" rtlCol="0" anchor="t"/>
          <a:lstStyle/>
          <a:p>
            <a:pPr marL="0" indent="0">
              <a:lnSpc>
                <a:spcPct val="105000"/>
              </a:lnSpc>
              <a:buNone/>
            </a:pPr>
            <a:r>
              <a:rPr lang="en-US" sz="1200" dirty="0">
                <a:solidFill>
                  <a:srgbClr val="51617C"/>
                </a:solidFill>
                <a:latin typeface="Calibri" pitchFamily="34" charset="0"/>
                <a:ea typeface="Calibri" pitchFamily="34" charset="-122"/>
                <a:cs typeface="Calibri" pitchFamily="34" charset="-120"/>
              </a:rPr>
              <a:t>Designed the seven themed dashboards with slicers, cross-filtering, decomposition tree, ribbon, treemap and Sankey visuals.</a:t>
            </a:r>
            <a:endParaRPr lang="en-US" sz="1200" dirty="0"/>
          </a:p>
        </p:txBody>
      </p:sp>
      <p:sp>
        <p:nvSpPr>
          <p:cNvPr id="23" name="Shape 21"/>
          <p:cNvSpPr/>
          <p:nvPr/>
        </p:nvSpPr>
        <p:spPr>
          <a:xfrm>
            <a:off x="9189720" y="1600200"/>
            <a:ext cx="2633472" cy="4480560"/>
          </a:xfrm>
          <a:prstGeom prst="roundRect">
            <a:avLst>
              <a:gd name="adj" fmla="val 2778"/>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24" name="Shape 22"/>
          <p:cNvSpPr/>
          <p:nvPr/>
        </p:nvSpPr>
        <p:spPr>
          <a:xfrm>
            <a:off x="9445752" y="1892808"/>
            <a:ext cx="960120" cy="566928"/>
          </a:xfrm>
          <a:prstGeom prst="roundRect">
            <a:avLst>
              <a:gd name="adj" fmla="val 14516"/>
            </a:avLst>
          </a:prstGeom>
          <a:solidFill>
            <a:srgbClr val="1D6FE6"/>
          </a:solidFill>
          <a:ln/>
        </p:spPr>
      </p:sp>
      <p:sp>
        <p:nvSpPr>
          <p:cNvPr id="25" name="Text 23"/>
          <p:cNvSpPr/>
          <p:nvPr/>
        </p:nvSpPr>
        <p:spPr>
          <a:xfrm>
            <a:off x="9445752" y="1892808"/>
            <a:ext cx="960120" cy="566928"/>
          </a:xfrm>
          <a:prstGeom prst="rect">
            <a:avLst/>
          </a:prstGeom>
          <a:noFill/>
          <a:ln/>
        </p:spPr>
        <p:txBody>
          <a:bodyPr wrap="square"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M4</a:t>
            </a:r>
            <a:endParaRPr lang="en-US" sz="2200" dirty="0"/>
          </a:p>
        </p:txBody>
      </p:sp>
      <p:sp>
        <p:nvSpPr>
          <p:cNvPr id="26" name="Text 24"/>
          <p:cNvSpPr/>
          <p:nvPr/>
        </p:nvSpPr>
        <p:spPr>
          <a:xfrm>
            <a:off x="9464040" y="2624328"/>
            <a:ext cx="2084832" cy="237744"/>
          </a:xfrm>
          <a:prstGeom prst="rect">
            <a:avLst/>
          </a:prstGeom>
          <a:noFill/>
          <a:ln/>
        </p:spPr>
        <p:txBody>
          <a:bodyPr wrap="square" rtlCol="0" anchor="ctr"/>
          <a:lstStyle/>
          <a:p>
            <a:pPr marL="0" indent="0">
              <a:buNone/>
            </a:pPr>
            <a:r>
              <a:rPr lang="en-US" sz="1000" b="1" kern="0" spc="100" dirty="0">
                <a:solidFill>
                  <a:srgbClr val="1D6FE6"/>
                </a:solidFill>
                <a:latin typeface="Calibri" pitchFamily="34" charset="0"/>
                <a:ea typeface="Calibri" pitchFamily="34" charset="-122"/>
                <a:cs typeface="Calibri" pitchFamily="34" charset="-120"/>
              </a:rPr>
              <a:t>MILESTONE 4</a:t>
            </a:r>
            <a:endParaRPr lang="en-US" sz="1000" dirty="0"/>
          </a:p>
        </p:txBody>
      </p:sp>
      <p:sp>
        <p:nvSpPr>
          <p:cNvPr id="27" name="Text 25"/>
          <p:cNvSpPr/>
          <p:nvPr/>
        </p:nvSpPr>
        <p:spPr>
          <a:xfrm>
            <a:off x="9464040" y="2862072"/>
            <a:ext cx="2084832" cy="777240"/>
          </a:xfrm>
          <a:prstGeom prst="rect">
            <a:avLst/>
          </a:prstGeom>
          <a:noFill/>
          <a:ln/>
        </p:spPr>
        <p:txBody>
          <a:bodyPr wrap="square" rtlCol="0" anchor="t"/>
          <a:lstStyle/>
          <a:p>
            <a:pPr marL="0" indent="0">
              <a:lnSpc>
                <a:spcPct val="98000"/>
              </a:lnSpc>
              <a:buNone/>
            </a:pPr>
            <a:r>
              <a:rPr lang="en-US" sz="1500" b="1" dirty="0">
                <a:solidFill>
                  <a:srgbClr val="16294A"/>
                </a:solidFill>
                <a:latin typeface="Bookman Old Style" pitchFamily="34" charset="0"/>
                <a:ea typeface="Bookman Old Style" pitchFamily="34" charset="-122"/>
                <a:cs typeface="Bookman Old Style" pitchFamily="34" charset="-120"/>
              </a:rPr>
              <a:t>Review &amp; Optimization</a:t>
            </a:r>
            <a:endParaRPr lang="en-US" sz="1500" dirty="0"/>
          </a:p>
        </p:txBody>
      </p:sp>
      <p:sp>
        <p:nvSpPr>
          <p:cNvPr id="28" name="Text 26"/>
          <p:cNvSpPr/>
          <p:nvPr/>
        </p:nvSpPr>
        <p:spPr>
          <a:xfrm>
            <a:off x="9464040" y="3657600"/>
            <a:ext cx="2084832" cy="2194560"/>
          </a:xfrm>
          <a:prstGeom prst="rect">
            <a:avLst/>
          </a:prstGeom>
          <a:noFill/>
          <a:ln/>
        </p:spPr>
        <p:txBody>
          <a:bodyPr wrap="square" rtlCol="0" anchor="t"/>
          <a:lstStyle/>
          <a:p>
            <a:pPr marL="0" indent="0">
              <a:lnSpc>
                <a:spcPct val="105000"/>
              </a:lnSpc>
              <a:buNone/>
            </a:pPr>
            <a:r>
              <a:rPr lang="en-US" sz="1200" dirty="0">
                <a:solidFill>
                  <a:srgbClr val="51617C"/>
                </a:solidFill>
                <a:latin typeface="Calibri" pitchFamily="34" charset="0"/>
                <a:ea typeface="Calibri" pitchFamily="34" charset="-122"/>
                <a:cs typeface="Calibri" pitchFamily="34" charset="-120"/>
              </a:rPr>
              <a:t>Validated figures across visuals, optimised model performance, and consolidated the report, PPT and GitHub repository.</a:t>
            </a:r>
            <a:endParaRPr lang="en-US" sz="1200" dirty="0"/>
          </a:p>
        </p:txBody>
      </p:sp>
      <p:grpSp>
        <p:nvGrpSpPr>
          <p:cNvPr id="29" name="Group 18">
            <a:extLst>
              <a:ext uri="{FF2B5EF4-FFF2-40B4-BE49-F238E27FC236}">
                <a16:creationId xmlns:a16="http://schemas.microsoft.com/office/drawing/2014/main" id="{B0DA84C5-42D2-F4BD-A2B0-BEB1367EB6B3}"/>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id="{099718DD-4C1A-F8F0-DE0B-709D80BE213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32" name="Text 13">
            <a:extLst>
              <a:ext uri="{FF2B5EF4-FFF2-40B4-BE49-F238E27FC236}">
                <a16:creationId xmlns:a16="http://schemas.microsoft.com/office/drawing/2014/main" id="{55709E63-E508-1317-686C-FEC68F802897}"/>
              </a:ext>
            </a:extLst>
          </p:cNvPr>
          <p:cNvSpPr/>
          <p:nvPr/>
        </p:nvSpPr>
        <p:spPr>
          <a:xfrm>
            <a:off x="804672" y="2862756"/>
            <a:ext cx="2084832" cy="777240"/>
          </a:xfrm>
          <a:prstGeom prst="rect">
            <a:avLst/>
          </a:prstGeom>
          <a:noFill/>
          <a:ln/>
        </p:spPr>
        <p:txBody>
          <a:bodyPr wrap="square" rtlCol="0" anchor="t"/>
          <a:lstStyle/>
          <a:p>
            <a:pPr marL="0" indent="0">
              <a:lnSpc>
                <a:spcPct val="98000"/>
              </a:lnSpc>
              <a:buNone/>
            </a:pPr>
            <a:r>
              <a:rPr lang="en-US" sz="1500" b="1" dirty="0">
                <a:solidFill>
                  <a:srgbClr val="16294A"/>
                </a:solidFill>
                <a:latin typeface="Bookman Old Style" pitchFamily="34" charset="0"/>
                <a:ea typeface="Bookman Old Style" pitchFamily="34" charset="-122"/>
                <a:cs typeface="Bookman Old Style" pitchFamily="34" charset="-120"/>
              </a:rPr>
              <a:t>Data Modeling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CC7489D-CDFE-8777-7665-D1B872A3B39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900E792-CBE5-9CCC-B4F8-EDD6A850E06D}"/>
              </a:ext>
            </a:extLst>
          </p:cNvPr>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03.1 · PROJECT EXECUTION MILESTONES</a:t>
            </a:r>
            <a:endParaRPr lang="en-US" sz="2800" dirty="0"/>
          </a:p>
        </p:txBody>
      </p:sp>
      <p:sp>
        <p:nvSpPr>
          <p:cNvPr id="4" name="Text 2">
            <a:extLst>
              <a:ext uri="{FF2B5EF4-FFF2-40B4-BE49-F238E27FC236}">
                <a16:creationId xmlns:a16="http://schemas.microsoft.com/office/drawing/2014/main" id="{9D518FB3-88BD-5A19-718C-37FBD819273B}"/>
              </a:ext>
            </a:extLst>
          </p:cNvPr>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How the project was delivered</a:t>
            </a:r>
            <a:endParaRPr lang="en-US" sz="2400" dirty="0"/>
          </a:p>
        </p:txBody>
      </p:sp>
      <p:sp>
        <p:nvSpPr>
          <p:cNvPr id="9" name="Text 7">
            <a:extLst>
              <a:ext uri="{FF2B5EF4-FFF2-40B4-BE49-F238E27FC236}">
                <a16:creationId xmlns:a16="http://schemas.microsoft.com/office/drawing/2014/main" id="{6CA14BCE-B301-D97A-43AE-63EA580EFC09}"/>
              </a:ext>
            </a:extLst>
          </p:cNvPr>
          <p:cNvSpPr/>
          <p:nvPr/>
        </p:nvSpPr>
        <p:spPr>
          <a:xfrm>
            <a:off x="822960" y="2862072"/>
            <a:ext cx="2084832" cy="777240"/>
          </a:xfrm>
          <a:prstGeom prst="rect">
            <a:avLst/>
          </a:prstGeom>
          <a:noFill/>
          <a:ln/>
        </p:spPr>
        <p:txBody>
          <a:bodyPr wrap="square" rtlCol="0" anchor="t"/>
          <a:lstStyle/>
          <a:p>
            <a:pPr marL="0" indent="0">
              <a:lnSpc>
                <a:spcPct val="98000"/>
              </a:lnSpc>
              <a:buNone/>
            </a:pPr>
            <a:endParaRPr lang="en-US" sz="1500" dirty="0"/>
          </a:p>
        </p:txBody>
      </p:sp>
      <p:grpSp>
        <p:nvGrpSpPr>
          <p:cNvPr id="29" name="Group 18">
            <a:extLst>
              <a:ext uri="{FF2B5EF4-FFF2-40B4-BE49-F238E27FC236}">
                <a16:creationId xmlns:a16="http://schemas.microsoft.com/office/drawing/2014/main" id="{1D29F79F-FBAB-32D8-55DD-479480C00569}"/>
              </a:ext>
            </a:extLst>
          </p:cNvPr>
          <p:cNvGrpSpPr/>
          <p:nvPr/>
        </p:nvGrpSpPr>
        <p:grpSpPr>
          <a:xfrm>
            <a:off x="127718" y="92211"/>
            <a:ext cx="1168193" cy="227829"/>
            <a:chOff x="0" y="0"/>
            <a:chExt cx="3584702" cy="861695"/>
          </a:xfrm>
        </p:grpSpPr>
        <p:sp>
          <p:nvSpPr>
            <p:cNvPr id="30" name="Freeform 19">
              <a:extLst>
                <a:ext uri="{FF2B5EF4-FFF2-40B4-BE49-F238E27FC236}">
                  <a16:creationId xmlns:a16="http://schemas.microsoft.com/office/drawing/2014/main" id="{6987D9F8-0149-DDC7-FCDD-EA09FC7CE213}"/>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4"/>
              <a:stretch>
                <a:fillRect t="-365" b="-365"/>
              </a:stretch>
            </a:blipFill>
          </p:spPr>
        </p:sp>
      </p:grpSp>
      <p:sp>
        <p:nvSpPr>
          <p:cNvPr id="31" name="TextBox 30">
            <a:extLst>
              <a:ext uri="{FF2B5EF4-FFF2-40B4-BE49-F238E27FC236}">
                <a16:creationId xmlns:a16="http://schemas.microsoft.com/office/drawing/2014/main" id="{CC134F63-A8CE-1178-79A8-053ED5B4E69B}"/>
              </a:ext>
            </a:extLst>
          </p:cNvPr>
          <p:cNvSpPr txBox="1"/>
          <p:nvPr/>
        </p:nvSpPr>
        <p:spPr>
          <a:xfrm>
            <a:off x="548640" y="1389888"/>
            <a:ext cx="11376504" cy="5266999"/>
          </a:xfrm>
          <a:prstGeom prst="rect">
            <a:avLst/>
          </a:prstGeom>
          <a:noFill/>
        </p:spPr>
        <p:txBody>
          <a:bodyPr wrap="square" numCol="3" rtlCol="0">
            <a:spAutoFit/>
          </a:bodyPr>
          <a:lstStyle/>
          <a:p>
            <a:r>
              <a:rPr lang="en-IN" sz="1300" b="1" dirty="0"/>
              <a:t>MILESTONE 1 - Data Foundation &amp; Understanding</a:t>
            </a:r>
          </a:p>
          <a:p>
            <a:r>
              <a:rPr lang="en-IN" sz="1300" b="1" dirty="0"/>
              <a:t>Focus:</a:t>
            </a:r>
            <a:r>
              <a:rPr lang="en-IN" sz="1300" dirty="0"/>
              <a:t> Preparing reliable data for analysis</a:t>
            </a:r>
          </a:p>
          <a:p>
            <a:pPr lvl="0"/>
            <a:r>
              <a:rPr lang="en-IN" sz="1300" dirty="0"/>
              <a:t>Collected and validated </a:t>
            </a:r>
            <a:r>
              <a:rPr lang="en-IN" sz="1300" b="1" dirty="0"/>
              <a:t>40,000 cybersecurity records</a:t>
            </a:r>
            <a:r>
              <a:rPr lang="en-IN" sz="1300" dirty="0"/>
              <a:t> from Kaggle. </a:t>
            </a:r>
          </a:p>
          <a:p>
            <a:pPr lvl="0"/>
            <a:r>
              <a:rPr lang="en-IN" sz="1300" dirty="0"/>
              <a:t>Explored data structure, variables and cybersecurity dimensions. </a:t>
            </a:r>
          </a:p>
          <a:p>
            <a:pPr lvl="0"/>
            <a:r>
              <a:rPr lang="en-IN" sz="1300" dirty="0"/>
              <a:t>Cleaned and transformed data using </a:t>
            </a:r>
            <a:r>
              <a:rPr lang="en-IN" sz="1300" b="1" dirty="0"/>
              <a:t>Power Query</a:t>
            </a:r>
            <a:r>
              <a:rPr lang="en-IN" sz="1300" dirty="0"/>
              <a:t>. </a:t>
            </a:r>
          </a:p>
          <a:p>
            <a:pPr lvl="0"/>
            <a:r>
              <a:rPr lang="en-IN" sz="1300" dirty="0"/>
              <a:t>Handled missing values, duplicates, errors and incorrect data types. </a:t>
            </a:r>
          </a:p>
          <a:p>
            <a:pPr lvl="0"/>
            <a:r>
              <a:rPr lang="en-IN" sz="1300" dirty="0"/>
              <a:t>Created </a:t>
            </a:r>
            <a:r>
              <a:rPr lang="en-IN" sz="1300" b="1" dirty="0"/>
              <a:t>Date, City, State, Browser, Severity Sort and Anomaly Score Bands</a:t>
            </a:r>
            <a:r>
              <a:rPr lang="en-IN" sz="1300" dirty="0"/>
              <a:t>. </a:t>
            </a:r>
          </a:p>
          <a:p>
            <a:pPr lvl="0"/>
            <a:r>
              <a:rPr lang="en-IN" sz="1300" dirty="0"/>
              <a:t>Built the </a:t>
            </a:r>
            <a:r>
              <a:rPr lang="en-IN" sz="1300" b="1" dirty="0"/>
              <a:t>Date table, relationships and basic KPIs</a:t>
            </a:r>
            <a:r>
              <a:rPr lang="en-IN" sz="1300" dirty="0"/>
              <a:t>. </a:t>
            </a:r>
          </a:p>
          <a:p>
            <a:r>
              <a:rPr lang="en-IN" sz="1300" b="1" dirty="0"/>
              <a:t>Outcome:</a:t>
            </a:r>
            <a:r>
              <a:rPr lang="en-IN" sz="1300" dirty="0"/>
              <a:t> Clean, structured and analysis-ready cybersecurity dataset. </a:t>
            </a:r>
          </a:p>
          <a:p>
            <a:endParaRPr lang="en-IN" sz="1300" dirty="0"/>
          </a:p>
          <a:p>
            <a:r>
              <a:rPr lang="en-IN" sz="1300" b="1" dirty="0"/>
              <a:t>MILESTONE 2 - Core Dashboards &amp; Behavioural Analytics</a:t>
            </a:r>
          </a:p>
          <a:p>
            <a:r>
              <a:rPr lang="en-IN" sz="1300" b="1" dirty="0"/>
              <a:t>Focus:</a:t>
            </a:r>
            <a:r>
              <a:rPr lang="en-IN" sz="1300" dirty="0"/>
              <a:t> Converting data into interactive security analytics</a:t>
            </a:r>
          </a:p>
          <a:p>
            <a:pPr lvl="0"/>
            <a:r>
              <a:rPr lang="en-IN" sz="1300" dirty="0"/>
              <a:t>Developed dashboards for </a:t>
            </a:r>
            <a:r>
              <a:rPr lang="en-IN" sz="1300" b="1" dirty="0"/>
              <a:t>Attack Analysis, Threat/Anomaly Detection, Network Traffic and User Behaviour</a:t>
            </a:r>
            <a:r>
              <a:rPr lang="en-IN" sz="1300" dirty="0"/>
              <a:t>. </a:t>
            </a:r>
          </a:p>
          <a:p>
            <a:pPr lvl="0"/>
            <a:r>
              <a:rPr lang="en-IN" sz="1300" dirty="0"/>
              <a:t>Analysed attack types, severity, protocols, packet types, geography, browsers and operating systems. </a:t>
            </a:r>
          </a:p>
          <a:p>
            <a:pPr lvl="0"/>
            <a:r>
              <a:rPr lang="en-IN" sz="1300" dirty="0"/>
              <a:t>Added </a:t>
            </a:r>
            <a:r>
              <a:rPr lang="en-IN" sz="1300" b="1" dirty="0"/>
              <a:t>KPIs, slicers, cross-filtering and interactive navigation</a:t>
            </a:r>
            <a:r>
              <a:rPr lang="en-IN" sz="1300" dirty="0"/>
              <a:t>. </a:t>
            </a:r>
          </a:p>
          <a:p>
            <a:pPr lvl="0"/>
            <a:r>
              <a:rPr lang="en-IN" sz="1300" dirty="0"/>
              <a:t>Identified patterns across attacks, network activity and user/device behaviour. </a:t>
            </a:r>
          </a:p>
          <a:p>
            <a:r>
              <a:rPr lang="en-IN" sz="1300" b="1" dirty="0"/>
              <a:t>Outcome:</a:t>
            </a:r>
            <a:r>
              <a:rPr lang="en-IN" sz="1300" dirty="0"/>
              <a:t> Interactive dashboards providing a comprehensive view of the cybersecurity environment. </a:t>
            </a:r>
          </a:p>
          <a:p>
            <a:endParaRPr lang="en-IN" sz="1300" dirty="0"/>
          </a:p>
          <a:p>
            <a:r>
              <a:rPr lang="en-IN" sz="1300" b="1" dirty="0"/>
              <a:t>MILESTONE 3 - Advanced Threat Profiling, Insights &amp; Reporting</a:t>
            </a:r>
          </a:p>
          <a:p>
            <a:r>
              <a:rPr lang="en-IN" sz="1300" b="1" dirty="0"/>
              <a:t>Focus:</a:t>
            </a:r>
            <a:r>
              <a:rPr lang="en-IN" sz="1300" dirty="0"/>
              <a:t> Deep analysis and final reporting</a:t>
            </a:r>
          </a:p>
          <a:p>
            <a:pPr lvl="0"/>
            <a:r>
              <a:rPr lang="en-IN" sz="1300" dirty="0"/>
              <a:t>Developed the </a:t>
            </a:r>
            <a:r>
              <a:rPr lang="en-IN" sz="1300" b="1" dirty="0"/>
              <a:t>Threat Profile &amp; Severity Breakdown</a:t>
            </a:r>
            <a:r>
              <a:rPr lang="en-IN" sz="1300" dirty="0"/>
              <a:t> dashboard. </a:t>
            </a:r>
          </a:p>
          <a:p>
            <a:pPr lvl="0"/>
            <a:r>
              <a:rPr lang="en-IN" sz="1300" dirty="0"/>
              <a:t>Applied </a:t>
            </a:r>
            <a:r>
              <a:rPr lang="en-IN" sz="1300" b="1" dirty="0"/>
              <a:t>Decomposition Tree, Ribbon Chart, </a:t>
            </a:r>
            <a:r>
              <a:rPr lang="en-IN" sz="1300" b="1" dirty="0" err="1"/>
              <a:t>Treemap</a:t>
            </a:r>
            <a:r>
              <a:rPr lang="en-IN" sz="1300" b="1" dirty="0"/>
              <a:t> and Severity Matrix</a:t>
            </a:r>
            <a:r>
              <a:rPr lang="en-IN" sz="1300" dirty="0"/>
              <a:t>. </a:t>
            </a:r>
          </a:p>
          <a:p>
            <a:pPr lvl="0"/>
            <a:r>
              <a:rPr lang="en-IN" sz="1300" dirty="0"/>
              <a:t>Analysed Attack Type × Severity, Network Segment, Anomaly Bands and Threat Signatures. </a:t>
            </a:r>
          </a:p>
          <a:p>
            <a:pPr lvl="0"/>
            <a:r>
              <a:rPr lang="en-IN" sz="1300" dirty="0"/>
              <a:t>Created advanced KPIs including </a:t>
            </a:r>
            <a:r>
              <a:rPr lang="en-IN" sz="1300" b="1" dirty="0"/>
              <a:t>% High Severity, Malware Detected and Block Rate</a:t>
            </a:r>
            <a:r>
              <a:rPr lang="en-IN" sz="1300" dirty="0"/>
              <a:t>. </a:t>
            </a:r>
          </a:p>
          <a:p>
            <a:pPr lvl="0"/>
            <a:r>
              <a:rPr lang="en-IN" sz="1300" dirty="0"/>
              <a:t>Validated insights across dashboards and documented the findings. </a:t>
            </a:r>
          </a:p>
          <a:p>
            <a:pPr lvl="0"/>
            <a:r>
              <a:rPr lang="en-IN" sz="1300" dirty="0"/>
              <a:t>Prepared the </a:t>
            </a:r>
            <a:r>
              <a:rPr lang="en-IN" sz="1300" b="1" dirty="0"/>
              <a:t>Word report, PowerPoint presentation and GitHub project artefacts</a:t>
            </a:r>
            <a:r>
              <a:rPr lang="en-IN" sz="1300" dirty="0"/>
              <a:t>. </a:t>
            </a:r>
          </a:p>
          <a:p>
            <a:r>
              <a:rPr lang="en-IN" sz="1300" b="1" dirty="0"/>
              <a:t>Outcome:</a:t>
            </a:r>
            <a:r>
              <a:rPr lang="en-IN" sz="1300" dirty="0"/>
              <a:t> Complete cybersecurity analytics framework with validated and actionable insights. </a:t>
            </a:r>
          </a:p>
          <a:p>
            <a:br>
              <a:rPr lang="en-IN" sz="1300" dirty="0"/>
            </a:br>
            <a:r>
              <a:rPr lang="en-IN" sz="1300" b="1" dirty="0"/>
              <a:t>MILESTONE 4 - Future Enhancement &amp; Deployment</a:t>
            </a:r>
          </a:p>
          <a:p>
            <a:r>
              <a:rPr lang="en-IN" sz="1300" b="1" dirty="0"/>
              <a:t>Focus:</a:t>
            </a:r>
            <a:r>
              <a:rPr lang="en-IN" sz="1300" dirty="0"/>
              <a:t> Taking the framework toward a more advanced, operational solution</a:t>
            </a:r>
          </a:p>
          <a:p>
            <a:pPr lvl="0"/>
            <a:r>
              <a:rPr lang="en-IN" sz="1300" dirty="0"/>
              <a:t>Integrate </a:t>
            </a:r>
            <a:r>
              <a:rPr lang="en-IN" sz="1300" b="1" dirty="0"/>
              <a:t>near-real-time cybersecurity data</a:t>
            </a:r>
            <a:r>
              <a:rPr lang="en-IN" sz="1300" dirty="0"/>
              <a:t> using Scheduled Refresh or </a:t>
            </a:r>
            <a:r>
              <a:rPr lang="en-IN" sz="1300" dirty="0" err="1"/>
              <a:t>DirectQuery</a:t>
            </a:r>
            <a:r>
              <a:rPr lang="en-IN" sz="1300" dirty="0"/>
              <a:t>. </a:t>
            </a:r>
          </a:p>
          <a:p>
            <a:pPr lvl="0"/>
            <a:r>
              <a:rPr lang="en-IN" sz="1300" dirty="0"/>
              <a:t>Introduce </a:t>
            </a:r>
            <a:r>
              <a:rPr lang="en-IN" sz="1300" b="1" dirty="0"/>
              <a:t>predictive analytics</a:t>
            </a:r>
            <a:r>
              <a:rPr lang="en-IN" sz="1300" dirty="0"/>
              <a:t> for anomaly forecasting and risk scoring using Python/R or Azure ML. </a:t>
            </a:r>
          </a:p>
          <a:p>
            <a:pPr lvl="0"/>
            <a:r>
              <a:rPr lang="en-IN" sz="1300" dirty="0"/>
              <a:t>Implement </a:t>
            </a:r>
            <a:r>
              <a:rPr lang="en-IN" sz="1300" b="1" dirty="0"/>
              <a:t>Row-Level Security (RLS)</a:t>
            </a:r>
            <a:r>
              <a:rPr lang="en-IN" sz="1300" dirty="0"/>
              <a:t> for role-based access, such as SOC analysts and managers. </a:t>
            </a:r>
          </a:p>
          <a:p>
            <a:pPr lvl="0"/>
            <a:r>
              <a:rPr lang="en-IN" sz="1300" dirty="0"/>
              <a:t>Create </a:t>
            </a:r>
            <a:r>
              <a:rPr lang="en-IN" sz="1300" b="1" dirty="0"/>
              <a:t>automated alerts</a:t>
            </a:r>
            <a:r>
              <a:rPr lang="en-IN" sz="1300" dirty="0"/>
              <a:t> for critical threshold breaches using Power Automate. </a:t>
            </a:r>
          </a:p>
          <a:p>
            <a:pPr lvl="0"/>
            <a:r>
              <a:rPr lang="en-IN" sz="1300" dirty="0"/>
              <a:t>Add </a:t>
            </a:r>
            <a:r>
              <a:rPr lang="en-IN" sz="1300" b="1" dirty="0"/>
              <a:t>drill-through to individual incident details</a:t>
            </a:r>
            <a:r>
              <a:rPr lang="en-IN" sz="1300" dirty="0"/>
              <a:t> and improve geographic analysis with a true India choropleth map. </a:t>
            </a:r>
          </a:p>
          <a:p>
            <a:pPr lvl="0"/>
            <a:r>
              <a:rPr lang="en-IN" sz="1300" dirty="0"/>
              <a:t>Deploy the solution more broadly through </a:t>
            </a:r>
            <a:r>
              <a:rPr lang="en-IN" sz="1300" b="1" dirty="0"/>
              <a:t>Power BI Service/App Workspace</a:t>
            </a:r>
            <a:r>
              <a:rPr lang="en-IN" sz="1300" dirty="0"/>
              <a:t>. </a:t>
            </a:r>
          </a:p>
          <a:p>
            <a:r>
              <a:rPr lang="en-IN" sz="1300" b="1" dirty="0"/>
              <a:t>Outcome:</a:t>
            </a:r>
            <a:r>
              <a:rPr lang="en-IN" sz="1300" dirty="0"/>
              <a:t> A more automated, predictive, secure and operational cybersecurity intelligence platform.</a:t>
            </a:r>
          </a:p>
          <a:p>
            <a:endParaRPr lang="en-IN" sz="1300" dirty="0"/>
          </a:p>
        </p:txBody>
      </p:sp>
    </p:spTree>
    <p:extLst>
      <p:ext uri="{BB962C8B-B14F-4D97-AF65-F5344CB8AC3E}">
        <p14:creationId xmlns:p14="http://schemas.microsoft.com/office/powerpoint/2010/main" val="3217235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5334217" cy="369332"/>
          </a:xfrm>
          <a:prstGeom prst="rect">
            <a:avLst/>
          </a:prstGeom>
          <a:noFill/>
        </p:spPr>
        <p:txBody>
          <a:bodyPr wrap="none">
            <a:spAutoFit/>
          </a:bodyPr>
          <a:lstStyle/>
          <a:p>
            <a:r>
              <a:rPr b="1" dirty="0">
                <a:solidFill>
                  <a:srgbClr val="1D6FE6"/>
                </a:solidFill>
                <a:latin typeface="Aptos"/>
              </a:rPr>
              <a:t>01  Dashboard 1 </a:t>
            </a:r>
            <a:r>
              <a:rPr lang="en-IN" b="1" dirty="0">
                <a:solidFill>
                  <a:srgbClr val="1D6FE6"/>
                </a:solidFill>
                <a:latin typeface="Aptos"/>
              </a:rPr>
              <a:t>-</a:t>
            </a:r>
            <a:r>
              <a:rPr b="1" dirty="0">
                <a:solidFill>
                  <a:srgbClr val="1D6FE6"/>
                </a:solidFill>
                <a:latin typeface="Aptos"/>
              </a:rPr>
              <a:t> Cyber Security Attacks Analysis</a:t>
            </a:r>
          </a:p>
        </p:txBody>
      </p:sp>
      <p:sp>
        <p:nvSpPr>
          <p:cNvPr id="4" name="TextBox 3"/>
          <p:cNvSpPr txBox="1"/>
          <p:nvPr/>
        </p:nvSpPr>
        <p:spPr>
          <a:xfrm>
            <a:off x="621792" y="749808"/>
            <a:ext cx="4259798" cy="2051331"/>
          </a:xfrm>
          <a:prstGeom prst="rect">
            <a:avLst/>
          </a:prstGeom>
          <a:noFill/>
        </p:spPr>
        <p:txBody>
          <a:bodyPr wrap="square">
            <a:spAutoFit/>
          </a:bodyPr>
          <a:lstStyle/>
          <a:p>
            <a:pPr>
              <a:spcAft>
                <a:spcPts val="200"/>
              </a:spcAft>
            </a:pPr>
            <a:r>
              <a:rPr sz="1019" b="0" dirty="0">
                <a:solidFill>
                  <a:srgbClr val="16294A"/>
                </a:solidFill>
                <a:latin typeface="Aptos"/>
              </a:rPr>
              <a:t>• Executive overview of the 40,000-event dataset, using KPI cards to surface total attacks, high-severity events and low-severity events at a glance.</a:t>
            </a:r>
          </a:p>
          <a:p>
            <a:pPr>
              <a:spcAft>
                <a:spcPts val="200"/>
              </a:spcAft>
            </a:pPr>
            <a:r>
              <a:rPr sz="1019" b="0" dirty="0">
                <a:solidFill>
                  <a:srgbClr val="16294A"/>
                </a:solidFill>
                <a:latin typeface="Aptos"/>
              </a:rPr>
              <a:t>• Attack-type visuals compare DDoS, Malware and Intrusion, while the action chart separates Blocked, Ignored and Logged outcomes to show response distribution.</a:t>
            </a:r>
          </a:p>
          <a:p>
            <a:pPr>
              <a:spcAft>
                <a:spcPts val="200"/>
              </a:spcAft>
            </a:pPr>
            <a:r>
              <a:rPr sz="1019" b="0" dirty="0">
                <a:solidFill>
                  <a:srgbClr val="16294A"/>
                </a:solidFill>
                <a:latin typeface="Aptos"/>
              </a:rPr>
              <a:t>• The geographic map places attack activity across India and nearby regions, helping analysts connect attack type with location and identify concentration areas.</a:t>
            </a:r>
          </a:p>
          <a:p>
            <a:pPr>
              <a:spcAft>
                <a:spcPts val="200"/>
              </a:spcAft>
            </a:pPr>
            <a:r>
              <a:rPr sz="1019" b="0" dirty="0">
                <a:solidFill>
                  <a:srgbClr val="16294A"/>
                </a:solidFill>
                <a:latin typeface="Aptos"/>
              </a:rPr>
              <a:t>• Yearly trend, severity mix and traffic breakdown visuals provide a compact view of how attack volume, severity and protocol activity change over time.</a:t>
            </a:r>
          </a:p>
        </p:txBody>
      </p:sp>
      <p:pic>
        <p:nvPicPr>
          <p:cNvPr id="6" name="Picture 5" descr="cbe9ba50-1194-439c-a8f9-1ba0b0ae8567.png"/>
          <p:cNvPicPr>
            <a:picLocks noChangeAspect="1"/>
          </p:cNvPicPr>
          <p:nvPr/>
        </p:nvPicPr>
        <p:blipFill>
          <a:blip r:embed="rId2"/>
          <a:stretch>
            <a:fillRect/>
          </a:stretch>
        </p:blipFill>
        <p:spPr>
          <a:xfrm>
            <a:off x="749807" y="3002082"/>
            <a:ext cx="4700299" cy="3129106"/>
          </a:xfrm>
          <a:prstGeom prst="rect">
            <a:avLst/>
          </a:prstGeom>
          <a:ln>
            <a:solidFill>
              <a:schemeClr val="tx1"/>
            </a:solidFill>
          </a:ln>
        </p:spPr>
      </p:pic>
      <p:pic>
        <p:nvPicPr>
          <p:cNvPr id="8" name="Picture 7" descr="8652b21f-9d2b-4634-8b91-a8a925de8842.png">
            <a:extLst>
              <a:ext uri="{FF2B5EF4-FFF2-40B4-BE49-F238E27FC236}">
                <a16:creationId xmlns:a16="http://schemas.microsoft.com/office/drawing/2014/main" id="{5EA344C2-4203-27E4-9139-A35E398A5F70}"/>
              </a:ext>
            </a:extLst>
          </p:cNvPr>
          <p:cNvPicPr>
            <a:picLocks noChangeAspect="1"/>
          </p:cNvPicPr>
          <p:nvPr/>
        </p:nvPicPr>
        <p:blipFill>
          <a:blip r:embed="rId3"/>
          <a:stretch>
            <a:fillRect/>
          </a:stretch>
        </p:blipFill>
        <p:spPr>
          <a:xfrm>
            <a:off x="6943191" y="3002081"/>
            <a:ext cx="4859459" cy="3129107"/>
          </a:xfrm>
          <a:prstGeom prst="rect">
            <a:avLst/>
          </a:prstGeom>
          <a:ln>
            <a:solidFill>
              <a:schemeClr val="tx1"/>
            </a:solidFill>
          </a:ln>
        </p:spPr>
      </p:pic>
      <p:sp>
        <p:nvSpPr>
          <p:cNvPr id="10" name="TextBox 9">
            <a:extLst>
              <a:ext uri="{FF2B5EF4-FFF2-40B4-BE49-F238E27FC236}">
                <a16:creationId xmlns:a16="http://schemas.microsoft.com/office/drawing/2014/main" id="{67946774-AB61-4D94-C20A-5C4EF875C8D2}"/>
              </a:ext>
            </a:extLst>
          </p:cNvPr>
          <p:cNvSpPr txBox="1"/>
          <p:nvPr/>
        </p:nvSpPr>
        <p:spPr>
          <a:xfrm>
            <a:off x="6943192" y="882510"/>
            <a:ext cx="4859458" cy="1423980"/>
          </a:xfrm>
          <a:prstGeom prst="rect">
            <a:avLst/>
          </a:prstGeom>
          <a:noFill/>
        </p:spPr>
        <p:txBody>
          <a:bodyPr wrap="square">
            <a:spAutoFit/>
          </a:bodyPr>
          <a:lstStyle/>
          <a:p>
            <a:pPr>
              <a:spcAft>
                <a:spcPts val="200"/>
              </a:spcAft>
            </a:pPr>
            <a:r>
              <a:rPr sz="1019" b="0" dirty="0">
                <a:solidFill>
                  <a:srgbClr val="16294A"/>
                </a:solidFill>
                <a:latin typeface="Aptos"/>
              </a:rPr>
              <a:t>• Focuses on anomaly </a:t>
            </a:r>
            <a:r>
              <a:rPr sz="1019" b="0" dirty="0" err="1">
                <a:solidFill>
                  <a:srgbClr val="16294A"/>
                </a:solidFill>
                <a:latin typeface="Aptos"/>
              </a:rPr>
              <a:t>behaviour</a:t>
            </a:r>
            <a:r>
              <a:rPr sz="1019" b="0" dirty="0">
                <a:solidFill>
                  <a:srgbClr val="16294A"/>
                </a:solidFill>
                <a:latin typeface="Aptos"/>
              </a:rPr>
              <a:t> by combining severity, attack type and date slicers with an average anomaly-score KPI for targeted investigation.</a:t>
            </a:r>
          </a:p>
          <a:p>
            <a:pPr>
              <a:spcAft>
                <a:spcPts val="200"/>
              </a:spcAft>
            </a:pPr>
            <a:r>
              <a:rPr sz="1019" b="0" dirty="0">
                <a:solidFill>
                  <a:srgbClr val="16294A"/>
                </a:solidFill>
                <a:latin typeface="Aptos"/>
              </a:rPr>
              <a:t>• The Attack Over Time donut groups events by anomaly-score bands, allowing analysts to distinguish lower-score activity from higher-score observations.</a:t>
            </a:r>
          </a:p>
          <a:p>
            <a:pPr>
              <a:spcAft>
                <a:spcPts val="200"/>
              </a:spcAft>
            </a:pPr>
            <a:r>
              <a:rPr sz="1019" b="0" dirty="0">
                <a:solidFill>
                  <a:srgbClr val="16294A"/>
                </a:solidFill>
                <a:latin typeface="Aptos"/>
              </a:rPr>
              <a:t>• Cyber Attack by Browser compares browser-related attack volume, while the state chart highlights how attack counts vary across the listed states.</a:t>
            </a:r>
          </a:p>
          <a:p>
            <a:pPr>
              <a:spcAft>
                <a:spcPts val="200"/>
              </a:spcAft>
            </a:pPr>
            <a:r>
              <a:rPr sz="1019" b="0" dirty="0">
                <a:solidFill>
                  <a:srgbClr val="16294A"/>
                </a:solidFill>
                <a:latin typeface="Aptos"/>
              </a:rPr>
              <a:t>• The page is designed for drill-down analysis: users can narrow the view with severity, attack type and date selections and observe the visuals update together.</a:t>
            </a:r>
          </a:p>
        </p:txBody>
      </p:sp>
      <p:sp>
        <p:nvSpPr>
          <p:cNvPr id="13" name="TextBox 12">
            <a:extLst>
              <a:ext uri="{FF2B5EF4-FFF2-40B4-BE49-F238E27FC236}">
                <a16:creationId xmlns:a16="http://schemas.microsoft.com/office/drawing/2014/main" id="{CA0D03FF-C6B8-F6F9-0569-E4E6AB0DE93E}"/>
              </a:ext>
            </a:extLst>
          </p:cNvPr>
          <p:cNvSpPr txBox="1"/>
          <p:nvPr/>
        </p:nvSpPr>
        <p:spPr>
          <a:xfrm>
            <a:off x="6943191" y="244937"/>
            <a:ext cx="5334216" cy="615553"/>
          </a:xfrm>
          <a:prstGeom prst="rect">
            <a:avLst/>
          </a:prstGeom>
          <a:noFill/>
        </p:spPr>
        <p:txBody>
          <a:bodyPr wrap="square">
            <a:spAutoFit/>
          </a:bodyPr>
          <a:lstStyle/>
          <a:p>
            <a:r>
              <a:rPr sz="1700" b="1" dirty="0">
                <a:solidFill>
                  <a:srgbClr val="1D6FE6"/>
                </a:solidFill>
                <a:latin typeface="Aptos"/>
              </a:rPr>
              <a:t>02  Dashboard 2 </a:t>
            </a:r>
            <a:r>
              <a:rPr lang="en-IN" sz="1700" b="1" dirty="0">
                <a:solidFill>
                  <a:srgbClr val="1D6FE6"/>
                </a:solidFill>
                <a:latin typeface="Aptos"/>
              </a:rPr>
              <a:t>-</a:t>
            </a:r>
            <a:r>
              <a:rPr sz="1700" b="1" dirty="0">
                <a:solidFill>
                  <a:srgbClr val="1D6FE6"/>
                </a:solidFill>
                <a:latin typeface="Aptos"/>
              </a:rPr>
              <a:t> Threat Detection &amp; Anomaly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CAF4C8D-CC12-4978-B674-987E96DE4631}"/>
              </a:ext>
            </a:extLst>
          </p:cNvPr>
          <p:cNvSpPr txBox="1"/>
          <p:nvPr/>
        </p:nvSpPr>
        <p:spPr>
          <a:xfrm>
            <a:off x="744451" y="210312"/>
            <a:ext cx="4540923" cy="369332"/>
          </a:xfrm>
          <a:prstGeom prst="rect">
            <a:avLst/>
          </a:prstGeom>
          <a:noFill/>
        </p:spPr>
        <p:txBody>
          <a:bodyPr wrap="none">
            <a:spAutoFit/>
          </a:bodyPr>
          <a:lstStyle/>
          <a:p>
            <a:r>
              <a:rPr b="1" dirty="0">
                <a:solidFill>
                  <a:srgbClr val="1D6FE6"/>
                </a:solidFill>
                <a:latin typeface="Aptos"/>
              </a:rPr>
              <a:t>03  Dashboard 3 </a:t>
            </a:r>
            <a:r>
              <a:rPr lang="en-IN" b="1" dirty="0">
                <a:solidFill>
                  <a:srgbClr val="1D6FE6"/>
                </a:solidFill>
                <a:latin typeface="Aptos"/>
              </a:rPr>
              <a:t>-</a:t>
            </a:r>
            <a:r>
              <a:rPr b="1" dirty="0">
                <a:solidFill>
                  <a:srgbClr val="1D6FE6"/>
                </a:solidFill>
                <a:latin typeface="Aptos"/>
              </a:rPr>
              <a:t> Network Traffic Analysis</a:t>
            </a:r>
          </a:p>
        </p:txBody>
      </p:sp>
      <p:sp>
        <p:nvSpPr>
          <p:cNvPr id="10" name="TextBox 9">
            <a:extLst>
              <a:ext uri="{FF2B5EF4-FFF2-40B4-BE49-F238E27FC236}">
                <a16:creationId xmlns:a16="http://schemas.microsoft.com/office/drawing/2014/main" id="{5CECAFBE-A413-841A-4175-4D9F8E1A1234}"/>
              </a:ext>
            </a:extLst>
          </p:cNvPr>
          <p:cNvSpPr txBox="1"/>
          <p:nvPr/>
        </p:nvSpPr>
        <p:spPr>
          <a:xfrm>
            <a:off x="744451" y="749808"/>
            <a:ext cx="4360754" cy="1894493"/>
          </a:xfrm>
          <a:prstGeom prst="rect">
            <a:avLst/>
          </a:prstGeom>
          <a:noFill/>
        </p:spPr>
        <p:txBody>
          <a:bodyPr wrap="square">
            <a:spAutoFit/>
          </a:bodyPr>
          <a:lstStyle/>
          <a:p>
            <a:pPr>
              <a:spcAft>
                <a:spcPts val="200"/>
              </a:spcAft>
            </a:pPr>
            <a:r>
              <a:rPr sz="1019" b="0" dirty="0">
                <a:solidFill>
                  <a:srgbClr val="16294A"/>
                </a:solidFill>
                <a:latin typeface="Aptos"/>
              </a:rPr>
              <a:t>• Examines network activity through protocol, packet type, severity and action-taken dimensions, with ICMP, UDP and TCP as the core protocol categories.</a:t>
            </a:r>
          </a:p>
          <a:p>
            <a:pPr>
              <a:spcAft>
                <a:spcPts val="200"/>
              </a:spcAft>
            </a:pPr>
            <a:r>
              <a:rPr sz="1019" b="0" dirty="0">
                <a:solidFill>
                  <a:srgbClr val="16294A"/>
                </a:solidFill>
                <a:latin typeface="Aptos"/>
              </a:rPr>
              <a:t>• The stacked Protocol vs Action Taken chart shows how Blocked, Ignored and Logged outcomes distribute across protocols, supporting response comparison.</a:t>
            </a:r>
          </a:p>
          <a:p>
            <a:pPr>
              <a:spcAft>
                <a:spcPts val="200"/>
              </a:spcAft>
            </a:pPr>
            <a:r>
              <a:rPr sz="1019" b="0" dirty="0">
                <a:solidFill>
                  <a:srgbClr val="16294A"/>
                </a:solidFill>
                <a:latin typeface="Aptos"/>
              </a:rPr>
              <a:t>• Packet Type by Severity and Total Number of Packet Type expose the Control/Data mix, while the protocol </a:t>
            </a:r>
            <a:r>
              <a:rPr sz="1019" b="0" dirty="0" err="1">
                <a:solidFill>
                  <a:srgbClr val="16294A"/>
                </a:solidFill>
                <a:latin typeface="Aptos"/>
              </a:rPr>
              <a:t>treemap</a:t>
            </a:r>
            <a:r>
              <a:rPr sz="1019" b="0" dirty="0">
                <a:solidFill>
                  <a:srgbClr val="16294A"/>
                </a:solidFill>
                <a:latin typeface="Aptos"/>
              </a:rPr>
              <a:t> </a:t>
            </a:r>
            <a:r>
              <a:rPr sz="1019" b="0" dirty="0" err="1">
                <a:solidFill>
                  <a:srgbClr val="16294A"/>
                </a:solidFill>
                <a:latin typeface="Aptos"/>
              </a:rPr>
              <a:t>summarises</a:t>
            </a:r>
            <a:r>
              <a:rPr sz="1019" b="0" dirty="0">
                <a:solidFill>
                  <a:srgbClr val="16294A"/>
                </a:solidFill>
                <a:latin typeface="Aptos"/>
              </a:rPr>
              <a:t> average packet length.</a:t>
            </a:r>
          </a:p>
          <a:p>
            <a:pPr>
              <a:spcAft>
                <a:spcPts val="200"/>
              </a:spcAft>
            </a:pPr>
            <a:r>
              <a:rPr sz="1019" b="0" dirty="0">
                <a:solidFill>
                  <a:srgbClr val="16294A"/>
                </a:solidFill>
                <a:latin typeface="Aptos"/>
              </a:rPr>
              <a:t>• The year-and-protocol flow visual helps track how protocol composition changes over time, making it easier to spot shifts in network </a:t>
            </a:r>
            <a:r>
              <a:rPr sz="1019" b="0" dirty="0" err="1">
                <a:solidFill>
                  <a:srgbClr val="16294A"/>
                </a:solidFill>
                <a:latin typeface="Aptos"/>
              </a:rPr>
              <a:t>behaviour</a:t>
            </a:r>
            <a:r>
              <a:rPr sz="1019" b="0" dirty="0">
                <a:solidFill>
                  <a:srgbClr val="16294A"/>
                </a:solidFill>
                <a:latin typeface="Aptos"/>
              </a:rPr>
              <a:t>.</a:t>
            </a:r>
          </a:p>
        </p:txBody>
      </p:sp>
      <p:pic>
        <p:nvPicPr>
          <p:cNvPr id="12" name="Picture 11" descr="0fb00365-a45b-4fba-8c1f-dce55fbb2d48.png">
            <a:extLst>
              <a:ext uri="{FF2B5EF4-FFF2-40B4-BE49-F238E27FC236}">
                <a16:creationId xmlns:a16="http://schemas.microsoft.com/office/drawing/2014/main" id="{8C3F4CBE-E70D-AE14-E3BE-DE8536011080}"/>
              </a:ext>
            </a:extLst>
          </p:cNvPr>
          <p:cNvPicPr>
            <a:picLocks noChangeAspect="1"/>
          </p:cNvPicPr>
          <p:nvPr/>
        </p:nvPicPr>
        <p:blipFill>
          <a:blip r:embed="rId2"/>
          <a:stretch>
            <a:fillRect/>
          </a:stretch>
        </p:blipFill>
        <p:spPr>
          <a:xfrm>
            <a:off x="744451" y="3002080"/>
            <a:ext cx="5053603" cy="3106112"/>
          </a:xfrm>
          <a:prstGeom prst="rect">
            <a:avLst/>
          </a:prstGeom>
          <a:ln>
            <a:solidFill>
              <a:schemeClr val="tx1"/>
            </a:solidFill>
          </a:ln>
        </p:spPr>
      </p:pic>
      <p:sp>
        <p:nvSpPr>
          <p:cNvPr id="14" name="TextBox 13">
            <a:extLst>
              <a:ext uri="{FF2B5EF4-FFF2-40B4-BE49-F238E27FC236}">
                <a16:creationId xmlns:a16="http://schemas.microsoft.com/office/drawing/2014/main" id="{FCEA3134-4DC0-5D4C-F2A9-40BEF046DFE5}"/>
              </a:ext>
            </a:extLst>
          </p:cNvPr>
          <p:cNvSpPr txBox="1"/>
          <p:nvPr/>
        </p:nvSpPr>
        <p:spPr>
          <a:xfrm>
            <a:off x="6393947" y="223554"/>
            <a:ext cx="4636141" cy="369332"/>
          </a:xfrm>
          <a:prstGeom prst="rect">
            <a:avLst/>
          </a:prstGeom>
          <a:noFill/>
        </p:spPr>
        <p:txBody>
          <a:bodyPr wrap="none">
            <a:spAutoFit/>
          </a:bodyPr>
          <a:lstStyle/>
          <a:p>
            <a:r>
              <a:rPr b="1" dirty="0">
                <a:solidFill>
                  <a:srgbClr val="1D6FE6"/>
                </a:solidFill>
                <a:latin typeface="Aptos"/>
              </a:rPr>
              <a:t>04  Dashboard 4 </a:t>
            </a:r>
            <a:r>
              <a:rPr lang="en-IN" b="1" dirty="0">
                <a:solidFill>
                  <a:srgbClr val="1D6FE6"/>
                </a:solidFill>
                <a:latin typeface="Aptos"/>
              </a:rPr>
              <a:t>-</a:t>
            </a:r>
            <a:r>
              <a:rPr b="1" dirty="0">
                <a:solidFill>
                  <a:srgbClr val="1D6FE6"/>
                </a:solidFill>
                <a:latin typeface="Aptos"/>
              </a:rPr>
              <a:t> User </a:t>
            </a:r>
            <a:r>
              <a:rPr b="1" dirty="0" err="1">
                <a:solidFill>
                  <a:srgbClr val="1D6FE6"/>
                </a:solidFill>
                <a:latin typeface="Aptos"/>
              </a:rPr>
              <a:t>Behaviour</a:t>
            </a:r>
            <a:r>
              <a:rPr b="1" dirty="0">
                <a:solidFill>
                  <a:srgbClr val="1D6FE6"/>
                </a:solidFill>
                <a:latin typeface="Aptos"/>
              </a:rPr>
              <a:t> Analytics</a:t>
            </a:r>
          </a:p>
        </p:txBody>
      </p:sp>
      <p:sp>
        <p:nvSpPr>
          <p:cNvPr id="16" name="TextBox 15">
            <a:extLst>
              <a:ext uri="{FF2B5EF4-FFF2-40B4-BE49-F238E27FC236}">
                <a16:creationId xmlns:a16="http://schemas.microsoft.com/office/drawing/2014/main" id="{1F43371B-C283-9C15-98DF-AB1CF0C90623}"/>
              </a:ext>
            </a:extLst>
          </p:cNvPr>
          <p:cNvSpPr txBox="1"/>
          <p:nvPr/>
        </p:nvSpPr>
        <p:spPr>
          <a:xfrm>
            <a:off x="6393946" y="787702"/>
            <a:ext cx="4636142" cy="1580817"/>
          </a:xfrm>
          <a:prstGeom prst="rect">
            <a:avLst/>
          </a:prstGeom>
          <a:noFill/>
        </p:spPr>
        <p:txBody>
          <a:bodyPr wrap="square">
            <a:spAutoFit/>
          </a:bodyPr>
          <a:lstStyle/>
          <a:p>
            <a:pPr>
              <a:spcAft>
                <a:spcPts val="200"/>
              </a:spcAft>
            </a:pPr>
            <a:r>
              <a:rPr sz="1019" b="0" dirty="0">
                <a:solidFill>
                  <a:srgbClr val="16294A"/>
                </a:solidFill>
                <a:latin typeface="Aptos"/>
              </a:rPr>
              <a:t>• </a:t>
            </a:r>
            <a:r>
              <a:rPr sz="1019" b="0" dirty="0" err="1">
                <a:solidFill>
                  <a:srgbClr val="16294A"/>
                </a:solidFill>
                <a:latin typeface="Aptos"/>
              </a:rPr>
              <a:t>Summarises</a:t>
            </a:r>
            <a:r>
              <a:rPr sz="1019" b="0" dirty="0">
                <a:solidFill>
                  <a:srgbClr val="16294A"/>
                </a:solidFill>
                <a:latin typeface="Aptos"/>
              </a:rPr>
              <a:t> user/device context with total users and total devices, then connects browser </a:t>
            </a:r>
            <a:r>
              <a:rPr sz="1019" b="0" dirty="0" err="1">
                <a:solidFill>
                  <a:srgbClr val="16294A"/>
                </a:solidFill>
                <a:latin typeface="Aptos"/>
              </a:rPr>
              <a:t>behaviour</a:t>
            </a:r>
            <a:r>
              <a:rPr sz="1019" b="0" dirty="0">
                <a:solidFill>
                  <a:srgbClr val="16294A"/>
                </a:solidFill>
                <a:latin typeface="Aptos"/>
              </a:rPr>
              <a:t> to anomaly scores and operating-system distribution.</a:t>
            </a:r>
          </a:p>
          <a:p>
            <a:pPr>
              <a:spcAft>
                <a:spcPts val="200"/>
              </a:spcAft>
            </a:pPr>
            <a:r>
              <a:rPr sz="1019" b="0" dirty="0">
                <a:solidFill>
                  <a:srgbClr val="16294A"/>
                </a:solidFill>
                <a:latin typeface="Aptos"/>
              </a:rPr>
              <a:t>• The monthly attack matrix compares DDoS, Intrusion and Malware across the year, making seasonal or month-level differences visible in a compact table.</a:t>
            </a:r>
          </a:p>
          <a:p>
            <a:pPr>
              <a:spcAft>
                <a:spcPts val="200"/>
              </a:spcAft>
            </a:pPr>
            <a:r>
              <a:rPr sz="1019" b="0" dirty="0">
                <a:solidFill>
                  <a:srgbClr val="16294A"/>
                </a:solidFill>
                <a:latin typeface="Aptos"/>
              </a:rPr>
              <a:t>• OS Distribution and the OS Trend over Time show the relative presence of Windows, Linux, Mac OS, iOS and Android across the dataset period.</a:t>
            </a:r>
          </a:p>
          <a:p>
            <a:pPr>
              <a:spcAft>
                <a:spcPts val="200"/>
              </a:spcAft>
            </a:pPr>
            <a:r>
              <a:rPr sz="1019" b="0" dirty="0">
                <a:solidFill>
                  <a:srgbClr val="16294A"/>
                </a:solidFill>
                <a:latin typeface="Aptos"/>
              </a:rPr>
              <a:t>• Top 10 Source IPs ranks high-scoring sources, giving analysts a practical starting point for </a:t>
            </a:r>
            <a:r>
              <a:rPr sz="1019" b="0" dirty="0" err="1">
                <a:solidFill>
                  <a:srgbClr val="16294A"/>
                </a:solidFill>
                <a:latin typeface="Aptos"/>
              </a:rPr>
              <a:t>prioritising</a:t>
            </a:r>
            <a:r>
              <a:rPr sz="1019" b="0" dirty="0">
                <a:solidFill>
                  <a:srgbClr val="16294A"/>
                </a:solidFill>
                <a:latin typeface="Aptos"/>
              </a:rPr>
              <a:t> suspicious origins for deeper investigation.</a:t>
            </a:r>
          </a:p>
        </p:txBody>
      </p:sp>
      <p:pic>
        <p:nvPicPr>
          <p:cNvPr id="18" name="Picture 17" descr="f07b429a-4c7e-462b-be35-7826efd35caa.png">
            <a:extLst>
              <a:ext uri="{FF2B5EF4-FFF2-40B4-BE49-F238E27FC236}">
                <a16:creationId xmlns:a16="http://schemas.microsoft.com/office/drawing/2014/main" id="{44BB07A6-58F2-67CE-884D-7A424F9502C0}"/>
              </a:ext>
            </a:extLst>
          </p:cNvPr>
          <p:cNvPicPr>
            <a:picLocks noChangeAspect="1"/>
          </p:cNvPicPr>
          <p:nvPr/>
        </p:nvPicPr>
        <p:blipFill>
          <a:blip r:embed="rId3"/>
          <a:stretch>
            <a:fillRect/>
          </a:stretch>
        </p:blipFill>
        <p:spPr>
          <a:xfrm>
            <a:off x="6393946" y="3002080"/>
            <a:ext cx="5053603" cy="3106112"/>
          </a:xfrm>
          <a:prstGeom prst="rect">
            <a:avLst/>
          </a:prstGeom>
          <a:ln>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900FA9A-C154-266B-70F8-6834D29BCD33}"/>
              </a:ext>
            </a:extLst>
          </p:cNvPr>
          <p:cNvSpPr txBox="1"/>
          <p:nvPr/>
        </p:nvSpPr>
        <p:spPr>
          <a:xfrm>
            <a:off x="502920" y="210312"/>
            <a:ext cx="5738174" cy="369332"/>
          </a:xfrm>
          <a:prstGeom prst="rect">
            <a:avLst/>
          </a:prstGeom>
          <a:noFill/>
        </p:spPr>
        <p:txBody>
          <a:bodyPr wrap="none">
            <a:spAutoFit/>
          </a:bodyPr>
          <a:lstStyle/>
          <a:p>
            <a:r>
              <a:rPr b="1" dirty="0">
                <a:solidFill>
                  <a:srgbClr val="1D6FE6"/>
                </a:solidFill>
                <a:latin typeface="Aptos"/>
              </a:rPr>
              <a:t>05  Dashboard 5 </a:t>
            </a:r>
            <a:r>
              <a:rPr lang="en-IN" b="1" dirty="0">
                <a:solidFill>
                  <a:srgbClr val="1D6FE6"/>
                </a:solidFill>
                <a:latin typeface="Aptos"/>
              </a:rPr>
              <a:t>-</a:t>
            </a:r>
            <a:r>
              <a:rPr b="1" dirty="0">
                <a:solidFill>
                  <a:srgbClr val="1D6FE6"/>
                </a:solidFill>
                <a:latin typeface="Aptos"/>
              </a:rPr>
              <a:t> Threat Profile &amp; Severity Breakdown</a:t>
            </a:r>
          </a:p>
        </p:txBody>
      </p:sp>
      <p:sp>
        <p:nvSpPr>
          <p:cNvPr id="10" name="TextBox 9">
            <a:extLst>
              <a:ext uri="{FF2B5EF4-FFF2-40B4-BE49-F238E27FC236}">
                <a16:creationId xmlns:a16="http://schemas.microsoft.com/office/drawing/2014/main" id="{57BF0790-41DE-E427-AFFA-6EE6CB6EBD90}"/>
              </a:ext>
            </a:extLst>
          </p:cNvPr>
          <p:cNvSpPr txBox="1"/>
          <p:nvPr/>
        </p:nvSpPr>
        <p:spPr>
          <a:xfrm>
            <a:off x="621792" y="749808"/>
            <a:ext cx="5474208" cy="1423980"/>
          </a:xfrm>
          <a:prstGeom prst="rect">
            <a:avLst/>
          </a:prstGeom>
          <a:noFill/>
        </p:spPr>
        <p:txBody>
          <a:bodyPr wrap="square">
            <a:spAutoFit/>
          </a:bodyPr>
          <a:lstStyle/>
          <a:p>
            <a:pPr>
              <a:spcAft>
                <a:spcPts val="200"/>
              </a:spcAft>
            </a:pPr>
            <a:r>
              <a:rPr sz="1019" b="0" dirty="0">
                <a:solidFill>
                  <a:srgbClr val="16294A"/>
                </a:solidFill>
                <a:latin typeface="Aptos"/>
              </a:rPr>
              <a:t>• Provides a detailed threat profile by combining attack type with High, Low and Medium severity counts; the table exposes the exact breakdown behind the totals.</a:t>
            </a:r>
          </a:p>
          <a:p>
            <a:pPr>
              <a:spcAft>
                <a:spcPts val="200"/>
              </a:spcAft>
            </a:pPr>
            <a:r>
              <a:rPr sz="1019" b="0" dirty="0">
                <a:solidFill>
                  <a:srgbClr val="16294A"/>
                </a:solidFill>
                <a:latin typeface="Aptos"/>
              </a:rPr>
              <a:t>• Action Taken by Attack Type compares Blocked, Ignored and Logged responses for DDoS, Malware and Intrusion, making response imbalance visible.</a:t>
            </a:r>
          </a:p>
          <a:p>
            <a:pPr>
              <a:spcAft>
                <a:spcPts val="200"/>
              </a:spcAft>
            </a:pPr>
            <a:r>
              <a:rPr sz="1019" b="0" dirty="0">
                <a:solidFill>
                  <a:srgbClr val="16294A"/>
                </a:solidFill>
                <a:latin typeface="Aptos"/>
              </a:rPr>
              <a:t>• The % High Severity and Malware Detected KPI cards turn the detailed dataset into quick executive indicators, while the decomposition tree supports guided exploration.</a:t>
            </a:r>
          </a:p>
          <a:p>
            <a:pPr>
              <a:spcAft>
                <a:spcPts val="200"/>
              </a:spcAft>
            </a:pPr>
            <a:r>
              <a:rPr sz="1019" b="0" dirty="0">
                <a:solidFill>
                  <a:srgbClr val="16294A"/>
                </a:solidFill>
                <a:latin typeface="Aptos"/>
              </a:rPr>
              <a:t>• Severity Mix by Network Segment, anomaly-band ranking and the attack-type/signature </a:t>
            </a:r>
            <a:r>
              <a:rPr sz="1019" b="0" dirty="0" err="1">
                <a:solidFill>
                  <a:srgbClr val="16294A"/>
                </a:solidFill>
                <a:latin typeface="Aptos"/>
              </a:rPr>
              <a:t>treemap</a:t>
            </a:r>
            <a:r>
              <a:rPr sz="1019" b="0" dirty="0">
                <a:solidFill>
                  <a:srgbClr val="16294A"/>
                </a:solidFill>
                <a:latin typeface="Aptos"/>
              </a:rPr>
              <a:t> connect severity, network segments and known patterns into one investigative view.</a:t>
            </a:r>
          </a:p>
        </p:txBody>
      </p:sp>
      <p:pic>
        <p:nvPicPr>
          <p:cNvPr id="12" name="Picture 11" descr="abc6cfe1-b2ee-488f-a8d1-feb55c6ca95e.png">
            <a:extLst>
              <a:ext uri="{FF2B5EF4-FFF2-40B4-BE49-F238E27FC236}">
                <a16:creationId xmlns:a16="http://schemas.microsoft.com/office/drawing/2014/main" id="{3CC62EA2-579F-C138-A9AA-7A07C63733E8}"/>
              </a:ext>
            </a:extLst>
          </p:cNvPr>
          <p:cNvPicPr>
            <a:picLocks noChangeAspect="1"/>
          </p:cNvPicPr>
          <p:nvPr/>
        </p:nvPicPr>
        <p:blipFill>
          <a:blip r:embed="rId2"/>
          <a:stretch>
            <a:fillRect/>
          </a:stretch>
        </p:blipFill>
        <p:spPr>
          <a:xfrm>
            <a:off x="738798" y="2714835"/>
            <a:ext cx="5263896" cy="3393357"/>
          </a:xfrm>
          <a:prstGeom prst="rect">
            <a:avLst/>
          </a:prstGeom>
          <a:ln>
            <a:solidFill>
              <a:schemeClr val="tx1"/>
            </a:solidFill>
          </a:ln>
        </p:spPr>
      </p:pic>
      <p:sp>
        <p:nvSpPr>
          <p:cNvPr id="14" name="TextBox 13">
            <a:extLst>
              <a:ext uri="{FF2B5EF4-FFF2-40B4-BE49-F238E27FC236}">
                <a16:creationId xmlns:a16="http://schemas.microsoft.com/office/drawing/2014/main" id="{6B7EBA3A-D46B-0DB1-9ABC-0DF99529F281}"/>
              </a:ext>
            </a:extLst>
          </p:cNvPr>
          <p:cNvSpPr txBox="1"/>
          <p:nvPr/>
        </p:nvSpPr>
        <p:spPr>
          <a:xfrm>
            <a:off x="6756773" y="210312"/>
            <a:ext cx="4618893" cy="369332"/>
          </a:xfrm>
          <a:prstGeom prst="rect">
            <a:avLst/>
          </a:prstGeom>
          <a:noFill/>
        </p:spPr>
        <p:txBody>
          <a:bodyPr wrap="none">
            <a:spAutoFit/>
          </a:bodyPr>
          <a:lstStyle/>
          <a:p>
            <a:r>
              <a:rPr b="1" dirty="0">
                <a:solidFill>
                  <a:srgbClr val="1D6FE6"/>
                </a:solidFill>
                <a:latin typeface="Aptos"/>
              </a:rPr>
              <a:t>06  Dashboard 6 </a:t>
            </a:r>
            <a:r>
              <a:rPr lang="en-IN" b="1" dirty="0">
                <a:solidFill>
                  <a:srgbClr val="1D6FE6"/>
                </a:solidFill>
                <a:latin typeface="Aptos"/>
              </a:rPr>
              <a:t>-</a:t>
            </a:r>
            <a:r>
              <a:rPr b="1" dirty="0">
                <a:solidFill>
                  <a:srgbClr val="1D6FE6"/>
                </a:solidFill>
                <a:latin typeface="Aptos"/>
              </a:rPr>
              <a:t> Security Alert Monitoring</a:t>
            </a:r>
          </a:p>
        </p:txBody>
      </p:sp>
      <p:sp>
        <p:nvSpPr>
          <p:cNvPr id="16" name="TextBox 15">
            <a:extLst>
              <a:ext uri="{FF2B5EF4-FFF2-40B4-BE49-F238E27FC236}">
                <a16:creationId xmlns:a16="http://schemas.microsoft.com/office/drawing/2014/main" id="{B8EBEDFF-2851-5A23-9327-EAD5BEFDCBE1}"/>
              </a:ext>
            </a:extLst>
          </p:cNvPr>
          <p:cNvSpPr txBox="1"/>
          <p:nvPr/>
        </p:nvSpPr>
        <p:spPr>
          <a:xfrm>
            <a:off x="6756772" y="821094"/>
            <a:ext cx="4837819" cy="1580817"/>
          </a:xfrm>
          <a:prstGeom prst="rect">
            <a:avLst/>
          </a:prstGeom>
          <a:noFill/>
        </p:spPr>
        <p:txBody>
          <a:bodyPr wrap="square">
            <a:spAutoFit/>
          </a:bodyPr>
          <a:lstStyle/>
          <a:p>
            <a:pPr>
              <a:spcAft>
                <a:spcPts val="200"/>
              </a:spcAft>
            </a:pPr>
            <a:r>
              <a:rPr sz="1019" b="0" dirty="0">
                <a:solidFill>
                  <a:srgbClr val="16294A"/>
                </a:solidFill>
                <a:latin typeface="Aptos"/>
              </a:rPr>
              <a:t>• Monitors alert activity over time and reports three headline rates: overall alert rate, IDS/IPS rate and malware-detected rate.</a:t>
            </a:r>
          </a:p>
          <a:p>
            <a:pPr>
              <a:spcAft>
                <a:spcPts val="200"/>
              </a:spcAft>
            </a:pPr>
            <a:r>
              <a:rPr sz="1019" b="0" dirty="0">
                <a:solidFill>
                  <a:srgbClr val="16294A"/>
                </a:solidFill>
                <a:latin typeface="Aptos"/>
              </a:rPr>
              <a:t>• Alerts/Warnings status by Attack Type compares triggered vs non-triggered status for DDoS, Malware and Intrusion, helping identify where alerting is concentrated.</a:t>
            </a:r>
          </a:p>
          <a:p>
            <a:pPr>
              <a:spcAft>
                <a:spcPts val="200"/>
              </a:spcAft>
            </a:pPr>
            <a:r>
              <a:rPr sz="1019" b="0" dirty="0">
                <a:solidFill>
                  <a:srgbClr val="16294A"/>
                </a:solidFill>
                <a:latin typeface="Aptos"/>
              </a:rPr>
              <a:t>• Proxy Information used vs not used shows the balance of proxy context, while firewall-log presence by severity indicates log coverage for High, Medium and Low events.</a:t>
            </a:r>
          </a:p>
          <a:p>
            <a:pPr>
              <a:spcAft>
                <a:spcPts val="200"/>
              </a:spcAft>
            </a:pPr>
            <a:r>
              <a:rPr sz="1019" b="0" dirty="0">
                <a:solidFill>
                  <a:srgbClr val="16294A"/>
                </a:solidFill>
                <a:latin typeface="Aptos"/>
              </a:rPr>
              <a:t>• The Blocked Rate gauge converts response activity into an easy-to-read percentage, complementing the time-series and categorical monitoring views.</a:t>
            </a:r>
          </a:p>
        </p:txBody>
      </p:sp>
      <p:pic>
        <p:nvPicPr>
          <p:cNvPr id="18" name="Picture 17" descr="8abc89e9-aac0-4520-9180-7c2c6ebd97b5.png">
            <a:extLst>
              <a:ext uri="{FF2B5EF4-FFF2-40B4-BE49-F238E27FC236}">
                <a16:creationId xmlns:a16="http://schemas.microsoft.com/office/drawing/2014/main" id="{2109F58D-61B4-BD3B-8D87-E1A8ADFB2304}"/>
              </a:ext>
            </a:extLst>
          </p:cNvPr>
          <p:cNvPicPr>
            <a:picLocks noChangeAspect="1"/>
          </p:cNvPicPr>
          <p:nvPr/>
        </p:nvPicPr>
        <p:blipFill>
          <a:blip r:embed="rId3"/>
          <a:stretch>
            <a:fillRect/>
          </a:stretch>
        </p:blipFill>
        <p:spPr>
          <a:xfrm>
            <a:off x="6859410" y="2714835"/>
            <a:ext cx="5111766" cy="3393357"/>
          </a:xfrm>
          <a:prstGeom prst="rect">
            <a:avLst/>
          </a:prstGeom>
          <a:ln>
            <a:solidFill>
              <a:schemeClr val="tx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1D6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0312"/>
            <a:ext cx="7059497" cy="407804"/>
          </a:xfrm>
          <a:prstGeom prst="rect">
            <a:avLst/>
          </a:prstGeom>
          <a:noFill/>
        </p:spPr>
        <p:txBody>
          <a:bodyPr wrap="none">
            <a:spAutoFit/>
          </a:bodyPr>
          <a:lstStyle/>
          <a:p>
            <a:r>
              <a:rPr sz="2050" b="1" dirty="0">
                <a:solidFill>
                  <a:srgbClr val="1D6FE6"/>
                </a:solidFill>
                <a:latin typeface="Aptos"/>
              </a:rPr>
              <a:t>07  Dashboard 7 </a:t>
            </a:r>
            <a:r>
              <a:rPr lang="en-IN" sz="2050" b="1" dirty="0">
                <a:solidFill>
                  <a:srgbClr val="1D6FE6"/>
                </a:solidFill>
                <a:latin typeface="Aptos"/>
              </a:rPr>
              <a:t>-</a:t>
            </a:r>
            <a:r>
              <a:rPr sz="2050" b="1" dirty="0">
                <a:solidFill>
                  <a:srgbClr val="1D6FE6"/>
                </a:solidFill>
                <a:latin typeface="Aptos"/>
              </a:rPr>
              <a:t> Attack Trends &amp; Response Effectiveness</a:t>
            </a:r>
          </a:p>
        </p:txBody>
      </p:sp>
      <p:sp>
        <p:nvSpPr>
          <p:cNvPr id="4" name="TextBox 3"/>
          <p:cNvSpPr txBox="1"/>
          <p:nvPr/>
        </p:nvSpPr>
        <p:spPr>
          <a:xfrm>
            <a:off x="621792" y="749808"/>
            <a:ext cx="10972800" cy="1325880"/>
          </a:xfrm>
          <a:prstGeom prst="rect">
            <a:avLst/>
          </a:prstGeom>
          <a:noFill/>
        </p:spPr>
        <p:txBody>
          <a:bodyPr wrap="square">
            <a:spAutoFit/>
          </a:bodyPr>
          <a:lstStyle/>
          <a:p>
            <a:pPr>
              <a:spcAft>
                <a:spcPts val="200"/>
              </a:spcAft>
            </a:pPr>
            <a:r>
              <a:rPr sz="1019" b="0">
                <a:solidFill>
                  <a:srgbClr val="16294A"/>
                </a:solidFill>
                <a:latin typeface="Aptos"/>
              </a:rPr>
              <a:t>• Combines attack volume and blocked-rate trends with a response summary table, making it the strongest page for evaluating response effectiveness by attack type.</a:t>
            </a:r>
          </a:p>
          <a:p>
            <a:pPr>
              <a:spcAft>
                <a:spcPts val="200"/>
              </a:spcAft>
            </a:pPr>
            <a:r>
              <a:rPr sz="1019" b="0">
                <a:solidFill>
                  <a:srgbClr val="16294A"/>
                </a:solidFill>
                <a:latin typeface="Aptos"/>
              </a:rPr>
              <a:t>• The response table ranks DDoS, Malware and Intrusion by attack density and block rate, while the waterfall visual compares relative block-rate performance.</a:t>
            </a:r>
          </a:p>
          <a:p>
            <a:pPr>
              <a:spcAft>
                <a:spcPts val="200"/>
              </a:spcAft>
            </a:pPr>
            <a:r>
              <a:rPr sz="1019" b="0">
                <a:solidFill>
                  <a:srgbClr val="16294A"/>
                </a:solidFill>
                <a:latin typeface="Aptos"/>
              </a:rPr>
              <a:t>• The benchmark visual places alert-rate performance against a reference scale, and the Sankey flow traces each attack type into Blocked, Ignored and Logged outcomes.</a:t>
            </a:r>
          </a:p>
          <a:p>
            <a:pPr>
              <a:spcAft>
                <a:spcPts val="200"/>
              </a:spcAft>
            </a:pPr>
            <a:r>
              <a:rPr sz="1019" b="0">
                <a:solidFill>
                  <a:srgbClr val="16294A"/>
                </a:solidFill>
                <a:latin typeface="Aptos"/>
              </a:rPr>
              <a:t>• Together, the visuals highlight the central response question: how much malicious activity is detected, how much is blocked, and where the remaining gap sits.</a:t>
            </a:r>
          </a:p>
        </p:txBody>
      </p:sp>
      <p:pic>
        <p:nvPicPr>
          <p:cNvPr id="6" name="Picture 5" descr="076562bc-dcbe-464d-9719-3872546d0d5f.png"/>
          <p:cNvPicPr>
            <a:picLocks noChangeAspect="1"/>
          </p:cNvPicPr>
          <p:nvPr/>
        </p:nvPicPr>
        <p:blipFill>
          <a:blip r:embed="rId2"/>
          <a:stretch>
            <a:fillRect/>
          </a:stretch>
        </p:blipFill>
        <p:spPr>
          <a:xfrm>
            <a:off x="830424" y="2207380"/>
            <a:ext cx="9470571" cy="3691937"/>
          </a:xfrm>
          <a:prstGeom prst="rect">
            <a:avLst/>
          </a:prstGeom>
          <a:ln>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04 · CHALLENGES &amp; RESOLUTIONS</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Obstacles met and how the team solved them</a:t>
            </a:r>
            <a:endParaRPr lang="en-US" sz="2400" dirty="0"/>
          </a:p>
        </p:txBody>
      </p:sp>
      <p:sp>
        <p:nvSpPr>
          <p:cNvPr id="5" name="Shape 3"/>
          <p:cNvSpPr/>
          <p:nvPr/>
        </p:nvSpPr>
        <p:spPr>
          <a:xfrm>
            <a:off x="548640" y="1481328"/>
            <a:ext cx="457200" cy="457200"/>
          </a:xfrm>
          <a:prstGeom prst="roundRect">
            <a:avLst>
              <a:gd name="adj" fmla="val 18000"/>
            </a:avLst>
          </a:prstGeom>
          <a:solidFill>
            <a:srgbClr val="FFFFFF"/>
          </a:solidFill>
          <a:ln w="12700">
            <a:solidFill>
              <a:srgbClr val="1D6FE6">
                <a:alpha val="55000"/>
              </a:srgbClr>
            </a:solidFill>
            <a:prstDash val="solid"/>
          </a:ln>
        </p:spPr>
      </p:sp>
      <p:pic>
        <p:nvPicPr>
          <p:cNvPr id="6" name="Image 0" descr="preencoded.png"/>
          <p:cNvPicPr>
            <a:picLocks noChangeAspect="1"/>
          </p:cNvPicPr>
          <p:nvPr/>
        </p:nvPicPr>
        <p:blipFill>
          <a:blip r:embed="rId4"/>
          <a:stretch>
            <a:fillRect/>
          </a:stretch>
        </p:blipFill>
        <p:spPr>
          <a:xfrm>
            <a:off x="658368" y="1591056"/>
            <a:ext cx="237744" cy="237744"/>
          </a:xfrm>
          <a:prstGeom prst="rect">
            <a:avLst/>
          </a:prstGeom>
        </p:spPr>
      </p:pic>
      <p:sp>
        <p:nvSpPr>
          <p:cNvPr id="7" name="Text 4"/>
          <p:cNvSpPr/>
          <p:nvPr/>
        </p:nvSpPr>
        <p:spPr>
          <a:xfrm>
            <a:off x="1115568" y="1481328"/>
            <a:ext cx="4480560" cy="457200"/>
          </a:xfrm>
          <a:prstGeom prst="rect">
            <a:avLst/>
          </a:prstGeom>
          <a:noFill/>
          <a:ln/>
        </p:spPr>
        <p:txBody>
          <a:bodyPr wrap="square" rtlCol="0" anchor="ctr"/>
          <a:lstStyle/>
          <a:p>
            <a:pPr marL="0" indent="0">
              <a:buNone/>
            </a:pPr>
            <a:r>
              <a:rPr lang="en-US" sz="1500" b="1" dirty="0">
                <a:solidFill>
                  <a:srgbClr val="D97706"/>
                </a:solidFill>
                <a:latin typeface="Bookman Old Style" pitchFamily="34" charset="0"/>
                <a:ea typeface="Bookman Old Style" pitchFamily="34" charset="-122"/>
                <a:cs typeface="Bookman Old Style" pitchFamily="34" charset="-120"/>
              </a:rPr>
              <a:t>CHALLENGES</a:t>
            </a:r>
            <a:endParaRPr lang="en-US" sz="1500" dirty="0"/>
          </a:p>
        </p:txBody>
      </p:sp>
      <p:sp>
        <p:nvSpPr>
          <p:cNvPr id="8" name="Shape 5"/>
          <p:cNvSpPr/>
          <p:nvPr/>
        </p:nvSpPr>
        <p:spPr>
          <a:xfrm>
            <a:off x="6263640" y="1481328"/>
            <a:ext cx="457200" cy="457200"/>
          </a:xfrm>
          <a:prstGeom prst="roundRect">
            <a:avLst>
              <a:gd name="adj" fmla="val 18000"/>
            </a:avLst>
          </a:prstGeom>
          <a:solidFill>
            <a:srgbClr val="FFFFFF"/>
          </a:solidFill>
          <a:ln w="12700">
            <a:solidFill>
              <a:srgbClr val="1D6FE6">
                <a:alpha val="55000"/>
              </a:srgbClr>
            </a:solidFill>
            <a:prstDash val="solid"/>
          </a:ln>
        </p:spPr>
      </p:sp>
      <p:pic>
        <p:nvPicPr>
          <p:cNvPr id="9" name="Image 1" descr="preencoded.png"/>
          <p:cNvPicPr>
            <a:picLocks noChangeAspect="1"/>
          </p:cNvPicPr>
          <p:nvPr/>
        </p:nvPicPr>
        <p:blipFill>
          <a:blip r:embed="rId5"/>
          <a:stretch>
            <a:fillRect/>
          </a:stretch>
        </p:blipFill>
        <p:spPr>
          <a:xfrm>
            <a:off x="6373368" y="1591056"/>
            <a:ext cx="237744" cy="237744"/>
          </a:xfrm>
          <a:prstGeom prst="rect">
            <a:avLst/>
          </a:prstGeom>
        </p:spPr>
      </p:pic>
      <p:sp>
        <p:nvSpPr>
          <p:cNvPr id="10" name="Text 6"/>
          <p:cNvSpPr/>
          <p:nvPr/>
        </p:nvSpPr>
        <p:spPr>
          <a:xfrm>
            <a:off x="6830568" y="1481328"/>
            <a:ext cx="4480560" cy="457200"/>
          </a:xfrm>
          <a:prstGeom prst="rect">
            <a:avLst/>
          </a:prstGeom>
          <a:noFill/>
          <a:ln/>
        </p:spPr>
        <p:txBody>
          <a:bodyPr wrap="square" rtlCol="0" anchor="ctr"/>
          <a:lstStyle/>
          <a:p>
            <a:pPr marL="0" indent="0">
              <a:buNone/>
            </a:pPr>
            <a:r>
              <a:rPr lang="en-US" sz="1500" b="1" dirty="0">
                <a:solidFill>
                  <a:srgbClr val="059669"/>
                </a:solidFill>
                <a:latin typeface="Bookman Old Style" pitchFamily="34" charset="0"/>
                <a:ea typeface="Bookman Old Style" pitchFamily="34" charset="-122"/>
                <a:cs typeface="Bookman Old Style" pitchFamily="34" charset="-120"/>
              </a:rPr>
              <a:t>RESOLUTIONS</a:t>
            </a:r>
            <a:endParaRPr lang="en-US" sz="1500" dirty="0"/>
          </a:p>
        </p:txBody>
      </p:sp>
      <p:grpSp>
        <p:nvGrpSpPr>
          <p:cNvPr id="35" name="Group 18">
            <a:extLst>
              <a:ext uri="{FF2B5EF4-FFF2-40B4-BE49-F238E27FC236}">
                <a16:creationId xmlns:a16="http://schemas.microsoft.com/office/drawing/2014/main" id="{3350ACB2-8EEB-E71C-6DD7-DF697B601A04}"/>
              </a:ext>
            </a:extLst>
          </p:cNvPr>
          <p:cNvGrpSpPr/>
          <p:nvPr/>
        </p:nvGrpSpPr>
        <p:grpSpPr>
          <a:xfrm>
            <a:off x="127718" y="92211"/>
            <a:ext cx="1168193" cy="227829"/>
            <a:chOff x="0" y="0"/>
            <a:chExt cx="3584702" cy="861695"/>
          </a:xfrm>
        </p:grpSpPr>
        <p:sp>
          <p:nvSpPr>
            <p:cNvPr id="36" name="Freeform 19">
              <a:extLst>
                <a:ext uri="{FF2B5EF4-FFF2-40B4-BE49-F238E27FC236}">
                  <a16:creationId xmlns:a16="http://schemas.microsoft.com/office/drawing/2014/main" id="{087B631E-0061-5493-FD7E-2FBF5FE4B283}"/>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
        <p:nvSpPr>
          <p:cNvPr id="37" name="TextBox 36">
            <a:extLst>
              <a:ext uri="{FF2B5EF4-FFF2-40B4-BE49-F238E27FC236}">
                <a16:creationId xmlns:a16="http://schemas.microsoft.com/office/drawing/2014/main" id="{CD467B9E-9B28-5BD7-4652-C98A80CEB335}"/>
              </a:ext>
            </a:extLst>
          </p:cNvPr>
          <p:cNvSpPr txBox="1"/>
          <p:nvPr/>
        </p:nvSpPr>
        <p:spPr>
          <a:xfrm>
            <a:off x="373225" y="2239347"/>
            <a:ext cx="11249608" cy="3359020"/>
          </a:xfrm>
          <a:prstGeom prst="rect">
            <a:avLst/>
          </a:prstGeom>
          <a:noFill/>
        </p:spPr>
        <p:txBody>
          <a:bodyPr wrap="square" rtlCol="0">
            <a:spAutoFit/>
          </a:bodyPr>
          <a:lstStyle/>
          <a:p>
            <a:endParaRPr lang="en-IN" dirty="0"/>
          </a:p>
        </p:txBody>
      </p:sp>
      <p:graphicFrame>
        <p:nvGraphicFramePr>
          <p:cNvPr id="40" name="Table 39">
            <a:extLst>
              <a:ext uri="{FF2B5EF4-FFF2-40B4-BE49-F238E27FC236}">
                <a16:creationId xmlns:a16="http://schemas.microsoft.com/office/drawing/2014/main" id="{27256643-314C-A09B-6744-116C2B35779A}"/>
              </a:ext>
            </a:extLst>
          </p:cNvPr>
          <p:cNvGraphicFramePr>
            <a:graphicFrameLocks noGrp="1"/>
          </p:cNvGraphicFramePr>
          <p:nvPr>
            <p:extLst>
              <p:ext uri="{D42A27DB-BD31-4B8C-83A1-F6EECF244321}">
                <p14:modId xmlns:p14="http://schemas.microsoft.com/office/powerpoint/2010/main" val="111799660"/>
              </p:ext>
            </p:extLst>
          </p:nvPr>
        </p:nvGraphicFramePr>
        <p:xfrm>
          <a:off x="270588" y="2063742"/>
          <a:ext cx="11708052" cy="4599078"/>
        </p:xfrm>
        <a:graphic>
          <a:graphicData uri="http://schemas.openxmlformats.org/drawingml/2006/table">
            <a:tbl>
              <a:tblPr/>
              <a:tblGrid>
                <a:gridCol w="5854026">
                  <a:extLst>
                    <a:ext uri="{9D8B030D-6E8A-4147-A177-3AD203B41FA5}">
                      <a16:colId xmlns:a16="http://schemas.microsoft.com/office/drawing/2014/main" val="3889141794"/>
                    </a:ext>
                  </a:extLst>
                </a:gridCol>
                <a:gridCol w="5854026">
                  <a:extLst>
                    <a:ext uri="{9D8B030D-6E8A-4147-A177-3AD203B41FA5}">
                      <a16:colId xmlns:a16="http://schemas.microsoft.com/office/drawing/2014/main" val="585343023"/>
                    </a:ext>
                  </a:extLst>
                </a:gridCol>
              </a:tblGrid>
              <a:tr h="881961">
                <a:tc>
                  <a:txBody>
                    <a:bodyPr/>
                    <a:lstStyle/>
                    <a:p>
                      <a:pPr>
                        <a:buNone/>
                      </a:pPr>
                      <a:r>
                        <a:rPr lang="en-IN" sz="1400" b="1" dirty="0"/>
                        <a:t>1. Maintaining performance with a 40,000-row dataset</a:t>
                      </a:r>
                      <a:r>
                        <a:rPr lang="en-IN" sz="1400" dirty="0"/>
                        <a:t> - Keeping the Power BI model responsive while multiple visuals, KPIs and interactive filters operated simultaneously was a key performance challenge.</a:t>
                      </a:r>
                    </a:p>
                  </a:txBody>
                  <a:tcPr marL="52426" marR="52426" marT="26213" marB="26213" anchor="ctr">
                    <a:lnL>
                      <a:noFill/>
                    </a:lnL>
                    <a:lnR>
                      <a:noFill/>
                    </a:lnR>
                    <a:lnT>
                      <a:noFill/>
                    </a:lnT>
                    <a:lnB>
                      <a:noFill/>
                    </a:lnB>
                    <a:noFill/>
                  </a:tcPr>
                </a:tc>
                <a:tc>
                  <a:txBody>
                    <a:bodyPr/>
                    <a:lstStyle/>
                    <a:p>
                      <a:pPr>
                        <a:buNone/>
                      </a:pPr>
                      <a:r>
                        <a:rPr lang="en-IN" sz="1400" b="1" dirty="0"/>
                        <a:t>Optimised the data model and DAX</a:t>
                      </a:r>
                      <a:r>
                        <a:rPr lang="en-IN" sz="1400" dirty="0"/>
                        <a:t> - Used efficient DAX measures and disabled unnecessary automatic date/time tables to reduce model overhead and maintain dashboard responsiveness.</a:t>
                      </a:r>
                    </a:p>
                  </a:txBody>
                  <a:tcPr marL="52426" marR="52426" marT="26213" marB="26213" anchor="ctr">
                    <a:lnL>
                      <a:noFill/>
                    </a:lnL>
                    <a:lnR>
                      <a:noFill/>
                    </a:lnR>
                    <a:lnT>
                      <a:noFill/>
                    </a:lnT>
                    <a:lnB>
                      <a:noFill/>
                    </a:lnB>
                    <a:noFill/>
                  </a:tcPr>
                </a:tc>
                <a:extLst>
                  <a:ext uri="{0D108BD9-81ED-4DB2-BD59-A6C34878D82A}">
                    <a16:rowId xmlns:a16="http://schemas.microsoft.com/office/drawing/2014/main" val="2325002842"/>
                  </a:ext>
                </a:extLst>
              </a:tr>
              <a:tr h="881961">
                <a:tc>
                  <a:txBody>
                    <a:bodyPr/>
                    <a:lstStyle/>
                    <a:p>
                      <a:pPr>
                        <a:buNone/>
                      </a:pPr>
                      <a:r>
                        <a:rPr lang="en-IN" sz="1400" b="1" dirty="0"/>
                        <a:t>2. Designing reliable derived metrics</a:t>
                      </a:r>
                      <a:r>
                        <a:rPr lang="en-IN" sz="1400" dirty="0"/>
                        <a:t> - Measures such as </a:t>
                      </a:r>
                      <a:r>
                        <a:rPr lang="en-IN" sz="1400" b="1" dirty="0"/>
                        <a:t>% High Severity, Block Rate %, Malware Detected and Anomaly Score Bands</a:t>
                      </a:r>
                      <a:r>
                        <a:rPr lang="en-IN" sz="1400" dirty="0"/>
                        <a:t> had to produce accurate results under different slicers and filter combinations.</a:t>
                      </a:r>
                    </a:p>
                  </a:txBody>
                  <a:tcPr marL="52426" marR="52426" marT="26213" marB="26213" anchor="ctr">
                    <a:lnL>
                      <a:noFill/>
                    </a:lnL>
                    <a:lnR>
                      <a:noFill/>
                    </a:lnR>
                    <a:lnT>
                      <a:noFill/>
                    </a:lnT>
                    <a:lnB>
                      <a:noFill/>
                    </a:lnB>
                    <a:noFill/>
                  </a:tcPr>
                </a:tc>
                <a:tc>
                  <a:txBody>
                    <a:bodyPr/>
                    <a:lstStyle/>
                    <a:p>
                      <a:pPr>
                        <a:buNone/>
                      </a:pPr>
                      <a:r>
                        <a:rPr lang="en-IN" sz="1400" b="1" dirty="0"/>
                        <a:t>Iterative testing and validation</a:t>
                      </a:r>
                      <a:r>
                        <a:rPr lang="en-IN" sz="1400" dirty="0"/>
                        <a:t> - Each measure was repeatedly tested across different slicers, visual interactions and filter contexts to ensure consistent and reliable outputs.</a:t>
                      </a:r>
                    </a:p>
                  </a:txBody>
                  <a:tcPr marL="52426" marR="52426" marT="26213" marB="26213" anchor="ctr">
                    <a:lnL>
                      <a:noFill/>
                    </a:lnL>
                    <a:lnR>
                      <a:noFill/>
                    </a:lnR>
                    <a:lnT>
                      <a:noFill/>
                    </a:lnT>
                    <a:lnB>
                      <a:noFill/>
                    </a:lnB>
                    <a:noFill/>
                  </a:tcPr>
                </a:tc>
                <a:extLst>
                  <a:ext uri="{0D108BD9-81ED-4DB2-BD59-A6C34878D82A}">
                    <a16:rowId xmlns:a16="http://schemas.microsoft.com/office/drawing/2014/main" val="457163171"/>
                  </a:ext>
                </a:extLst>
              </a:tr>
              <a:tr h="881961">
                <a:tc>
                  <a:txBody>
                    <a:bodyPr/>
                    <a:lstStyle/>
                    <a:p>
                      <a:pPr>
                        <a:buNone/>
                      </a:pPr>
                      <a:r>
                        <a:rPr lang="en-IN" sz="1400" b="1" dirty="0"/>
                        <a:t>3. Handling and transforming raw cybersecurity data</a:t>
                      </a:r>
                      <a:r>
                        <a:rPr lang="en-IN" sz="1400" dirty="0"/>
                        <a:t> - The dataset required multiple cleaning and transformation operations, including missing values, duplicates, data types, geographic fields and derived analytical columns.</a:t>
                      </a:r>
                    </a:p>
                  </a:txBody>
                  <a:tcPr marL="52426" marR="52426" marT="26213" marB="26213" anchor="ctr">
                    <a:lnL>
                      <a:noFill/>
                    </a:lnL>
                    <a:lnR>
                      <a:noFill/>
                    </a:lnR>
                    <a:lnT>
                      <a:noFill/>
                    </a:lnT>
                    <a:lnB>
                      <a:noFill/>
                    </a:lnB>
                    <a:noFill/>
                  </a:tcPr>
                </a:tc>
                <a:tc>
                  <a:txBody>
                    <a:bodyPr/>
                    <a:lstStyle/>
                    <a:p>
                      <a:pPr>
                        <a:buNone/>
                      </a:pPr>
                      <a:r>
                        <a:rPr lang="en-IN" sz="1400" b="1" dirty="0"/>
                        <a:t>Structured Power Query preprocessing</a:t>
                      </a:r>
                      <a:r>
                        <a:rPr lang="en-IN" sz="1400" dirty="0"/>
                        <a:t> - The team applied a systematic transformation workflow to clean, standardise and prepare the data before modelling and dashboard development. </a:t>
                      </a:r>
                    </a:p>
                  </a:txBody>
                  <a:tcPr marL="52426" marR="52426" marT="26213" marB="26213" anchor="ctr">
                    <a:lnL>
                      <a:noFill/>
                    </a:lnL>
                    <a:lnR>
                      <a:noFill/>
                    </a:lnR>
                    <a:lnT>
                      <a:noFill/>
                    </a:lnT>
                    <a:lnB>
                      <a:noFill/>
                    </a:lnB>
                    <a:noFill/>
                  </a:tcPr>
                </a:tc>
                <a:extLst>
                  <a:ext uri="{0D108BD9-81ED-4DB2-BD59-A6C34878D82A}">
                    <a16:rowId xmlns:a16="http://schemas.microsoft.com/office/drawing/2014/main" val="2575479663"/>
                  </a:ext>
                </a:extLst>
              </a:tr>
              <a:tr h="881961">
                <a:tc>
                  <a:txBody>
                    <a:bodyPr/>
                    <a:lstStyle/>
                    <a:p>
                      <a:pPr>
                        <a:buNone/>
                      </a:pPr>
                      <a:r>
                        <a:rPr lang="en-IN" sz="1400" b="1" dirty="0"/>
                        <a:t>4. Maintaining consistency across dashboards</a:t>
                      </a:r>
                      <a:r>
                        <a:rPr lang="en-IN" sz="1400" dirty="0"/>
                        <a:t> - Different analytical views required a common visual language, severity representation, KPI structure and filtering experience, particularly when dashboards were developed collaboratively.</a:t>
                      </a:r>
                    </a:p>
                  </a:txBody>
                  <a:tcPr marL="52426" marR="52426" marT="26213" marB="26213" anchor="ctr">
                    <a:lnL>
                      <a:noFill/>
                    </a:lnL>
                    <a:lnR>
                      <a:noFill/>
                    </a:lnR>
                    <a:lnT>
                      <a:noFill/>
                    </a:lnT>
                    <a:lnB>
                      <a:noFill/>
                    </a:lnB>
                    <a:noFill/>
                  </a:tcPr>
                </a:tc>
                <a:tc>
                  <a:txBody>
                    <a:bodyPr/>
                    <a:lstStyle/>
                    <a:p>
                      <a:pPr>
                        <a:buNone/>
                      </a:pPr>
                      <a:r>
                        <a:rPr lang="en-IN" sz="1400" b="1" dirty="0"/>
                        <a:t>Standardised design and collaboration</a:t>
                      </a:r>
                      <a:r>
                        <a:rPr lang="en-IN" sz="1400" dirty="0"/>
                        <a:t> - Common colours, severity encoding, KPI conventions and dashboard layouts were followed, while Microsoft Teams and GitHub supported coordination and integration of team contributions.</a:t>
                      </a:r>
                    </a:p>
                  </a:txBody>
                  <a:tcPr marL="52426" marR="52426" marT="26213" marB="26213" anchor="ctr">
                    <a:lnL>
                      <a:noFill/>
                    </a:lnL>
                    <a:lnR>
                      <a:noFill/>
                    </a:lnR>
                    <a:lnT>
                      <a:noFill/>
                    </a:lnT>
                    <a:lnB>
                      <a:noFill/>
                    </a:lnB>
                    <a:noFill/>
                  </a:tcPr>
                </a:tc>
                <a:extLst>
                  <a:ext uri="{0D108BD9-81ED-4DB2-BD59-A6C34878D82A}">
                    <a16:rowId xmlns:a16="http://schemas.microsoft.com/office/drawing/2014/main" val="4274082641"/>
                  </a:ext>
                </a:extLst>
              </a:tr>
              <a:tr h="1047329">
                <a:tc>
                  <a:txBody>
                    <a:bodyPr/>
                    <a:lstStyle/>
                    <a:p>
                      <a:pPr>
                        <a:buNone/>
                      </a:pPr>
                      <a:r>
                        <a:rPr lang="en-IN" sz="1400" b="1" dirty="0"/>
                        <a:t>5. Ensuring analytical accuracy and meaningful insights</a:t>
                      </a:r>
                      <a:r>
                        <a:rPr lang="en-IN" sz="1400" dirty="0"/>
                        <a:t> - With multiple dimensions such as attack type, severity, network segment, anomaly bands and threat signatures, maintaining consistency between visuals and conclusions was challenging.</a:t>
                      </a:r>
                    </a:p>
                  </a:txBody>
                  <a:tcPr marL="52426" marR="52426" marT="26213" marB="26213" anchor="ctr">
                    <a:lnL>
                      <a:noFill/>
                    </a:lnL>
                    <a:lnR>
                      <a:noFill/>
                    </a:lnR>
                    <a:lnT>
                      <a:noFill/>
                    </a:lnT>
                    <a:lnB>
                      <a:noFill/>
                    </a:lnB>
                    <a:noFill/>
                  </a:tcPr>
                </a:tc>
                <a:tc>
                  <a:txBody>
                    <a:bodyPr/>
                    <a:lstStyle/>
                    <a:p>
                      <a:pPr>
                        <a:buNone/>
                      </a:pPr>
                      <a:r>
                        <a:rPr lang="en-IN" sz="1400" b="1" dirty="0"/>
                        <a:t>Cross-dashboard validation and analytical review</a:t>
                      </a:r>
                      <a:r>
                        <a:rPr lang="en-IN" sz="1400" dirty="0"/>
                        <a:t> - Findings were compared across dashboards and validated before being incorporated into the final report and presentation, helping ensure that the reported insights remained consistent with the underlying data. </a:t>
                      </a:r>
                    </a:p>
                  </a:txBody>
                  <a:tcPr marL="52426" marR="52426" marT="26213" marB="26213" anchor="ctr">
                    <a:lnL>
                      <a:noFill/>
                    </a:lnL>
                    <a:lnR>
                      <a:noFill/>
                    </a:lnR>
                    <a:lnT>
                      <a:noFill/>
                    </a:lnT>
                    <a:lnB>
                      <a:noFill/>
                    </a:lnB>
                    <a:noFill/>
                  </a:tcPr>
                </a:tc>
                <a:extLst>
                  <a:ext uri="{0D108BD9-81ED-4DB2-BD59-A6C34878D82A}">
                    <a16:rowId xmlns:a16="http://schemas.microsoft.com/office/drawing/2014/main" val="3325438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05 · FUTURE ENHANCEMENTS &amp; KEY INSIGHTS</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Where the framework goes next</a:t>
            </a:r>
            <a:endParaRPr lang="en-US" sz="2400" dirty="0"/>
          </a:p>
        </p:txBody>
      </p:sp>
      <p:sp>
        <p:nvSpPr>
          <p:cNvPr id="5" name="Shape 3"/>
          <p:cNvSpPr/>
          <p:nvPr/>
        </p:nvSpPr>
        <p:spPr>
          <a:xfrm>
            <a:off x="548640" y="1508760"/>
            <a:ext cx="5989320" cy="4709160"/>
          </a:xfrm>
          <a:prstGeom prst="roundRect">
            <a:avLst>
              <a:gd name="adj" fmla="val 1553"/>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6" name="Shape 4"/>
          <p:cNvSpPr/>
          <p:nvPr/>
        </p:nvSpPr>
        <p:spPr>
          <a:xfrm>
            <a:off x="822960" y="1764792"/>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54634" y="1896466"/>
            <a:ext cx="285293" cy="285293"/>
          </a:xfrm>
          <a:prstGeom prst="rect">
            <a:avLst/>
          </a:prstGeom>
        </p:spPr>
      </p:pic>
      <p:sp>
        <p:nvSpPr>
          <p:cNvPr id="8" name="Text 5"/>
          <p:cNvSpPr/>
          <p:nvPr/>
        </p:nvSpPr>
        <p:spPr>
          <a:xfrm>
            <a:off x="1508760" y="1764792"/>
            <a:ext cx="480060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FUTURE ENHANCEMENTS</a:t>
            </a:r>
            <a:endParaRPr lang="en-US" sz="1600" dirty="0"/>
          </a:p>
        </p:txBody>
      </p:sp>
      <p:sp>
        <p:nvSpPr>
          <p:cNvPr id="9" name="Text 6"/>
          <p:cNvSpPr/>
          <p:nvPr/>
        </p:nvSpPr>
        <p:spPr>
          <a:xfrm>
            <a:off x="896112" y="2441448"/>
            <a:ext cx="5294376" cy="3611880"/>
          </a:xfrm>
          <a:prstGeom prst="rect">
            <a:avLst/>
          </a:prstGeom>
          <a:noFill/>
          <a:ln/>
        </p:spPr>
        <p:txBody>
          <a:bodyPr wrap="square" rtlCol="0" anchor="t"/>
          <a:lstStyle/>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Integrate near-real-time data via scheduled refresh or DirectQuery</a:t>
            </a:r>
            <a:endParaRPr lang="en-US" sz="1300" dirty="0"/>
          </a:p>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Add predictive analytics - anomaly forecasting &amp; risk scoring (Python / R / Azure ML)</a:t>
            </a:r>
            <a:endParaRPr lang="en-US" sz="1300" dirty="0"/>
          </a:p>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Row-level security for role-based dashboards + automated alerting via Power Automate</a:t>
            </a:r>
            <a:endParaRPr lang="en-US" sz="1300" dirty="0"/>
          </a:p>
          <a:p>
            <a:pPr marL="190500" indent="-190500" algn="l">
              <a:lnSpc>
                <a:spcPct val="103000"/>
              </a:lnSpc>
              <a:spcAft>
                <a:spcPts val="1400"/>
              </a:spcAft>
              <a:buSzPct val="100000"/>
              <a:buChar char="•"/>
            </a:pPr>
            <a:r>
              <a:rPr lang="en-US" sz="1300" dirty="0">
                <a:solidFill>
                  <a:srgbClr val="51617C"/>
                </a:solidFill>
                <a:latin typeface="Calibri" pitchFamily="34" charset="0"/>
                <a:ea typeface="Calibri" pitchFamily="34" charset="-122"/>
                <a:cs typeface="Calibri" pitchFamily="34" charset="-120"/>
              </a:rPr>
              <a:t>Drill-through to raw incidents, a true India choropleth, and publish to the Power BI Service</a:t>
            </a:r>
            <a:endParaRPr lang="en-US" sz="1300" dirty="0"/>
          </a:p>
        </p:txBody>
      </p:sp>
      <p:sp>
        <p:nvSpPr>
          <p:cNvPr id="10" name="Text 7"/>
          <p:cNvSpPr/>
          <p:nvPr/>
        </p:nvSpPr>
        <p:spPr>
          <a:xfrm>
            <a:off x="6766560" y="1527048"/>
            <a:ext cx="4873752" cy="320040"/>
          </a:xfrm>
          <a:prstGeom prst="rect">
            <a:avLst/>
          </a:prstGeom>
          <a:noFill/>
          <a:ln/>
        </p:spPr>
        <p:txBody>
          <a:bodyPr wrap="square" rtlCol="0" anchor="ctr"/>
          <a:lstStyle/>
          <a:p>
            <a:pPr marL="0" indent="0">
              <a:buNone/>
            </a:pPr>
            <a:r>
              <a:rPr lang="en-US" sz="1100" b="1" kern="0" spc="200" dirty="0">
                <a:solidFill>
                  <a:srgbClr val="1D6FE6"/>
                </a:solidFill>
                <a:latin typeface="Calibri" pitchFamily="34" charset="0"/>
                <a:ea typeface="Calibri" pitchFamily="34" charset="-122"/>
                <a:cs typeface="Calibri" pitchFamily="34" charset="-120"/>
              </a:rPr>
              <a:t>KEY INSIGHTS</a:t>
            </a:r>
            <a:endParaRPr lang="en-US" sz="1100" dirty="0"/>
          </a:p>
        </p:txBody>
      </p:sp>
      <p:sp>
        <p:nvSpPr>
          <p:cNvPr id="11" name="Shape 8"/>
          <p:cNvSpPr/>
          <p:nvPr/>
        </p:nvSpPr>
        <p:spPr>
          <a:xfrm>
            <a:off x="6766560" y="1965960"/>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2" name="Text 9"/>
          <p:cNvSpPr/>
          <p:nvPr/>
        </p:nvSpPr>
        <p:spPr>
          <a:xfrm>
            <a:off x="7022592" y="2075688"/>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33.6%</a:t>
            </a:r>
            <a:endParaRPr lang="en-US" sz="3200" dirty="0"/>
          </a:p>
        </p:txBody>
      </p:sp>
      <p:sp>
        <p:nvSpPr>
          <p:cNvPr id="13" name="Text 10"/>
          <p:cNvSpPr/>
          <p:nvPr/>
        </p:nvSpPr>
        <p:spPr>
          <a:xfrm>
            <a:off x="8732520" y="2075688"/>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DDoS marginally leads a broad, multi-vector threat mix (Malware 33.3%, Intrusion 33.2%).</a:t>
            </a:r>
            <a:endParaRPr lang="en-US" sz="1150" dirty="0"/>
          </a:p>
        </p:txBody>
      </p:sp>
      <p:sp>
        <p:nvSpPr>
          <p:cNvPr id="14" name="Shape 11"/>
          <p:cNvSpPr/>
          <p:nvPr/>
        </p:nvSpPr>
        <p:spPr>
          <a:xfrm>
            <a:off x="6766560" y="3410712"/>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5" name="Text 12"/>
          <p:cNvSpPr/>
          <p:nvPr/>
        </p:nvSpPr>
        <p:spPr>
          <a:xfrm>
            <a:off x="7022592" y="3520440"/>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~45%</a:t>
            </a:r>
            <a:endParaRPr lang="en-US" sz="3200" dirty="0"/>
          </a:p>
        </p:txBody>
      </p:sp>
      <p:sp>
        <p:nvSpPr>
          <p:cNvPr id="16" name="Text 13"/>
          <p:cNvSpPr/>
          <p:nvPr/>
        </p:nvSpPr>
        <p:spPr>
          <a:xfrm>
            <a:off x="8732520" y="3520440"/>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Windows is the most-targeted OS; malware indicators appear in exactly 50% of events.</a:t>
            </a:r>
            <a:endParaRPr lang="en-US" sz="1150" dirty="0"/>
          </a:p>
        </p:txBody>
      </p:sp>
      <p:sp>
        <p:nvSpPr>
          <p:cNvPr id="17" name="Shape 14"/>
          <p:cNvSpPr/>
          <p:nvPr/>
        </p:nvSpPr>
        <p:spPr>
          <a:xfrm>
            <a:off x="6766560" y="4855464"/>
            <a:ext cx="4873752" cy="1298448"/>
          </a:xfrm>
          <a:prstGeom prst="roundRect">
            <a:avLst>
              <a:gd name="adj" fmla="val 5634"/>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8" name="Text 15"/>
          <p:cNvSpPr/>
          <p:nvPr/>
        </p:nvSpPr>
        <p:spPr>
          <a:xfrm>
            <a:off x="7022592" y="4965192"/>
            <a:ext cx="1828800" cy="1078992"/>
          </a:xfrm>
          <a:prstGeom prst="rect">
            <a:avLst/>
          </a:prstGeom>
          <a:noFill/>
          <a:ln/>
        </p:spPr>
        <p:txBody>
          <a:bodyPr wrap="square" rtlCol="0" anchor="ctr"/>
          <a:lstStyle/>
          <a:p>
            <a:pPr marL="0" indent="0" algn="l">
              <a:buNone/>
            </a:pPr>
            <a:r>
              <a:rPr lang="en-US" sz="3200" b="1" dirty="0">
                <a:solidFill>
                  <a:srgbClr val="1D6FE6"/>
                </a:solidFill>
                <a:latin typeface="Bookman Old Style" pitchFamily="34" charset="0"/>
                <a:ea typeface="Bookman Old Style" pitchFamily="34" charset="-122"/>
                <a:cs typeface="Bookman Old Style" pitchFamily="34" charset="-120"/>
              </a:rPr>
              <a:t>33.8%</a:t>
            </a:r>
            <a:endParaRPr lang="en-US" sz="3200" dirty="0"/>
          </a:p>
        </p:txBody>
      </p:sp>
      <p:sp>
        <p:nvSpPr>
          <p:cNvPr id="19" name="Text 16"/>
          <p:cNvSpPr/>
          <p:nvPr/>
        </p:nvSpPr>
        <p:spPr>
          <a:xfrm>
            <a:off x="8732520" y="4965192"/>
            <a:ext cx="2679192" cy="1078992"/>
          </a:xfrm>
          <a:prstGeom prst="rect">
            <a:avLst/>
          </a:prstGeom>
          <a:noFill/>
          <a:ln/>
        </p:spPr>
        <p:txBody>
          <a:bodyPr wrap="square" rtlCol="0" anchor="ctr"/>
          <a:lstStyle/>
          <a:p>
            <a:pPr marL="0" indent="0" algn="l">
              <a:lnSpc>
                <a:spcPct val="102000"/>
              </a:lnSpc>
              <a:buNone/>
            </a:pPr>
            <a:r>
              <a:rPr lang="en-US" sz="1150" dirty="0">
                <a:solidFill>
                  <a:srgbClr val="51617C"/>
                </a:solidFill>
                <a:latin typeface="Calibri" pitchFamily="34" charset="0"/>
                <a:ea typeface="Calibri" pitchFamily="34" charset="-122"/>
                <a:cs typeface="Calibri" pitchFamily="34" charset="-120"/>
              </a:rPr>
              <a:t>Only about a third of attacks are actively blocked - a clear, quantified response gap.</a:t>
            </a:r>
            <a:endParaRPr lang="en-US" sz="1150" dirty="0"/>
          </a:p>
        </p:txBody>
      </p:sp>
      <p:grpSp>
        <p:nvGrpSpPr>
          <p:cNvPr id="20" name="Group 18">
            <a:extLst>
              <a:ext uri="{FF2B5EF4-FFF2-40B4-BE49-F238E27FC236}">
                <a16:creationId xmlns:a16="http://schemas.microsoft.com/office/drawing/2014/main" id="{13DA92BE-A690-0241-A7CD-F585B68474B9}"/>
              </a:ext>
            </a:extLst>
          </p:cNvPr>
          <p:cNvGrpSpPr/>
          <p:nvPr/>
        </p:nvGrpSpPr>
        <p:grpSpPr>
          <a:xfrm>
            <a:off x="127718" y="92211"/>
            <a:ext cx="1168193" cy="227829"/>
            <a:chOff x="0" y="0"/>
            <a:chExt cx="3584702" cy="861695"/>
          </a:xfrm>
        </p:grpSpPr>
        <p:sp>
          <p:nvSpPr>
            <p:cNvPr id="21" name="Freeform 19">
              <a:extLst>
                <a:ext uri="{FF2B5EF4-FFF2-40B4-BE49-F238E27FC236}">
                  <a16:creationId xmlns:a16="http://schemas.microsoft.com/office/drawing/2014/main" id="{9EFC7F43-A508-82DE-EE52-9BDE2AD22768}"/>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06 · CONCLUSION</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What the team delivered and gained</a:t>
            </a:r>
            <a:endParaRPr lang="en-US" sz="2400" dirty="0"/>
          </a:p>
        </p:txBody>
      </p:sp>
      <p:sp>
        <p:nvSpPr>
          <p:cNvPr id="5" name="Shape 3"/>
          <p:cNvSpPr/>
          <p:nvPr/>
        </p:nvSpPr>
        <p:spPr>
          <a:xfrm>
            <a:off x="548640" y="1481328"/>
            <a:ext cx="11091672" cy="1051560"/>
          </a:xfrm>
          <a:prstGeom prst="roundRect">
            <a:avLst>
              <a:gd name="adj" fmla="val 6957"/>
            </a:avLst>
          </a:prstGeom>
          <a:solidFill>
            <a:srgbClr val="EAF3FF"/>
          </a:solidFill>
          <a:ln w="12700">
            <a:solidFill>
              <a:srgbClr val="1D6FE6">
                <a:alpha val="55000"/>
              </a:srgbClr>
            </a:solidFill>
            <a:prstDash val="solid"/>
          </a:ln>
        </p:spPr>
        <p:txBody>
          <a:bodyPr/>
          <a:lstStyle/>
          <a:p>
            <a:endParaRPr lang="en-IN" dirty="0"/>
          </a:p>
        </p:txBody>
      </p:sp>
      <p:sp>
        <p:nvSpPr>
          <p:cNvPr id="6" name="Shape 4"/>
          <p:cNvSpPr/>
          <p:nvPr/>
        </p:nvSpPr>
        <p:spPr>
          <a:xfrm>
            <a:off x="822960" y="1737360"/>
            <a:ext cx="548640" cy="548640"/>
          </a:xfrm>
          <a:prstGeom prst="roundRect">
            <a:avLst>
              <a:gd name="adj" fmla="val 15000"/>
            </a:avLst>
          </a:prstGeom>
          <a:solidFill>
            <a:srgbClr val="FFFFFF"/>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954634" y="1869034"/>
            <a:ext cx="285293" cy="285293"/>
          </a:xfrm>
          <a:prstGeom prst="rect">
            <a:avLst/>
          </a:prstGeom>
        </p:spPr>
      </p:pic>
      <p:sp>
        <p:nvSpPr>
          <p:cNvPr id="8" name="Text 5"/>
          <p:cNvSpPr/>
          <p:nvPr/>
        </p:nvSpPr>
        <p:spPr>
          <a:xfrm>
            <a:off x="1417320" y="1481328"/>
            <a:ext cx="10149840" cy="1051560"/>
          </a:xfrm>
          <a:prstGeom prst="rect">
            <a:avLst/>
          </a:prstGeom>
          <a:noFill/>
          <a:ln/>
        </p:spPr>
        <p:txBody>
          <a:bodyPr wrap="square" rtlCol="0" anchor="ctr"/>
          <a:lstStyle/>
          <a:p>
            <a:r>
              <a:rPr lang="en-IN" sz="1400" dirty="0"/>
              <a:t>The Cyber Threat Analytics Platform transformed 40,000 raw cybersecurity incidents into five interactive Power BI dashboards, providing a structured view of attack patterns, threat severity, network activity, user behaviour and anomalies. The framework converted raw security data into clear, actionable insights to support better threat understanding and evidence-based decision-making.</a:t>
            </a:r>
            <a:endParaRPr lang="en-US" sz="1400" dirty="0"/>
          </a:p>
        </p:txBody>
      </p:sp>
      <p:sp>
        <p:nvSpPr>
          <p:cNvPr id="9" name="Shape 6"/>
          <p:cNvSpPr/>
          <p:nvPr/>
        </p:nvSpPr>
        <p:spPr>
          <a:xfrm>
            <a:off x="548640" y="2788919"/>
            <a:ext cx="5440680" cy="3976869"/>
          </a:xfrm>
          <a:prstGeom prst="roundRect">
            <a:avLst>
              <a:gd name="adj" fmla="val 222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0" name="Shape 7"/>
          <p:cNvSpPr/>
          <p:nvPr/>
        </p:nvSpPr>
        <p:spPr>
          <a:xfrm>
            <a:off x="822960" y="3044952"/>
            <a:ext cx="548640" cy="548640"/>
          </a:xfrm>
          <a:prstGeom prst="roundRect">
            <a:avLst>
              <a:gd name="adj" fmla="val 15000"/>
            </a:avLst>
          </a:prstGeom>
          <a:solidFill>
            <a:srgbClr val="E9F2FE"/>
          </a:solidFill>
          <a:ln w="12700">
            <a:solidFill>
              <a:srgbClr val="1D6FE6">
                <a:alpha val="55000"/>
              </a:srgbClr>
            </a:solidFill>
            <a:prstDash val="solid"/>
          </a:ln>
        </p:spPr>
      </p:sp>
      <p:pic>
        <p:nvPicPr>
          <p:cNvPr id="11" name="Image 1" descr="preencoded.png"/>
          <p:cNvPicPr>
            <a:picLocks noChangeAspect="1"/>
          </p:cNvPicPr>
          <p:nvPr/>
        </p:nvPicPr>
        <p:blipFill>
          <a:blip r:embed="rId5"/>
          <a:stretch>
            <a:fillRect/>
          </a:stretch>
        </p:blipFill>
        <p:spPr>
          <a:xfrm>
            <a:off x="954634" y="3176626"/>
            <a:ext cx="285293" cy="285293"/>
          </a:xfrm>
          <a:prstGeom prst="rect">
            <a:avLst/>
          </a:prstGeom>
        </p:spPr>
      </p:pic>
      <p:sp>
        <p:nvSpPr>
          <p:cNvPr id="12" name="Text 8"/>
          <p:cNvSpPr/>
          <p:nvPr/>
        </p:nvSpPr>
        <p:spPr>
          <a:xfrm>
            <a:off x="1508760" y="3044952"/>
            <a:ext cx="425196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TECHNICAL SKILLS</a:t>
            </a:r>
            <a:endParaRPr lang="en-US" sz="1600" dirty="0"/>
          </a:p>
        </p:txBody>
      </p:sp>
      <p:sp>
        <p:nvSpPr>
          <p:cNvPr id="13" name="Text 9"/>
          <p:cNvSpPr/>
          <p:nvPr/>
        </p:nvSpPr>
        <p:spPr>
          <a:xfrm>
            <a:off x="896112" y="3721607"/>
            <a:ext cx="4864608" cy="2884465"/>
          </a:xfrm>
          <a:prstGeom prst="rect">
            <a:avLst/>
          </a:prstGeom>
          <a:noFill/>
          <a:ln/>
        </p:spPr>
        <p:txBody>
          <a:bodyPr wrap="square" rtlCol="0" anchor="t"/>
          <a:lstStyle/>
          <a:p>
            <a:pPr lvl="0"/>
            <a:r>
              <a:rPr lang="en-IN" sz="1300" b="1" dirty="0"/>
              <a:t>Power BI &amp; Power Query</a:t>
            </a:r>
            <a:r>
              <a:rPr lang="en-IN" sz="1300" dirty="0"/>
              <a:t> — Data cleaning, transformation, ETL and dashboard development. </a:t>
            </a:r>
          </a:p>
          <a:p>
            <a:pPr lvl="0"/>
            <a:r>
              <a:rPr lang="en-IN" sz="1300" b="1" dirty="0"/>
              <a:t>Data Modelling &amp; DAX</a:t>
            </a:r>
            <a:r>
              <a:rPr lang="en-IN" sz="1300" dirty="0"/>
              <a:t> — Built relationships, Date tables, calculated columns, measures and KPI logic. </a:t>
            </a:r>
          </a:p>
          <a:p>
            <a:pPr lvl="0"/>
            <a:r>
              <a:rPr lang="en-IN" sz="1300" b="1" dirty="0"/>
              <a:t>Cybersecurity Analytics</a:t>
            </a:r>
            <a:r>
              <a:rPr lang="en-IN" sz="1300" dirty="0"/>
              <a:t> — Analysed attack types, severity, anomaly scores, network traffic, users and threat signatures. </a:t>
            </a:r>
          </a:p>
          <a:p>
            <a:pPr lvl="0"/>
            <a:r>
              <a:rPr lang="en-IN" sz="1300" b="1" dirty="0"/>
              <a:t>Advanced Visualization</a:t>
            </a:r>
            <a:r>
              <a:rPr lang="en-IN" sz="1300" dirty="0"/>
              <a:t> — Developed interactive dashboards using slicers, cross-filtering, Decomposition Tree, </a:t>
            </a:r>
            <a:r>
              <a:rPr lang="en-IN" sz="1300" dirty="0" err="1"/>
              <a:t>Treemap</a:t>
            </a:r>
            <a:r>
              <a:rPr lang="en-IN" sz="1300" dirty="0"/>
              <a:t>, Ribbon Chart and other visuals. </a:t>
            </a:r>
          </a:p>
          <a:p>
            <a:pPr lvl="0"/>
            <a:r>
              <a:rPr lang="en-IN" sz="1300" b="1" dirty="0"/>
              <a:t>Data Validation &amp; Reporting</a:t>
            </a:r>
            <a:r>
              <a:rPr lang="en-IN" sz="1300" dirty="0"/>
              <a:t> — Cross-checked analytical results and converted findings into structured reports and presentations. </a:t>
            </a:r>
          </a:p>
          <a:p>
            <a:pPr lvl="0"/>
            <a:r>
              <a:rPr lang="en-IN" sz="1300" b="1" dirty="0"/>
              <a:t>Collaboration &amp; Version Control</a:t>
            </a:r>
            <a:r>
              <a:rPr lang="en-IN" sz="1300" dirty="0"/>
              <a:t> — Used Microsoft Teams and GitHub to coordinate development and maintain project artefacts. </a:t>
            </a:r>
          </a:p>
          <a:p>
            <a:pPr algn="l">
              <a:lnSpc>
                <a:spcPct val="103000"/>
              </a:lnSpc>
              <a:spcAft>
                <a:spcPts val="1400"/>
              </a:spcAft>
              <a:buSzPct val="100000"/>
            </a:pPr>
            <a:endParaRPr lang="en-US" sz="1300" dirty="0"/>
          </a:p>
        </p:txBody>
      </p:sp>
      <p:sp>
        <p:nvSpPr>
          <p:cNvPr id="14" name="Shape 10"/>
          <p:cNvSpPr/>
          <p:nvPr/>
        </p:nvSpPr>
        <p:spPr>
          <a:xfrm>
            <a:off x="6309360" y="2788920"/>
            <a:ext cx="5440680" cy="3976868"/>
          </a:xfrm>
          <a:prstGeom prst="roundRect">
            <a:avLst>
              <a:gd name="adj" fmla="val 2222"/>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5" name="Shape 11"/>
          <p:cNvSpPr/>
          <p:nvPr/>
        </p:nvSpPr>
        <p:spPr>
          <a:xfrm>
            <a:off x="6583680" y="3044952"/>
            <a:ext cx="548640" cy="548640"/>
          </a:xfrm>
          <a:prstGeom prst="roundRect">
            <a:avLst>
              <a:gd name="adj" fmla="val 15000"/>
            </a:avLst>
          </a:prstGeom>
          <a:solidFill>
            <a:srgbClr val="E9F2FE"/>
          </a:solidFill>
          <a:ln w="12700">
            <a:solidFill>
              <a:srgbClr val="1D6FE6">
                <a:alpha val="55000"/>
              </a:srgbClr>
            </a:solidFill>
            <a:prstDash val="solid"/>
          </a:ln>
        </p:spPr>
      </p:sp>
      <p:pic>
        <p:nvPicPr>
          <p:cNvPr id="16" name="Image 2" descr="preencoded.png"/>
          <p:cNvPicPr>
            <a:picLocks noChangeAspect="1"/>
          </p:cNvPicPr>
          <p:nvPr/>
        </p:nvPicPr>
        <p:blipFill>
          <a:blip r:embed="rId6"/>
          <a:stretch>
            <a:fillRect/>
          </a:stretch>
        </p:blipFill>
        <p:spPr>
          <a:xfrm>
            <a:off x="6715354" y="3176626"/>
            <a:ext cx="285293" cy="285293"/>
          </a:xfrm>
          <a:prstGeom prst="rect">
            <a:avLst/>
          </a:prstGeom>
        </p:spPr>
      </p:pic>
      <p:sp>
        <p:nvSpPr>
          <p:cNvPr id="17" name="Text 12"/>
          <p:cNvSpPr/>
          <p:nvPr/>
        </p:nvSpPr>
        <p:spPr>
          <a:xfrm>
            <a:off x="7269480" y="3044952"/>
            <a:ext cx="425196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SOFT SKILLS</a:t>
            </a:r>
            <a:endParaRPr lang="en-US" sz="1600" dirty="0"/>
          </a:p>
        </p:txBody>
      </p:sp>
      <p:sp>
        <p:nvSpPr>
          <p:cNvPr id="18" name="Text 13"/>
          <p:cNvSpPr/>
          <p:nvPr/>
        </p:nvSpPr>
        <p:spPr>
          <a:xfrm>
            <a:off x="6583680" y="3974840"/>
            <a:ext cx="4864608" cy="2631231"/>
          </a:xfrm>
          <a:prstGeom prst="rect">
            <a:avLst/>
          </a:prstGeom>
          <a:noFill/>
          <a:ln/>
        </p:spPr>
        <p:txBody>
          <a:bodyPr wrap="square" rtlCol="0" anchor="t"/>
          <a:lstStyle/>
          <a:p>
            <a:pPr lvl="0"/>
            <a:r>
              <a:rPr lang="en-IN" sz="1300" b="1" dirty="0"/>
              <a:t>Problem Solving</a:t>
            </a:r>
            <a:r>
              <a:rPr lang="en-IN" sz="1300" dirty="0"/>
              <a:t> — Tackled data-quality, modelling, performance and analytical challenges systematically. </a:t>
            </a:r>
          </a:p>
          <a:p>
            <a:pPr lvl="0"/>
            <a:r>
              <a:rPr lang="en-IN" sz="1300" b="1" dirty="0"/>
              <a:t>Analytical Thinking</a:t>
            </a:r>
            <a:r>
              <a:rPr lang="en-IN" sz="1300" dirty="0"/>
              <a:t> — Converted large volumes of raw security data into meaningful patterns and insights. </a:t>
            </a:r>
          </a:p>
          <a:p>
            <a:pPr lvl="0"/>
            <a:r>
              <a:rPr lang="en-IN" sz="1300" b="1" dirty="0"/>
              <a:t>Teamwork &amp; Collaboration</a:t>
            </a:r>
            <a:r>
              <a:rPr lang="en-IN" sz="1300" dirty="0"/>
              <a:t> — Coordinated dashboard development and integrated contributions across team members. </a:t>
            </a:r>
          </a:p>
          <a:p>
            <a:pPr lvl="0"/>
            <a:r>
              <a:rPr lang="en-IN" sz="1300" b="1" dirty="0"/>
              <a:t>Communication</a:t>
            </a:r>
            <a:r>
              <a:rPr lang="en-IN" sz="1300" dirty="0"/>
              <a:t> — Presented technical findings in a clear and understandable manner for different stakeholders. </a:t>
            </a:r>
          </a:p>
          <a:p>
            <a:pPr lvl="0"/>
            <a:r>
              <a:rPr lang="en-IN" sz="1300" b="1" dirty="0"/>
              <a:t>Presentation Skills</a:t>
            </a:r>
            <a:r>
              <a:rPr lang="en-IN" sz="1300" dirty="0"/>
              <a:t> — Developed and delivered structured project reports and dashboard walkthroughs. </a:t>
            </a:r>
          </a:p>
          <a:p>
            <a:pPr lvl="0"/>
            <a:r>
              <a:rPr lang="en-IN" sz="1300" b="1" dirty="0"/>
              <a:t>Decision-Oriented Thinking</a:t>
            </a:r>
            <a:r>
              <a:rPr lang="en-IN" sz="1300" dirty="0"/>
              <a:t> — Learned to connect analytical findings with practical cybersecurity actions and recommendations. </a:t>
            </a:r>
          </a:p>
          <a:p>
            <a:pPr algn="l">
              <a:lnSpc>
                <a:spcPct val="103000"/>
              </a:lnSpc>
              <a:spcAft>
                <a:spcPts val="1200"/>
              </a:spcAft>
              <a:buSzPct val="100000"/>
            </a:pPr>
            <a:endParaRPr lang="en-US" sz="1300" dirty="0"/>
          </a:p>
        </p:txBody>
      </p:sp>
      <p:grpSp>
        <p:nvGrpSpPr>
          <p:cNvPr id="19" name="Group 18">
            <a:extLst>
              <a:ext uri="{FF2B5EF4-FFF2-40B4-BE49-F238E27FC236}">
                <a16:creationId xmlns:a16="http://schemas.microsoft.com/office/drawing/2014/main" id="{6DCA69D0-51E9-3618-9ED3-38B504E0FE3C}"/>
              </a:ext>
            </a:extLst>
          </p:cNvPr>
          <p:cNvGrpSpPr/>
          <p:nvPr/>
        </p:nvGrpSpPr>
        <p:grpSpPr>
          <a:xfrm>
            <a:off x="127718" y="92211"/>
            <a:ext cx="1168193" cy="227829"/>
            <a:chOff x="0" y="0"/>
            <a:chExt cx="3584702" cy="861695"/>
          </a:xfrm>
        </p:grpSpPr>
        <p:sp>
          <p:nvSpPr>
            <p:cNvPr id="20" name="Freeform 19">
              <a:extLst>
                <a:ext uri="{FF2B5EF4-FFF2-40B4-BE49-F238E27FC236}">
                  <a16:creationId xmlns:a16="http://schemas.microsoft.com/office/drawing/2014/main" id="{A3DBA5EC-C637-07D8-5912-82FF16A93C05}"/>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7"/>
              <a:stretch>
                <a:fillRect t="-365" b="-365"/>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457200"/>
            <a:ext cx="10058400" cy="274320"/>
          </a:xfrm>
          <a:prstGeom prst="rect">
            <a:avLst/>
          </a:prstGeom>
          <a:noFill/>
          <a:ln/>
        </p:spPr>
        <p:txBody>
          <a:bodyPr wrap="square" rtlCol="0" anchor="ctr"/>
          <a:lstStyle/>
          <a:p>
            <a:pPr marL="0" indent="0" algn="l">
              <a:buNone/>
            </a:pPr>
            <a:r>
              <a:rPr lang="en-US" sz="2800" b="1" kern="0" spc="300" dirty="0">
                <a:solidFill>
                  <a:srgbClr val="1D6FE6"/>
                </a:solidFill>
                <a:latin typeface="Calibri" pitchFamily="34" charset="0"/>
                <a:ea typeface="Calibri" pitchFamily="34" charset="-122"/>
                <a:cs typeface="Calibri" pitchFamily="34" charset="-120"/>
              </a:rPr>
              <a:t>07 · ACKNOWLEDGEMENTS &amp; REFERENCES</a:t>
            </a:r>
            <a:endParaRPr lang="en-US" sz="2800" dirty="0"/>
          </a:p>
        </p:txBody>
      </p:sp>
      <p:sp>
        <p:nvSpPr>
          <p:cNvPr id="4" name="Text 2"/>
          <p:cNvSpPr/>
          <p:nvPr/>
        </p:nvSpPr>
        <p:spPr>
          <a:xfrm>
            <a:off x="548640" y="749808"/>
            <a:ext cx="10515600" cy="658368"/>
          </a:xfrm>
          <a:prstGeom prst="rect">
            <a:avLst/>
          </a:prstGeom>
          <a:noFill/>
          <a:ln/>
        </p:spPr>
        <p:txBody>
          <a:bodyPr wrap="square" rtlCol="0" anchor="ctr"/>
          <a:lstStyle/>
          <a:p>
            <a:pPr marL="0" indent="0" algn="l">
              <a:buNone/>
            </a:pPr>
            <a:r>
              <a:rPr lang="en-US" sz="2400" b="1" dirty="0">
                <a:solidFill>
                  <a:srgbClr val="16294A"/>
                </a:solidFill>
                <a:latin typeface="Bookman Old Style" pitchFamily="34" charset="0"/>
                <a:ea typeface="Bookman Old Style" pitchFamily="34" charset="-122"/>
                <a:cs typeface="Bookman Old Style" pitchFamily="34" charset="-120"/>
              </a:rPr>
              <a:t>With gratitude</a:t>
            </a:r>
            <a:endParaRPr lang="en-US" sz="2400" dirty="0"/>
          </a:p>
        </p:txBody>
      </p:sp>
      <p:sp>
        <p:nvSpPr>
          <p:cNvPr id="5" name="Shape 3"/>
          <p:cNvSpPr/>
          <p:nvPr/>
        </p:nvSpPr>
        <p:spPr>
          <a:xfrm>
            <a:off x="548640" y="1389888"/>
            <a:ext cx="7465310" cy="5257029"/>
          </a:xfrm>
          <a:prstGeom prst="roundRect">
            <a:avLst>
              <a:gd name="adj" fmla="val 1553"/>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txBody>
          <a:bodyPr/>
          <a:lstStyle/>
          <a:p>
            <a:endParaRPr lang="en-US" sz="1300" dirty="0"/>
          </a:p>
          <a:p>
            <a:endParaRPr lang="en-IN" sz="1300" dirty="0"/>
          </a:p>
          <a:p>
            <a:endParaRPr lang="en-IN" sz="1300" dirty="0"/>
          </a:p>
          <a:p>
            <a:endParaRPr lang="en-IN" sz="1300" dirty="0"/>
          </a:p>
          <a:p>
            <a:r>
              <a:rPr lang="en-IN" sz="1300" dirty="0"/>
              <a:t>We would like to express our sincere gratitude to the Infosys Springboard Team for organizing this highly enriching virtual internship program and for providing a structured, industry-aligned learning platform. The well-designed modules, milestone-based framework, and practical orientation of the internship enabled us to gain meaningful exposure to real-world business intelligence applications.</a:t>
            </a:r>
          </a:p>
          <a:p>
            <a:r>
              <a:rPr lang="en-IN" sz="1300" dirty="0"/>
              <a:t>We extend our heartfelt appreciation to our mentor, Ms. Nityasree, for her consistent guidance, valuable feedback, and continuous encouragement throughout the project lifecycle. Her insights and structured direction played a significant role in shaping the analytical depth and professional quality of this project. We would also like to acknowledge our team members for their strong collaboration, accountability, and shared commitment toward achieving project objectives. The coordinated distribution of responsibilities, open communication, and collective problem-solving approach significantly contributed to the successful execution of this project.</a:t>
            </a:r>
          </a:p>
          <a:p>
            <a:r>
              <a:rPr lang="en-IN" sz="1300" dirty="0"/>
              <a:t>In addition, we extend our appreciation to the creators and maintainers of Microsoft Power BI documentation and community resources, which served as essential references during dashboard development and KPI implementation. We are also grateful to Kaggle for providing access to publicly available datasets that facilitated practical, hands-on analytical </a:t>
            </a:r>
            <a:r>
              <a:rPr lang="en-IN" sz="1300" dirty="0" err="1"/>
              <a:t>experience.The</a:t>
            </a:r>
            <a:r>
              <a:rPr lang="en-IN" sz="1300" dirty="0"/>
              <a:t> structured learning resources and practical exposure provided through this internship have significantly strengthened our analytical thinking, technical proficiency, and business interpretation skills. This experience has enhanced our ability to approach data with a strategic mindset, collaborate effectively within a team environment, and execute projects with professional discipline. Overall, this internship has been a meaningful milestone in our academic and professional journey, reinforcing the value of data-driven decision-making and structured analytical execution in modern business environments. </a:t>
            </a:r>
          </a:p>
          <a:p>
            <a:endParaRPr lang="en-IN" sz="1300" dirty="0"/>
          </a:p>
        </p:txBody>
      </p:sp>
      <p:sp>
        <p:nvSpPr>
          <p:cNvPr id="6" name="Shape 4"/>
          <p:cNvSpPr/>
          <p:nvPr/>
        </p:nvSpPr>
        <p:spPr>
          <a:xfrm>
            <a:off x="607704" y="1497936"/>
            <a:ext cx="548640" cy="548640"/>
          </a:xfrm>
          <a:prstGeom prst="roundRect">
            <a:avLst>
              <a:gd name="adj" fmla="val 15000"/>
            </a:avLst>
          </a:prstGeom>
          <a:solidFill>
            <a:srgbClr val="E9F2FE"/>
          </a:solidFill>
          <a:ln w="12700">
            <a:solidFill>
              <a:srgbClr val="1D6FE6">
                <a:alpha val="55000"/>
              </a:srgbClr>
            </a:solidFill>
            <a:prstDash val="solid"/>
          </a:ln>
        </p:spPr>
      </p:sp>
      <p:pic>
        <p:nvPicPr>
          <p:cNvPr id="7" name="Image 0" descr="preencoded.png"/>
          <p:cNvPicPr>
            <a:picLocks noChangeAspect="1"/>
          </p:cNvPicPr>
          <p:nvPr/>
        </p:nvPicPr>
        <p:blipFill>
          <a:blip r:embed="rId4"/>
          <a:stretch>
            <a:fillRect/>
          </a:stretch>
        </p:blipFill>
        <p:spPr>
          <a:xfrm>
            <a:off x="717804" y="1629609"/>
            <a:ext cx="285293" cy="285293"/>
          </a:xfrm>
          <a:prstGeom prst="rect">
            <a:avLst/>
          </a:prstGeom>
        </p:spPr>
      </p:pic>
      <p:sp>
        <p:nvSpPr>
          <p:cNvPr id="8" name="Text 5"/>
          <p:cNvSpPr/>
          <p:nvPr/>
        </p:nvSpPr>
        <p:spPr>
          <a:xfrm>
            <a:off x="1211580" y="1444564"/>
            <a:ext cx="5166360"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ACKNOWLEDGEMENTS</a:t>
            </a:r>
            <a:endParaRPr lang="en-US" sz="1600" dirty="0"/>
          </a:p>
        </p:txBody>
      </p:sp>
      <p:sp>
        <p:nvSpPr>
          <p:cNvPr id="16" name="Shape 13"/>
          <p:cNvSpPr/>
          <p:nvPr/>
        </p:nvSpPr>
        <p:spPr>
          <a:xfrm>
            <a:off x="8145624" y="1408177"/>
            <a:ext cx="3494688" cy="5238740"/>
          </a:xfrm>
          <a:prstGeom prst="roundRect">
            <a:avLst>
              <a:gd name="adj" fmla="val 1606"/>
            </a:avLst>
          </a:prstGeom>
          <a:solidFill>
            <a:srgbClr val="FFFFFF"/>
          </a:solidFill>
          <a:ln w="12700">
            <a:solidFill>
              <a:srgbClr val="CFE0F5"/>
            </a:solidFill>
            <a:prstDash val="solid"/>
          </a:ln>
          <a:effectLst>
            <a:outerShdw blurRad="114300" dist="38100" dir="5400000" algn="bl" rotWithShape="0">
              <a:srgbClr val="9FB8D8">
                <a:alpha val="40000"/>
              </a:srgbClr>
            </a:outerShdw>
          </a:effectLst>
        </p:spPr>
      </p:sp>
      <p:sp>
        <p:nvSpPr>
          <p:cNvPr id="17" name="Shape 14"/>
          <p:cNvSpPr/>
          <p:nvPr/>
        </p:nvSpPr>
        <p:spPr>
          <a:xfrm>
            <a:off x="8250375" y="1497936"/>
            <a:ext cx="548640" cy="548640"/>
          </a:xfrm>
          <a:prstGeom prst="roundRect">
            <a:avLst>
              <a:gd name="adj" fmla="val 15000"/>
            </a:avLst>
          </a:prstGeom>
          <a:solidFill>
            <a:srgbClr val="E9F2FE"/>
          </a:solidFill>
          <a:ln w="12700">
            <a:solidFill>
              <a:srgbClr val="1D6FE6">
                <a:alpha val="55000"/>
              </a:srgbClr>
            </a:solidFill>
            <a:prstDash val="solid"/>
          </a:ln>
        </p:spPr>
      </p:sp>
      <p:pic>
        <p:nvPicPr>
          <p:cNvPr id="18" name="Image 1" descr="preencoded.png"/>
          <p:cNvPicPr>
            <a:picLocks noChangeAspect="1"/>
          </p:cNvPicPr>
          <p:nvPr/>
        </p:nvPicPr>
        <p:blipFill>
          <a:blip r:embed="rId5"/>
          <a:stretch>
            <a:fillRect/>
          </a:stretch>
        </p:blipFill>
        <p:spPr>
          <a:xfrm>
            <a:off x="8382048" y="1636627"/>
            <a:ext cx="285293" cy="285293"/>
          </a:xfrm>
          <a:prstGeom prst="rect">
            <a:avLst/>
          </a:prstGeom>
        </p:spPr>
      </p:pic>
      <p:sp>
        <p:nvSpPr>
          <p:cNvPr id="19" name="Text 15"/>
          <p:cNvSpPr/>
          <p:nvPr/>
        </p:nvSpPr>
        <p:spPr>
          <a:xfrm>
            <a:off x="8799014" y="1497936"/>
            <a:ext cx="3364992" cy="548640"/>
          </a:xfrm>
          <a:prstGeom prst="rect">
            <a:avLst/>
          </a:prstGeom>
          <a:noFill/>
          <a:ln/>
        </p:spPr>
        <p:txBody>
          <a:bodyPr wrap="square" rtlCol="0" anchor="ctr"/>
          <a:lstStyle/>
          <a:p>
            <a:pPr marL="0" indent="0">
              <a:buNone/>
            </a:pPr>
            <a:r>
              <a:rPr lang="en-US" sz="1600" b="1" dirty="0">
                <a:solidFill>
                  <a:srgbClr val="16294A"/>
                </a:solidFill>
                <a:latin typeface="Bookman Old Style" pitchFamily="34" charset="0"/>
                <a:ea typeface="Bookman Old Style" pitchFamily="34" charset="-122"/>
                <a:cs typeface="Bookman Old Style" pitchFamily="34" charset="-120"/>
              </a:rPr>
              <a:t>REFERENCES</a:t>
            </a:r>
            <a:endParaRPr lang="en-US" sz="1600" dirty="0"/>
          </a:p>
        </p:txBody>
      </p:sp>
      <p:sp>
        <p:nvSpPr>
          <p:cNvPr id="20" name="Text 16"/>
          <p:cNvSpPr/>
          <p:nvPr/>
        </p:nvSpPr>
        <p:spPr>
          <a:xfrm>
            <a:off x="8250375" y="2216991"/>
            <a:ext cx="3016027" cy="3429000"/>
          </a:xfrm>
          <a:prstGeom prst="rect">
            <a:avLst/>
          </a:prstGeom>
          <a:noFill/>
          <a:ln/>
        </p:spPr>
        <p:txBody>
          <a:bodyPr wrap="square" rtlCol="0" anchor="t"/>
          <a:lstStyle/>
          <a:p>
            <a:pPr marL="254000" indent="-254000" algn="l">
              <a:lnSpc>
                <a:spcPct val="105000"/>
              </a:lnSpc>
              <a:spcAft>
                <a:spcPts val="1600"/>
              </a:spcAft>
              <a:buSzPct val="100000"/>
              <a:buFont typeface="+mj-lt"/>
              <a:buAutoNum type="arabicPeriod"/>
            </a:pPr>
            <a:r>
              <a:rPr lang="en-US" sz="1250" dirty="0">
                <a:latin typeface="Calibri" pitchFamily="34" charset="0"/>
                <a:ea typeface="Calibri" pitchFamily="34" charset="-122"/>
                <a:cs typeface="Calibri" pitchFamily="34" charset="-120"/>
              </a:rPr>
              <a:t>Kaggle - “Cyber Security Attacks” dataset (40,000 records, 2020–2023)</a:t>
            </a:r>
            <a:endParaRPr lang="en-US" sz="1250" dirty="0"/>
          </a:p>
          <a:p>
            <a:pPr marL="254000" indent="-254000" algn="l">
              <a:lnSpc>
                <a:spcPct val="105000"/>
              </a:lnSpc>
              <a:spcAft>
                <a:spcPts val="1600"/>
              </a:spcAft>
              <a:buSzPct val="100000"/>
              <a:buFont typeface="+mj-lt"/>
              <a:buAutoNum type="arabicPeriod"/>
            </a:pPr>
            <a:r>
              <a:rPr lang="en-US" sz="1250" dirty="0">
                <a:latin typeface="Calibri" pitchFamily="34" charset="0"/>
                <a:ea typeface="Calibri" pitchFamily="34" charset="-122"/>
                <a:cs typeface="Calibri" pitchFamily="34" charset="-120"/>
              </a:rPr>
              <a:t>Microsoft Power BI &amp; DAX official documentation and community resources</a:t>
            </a:r>
            <a:endParaRPr lang="en-US" sz="1250" dirty="0"/>
          </a:p>
          <a:p>
            <a:pPr marL="254000" indent="-254000" algn="l">
              <a:lnSpc>
                <a:spcPct val="105000"/>
              </a:lnSpc>
              <a:spcAft>
                <a:spcPts val="1600"/>
              </a:spcAft>
              <a:buSzPct val="100000"/>
              <a:buFont typeface="+mj-lt"/>
              <a:buAutoNum type="arabicPeriod"/>
            </a:pPr>
            <a:r>
              <a:rPr lang="en-US" sz="1250" dirty="0">
                <a:latin typeface="Calibri" pitchFamily="34" charset="0"/>
                <a:ea typeface="Calibri" pitchFamily="34" charset="-122"/>
                <a:cs typeface="Calibri" pitchFamily="34" charset="-120"/>
              </a:rPr>
              <a:t>Infosys Springboard learning modules and training materials</a:t>
            </a:r>
            <a:endParaRPr lang="en-US" sz="1250" dirty="0"/>
          </a:p>
        </p:txBody>
      </p:sp>
      <p:grpSp>
        <p:nvGrpSpPr>
          <p:cNvPr id="21" name="Group 18">
            <a:extLst>
              <a:ext uri="{FF2B5EF4-FFF2-40B4-BE49-F238E27FC236}">
                <a16:creationId xmlns:a16="http://schemas.microsoft.com/office/drawing/2014/main" id="{DD860F22-34AD-4436-1234-34FE6D2CFAAF}"/>
              </a:ext>
            </a:extLst>
          </p:cNvPr>
          <p:cNvGrpSpPr/>
          <p:nvPr/>
        </p:nvGrpSpPr>
        <p:grpSpPr>
          <a:xfrm>
            <a:off x="127718" y="92211"/>
            <a:ext cx="1168193" cy="227829"/>
            <a:chOff x="0" y="0"/>
            <a:chExt cx="3584702" cy="861695"/>
          </a:xfrm>
        </p:grpSpPr>
        <p:sp>
          <p:nvSpPr>
            <p:cNvPr id="22" name="Freeform 19">
              <a:extLst>
                <a:ext uri="{FF2B5EF4-FFF2-40B4-BE49-F238E27FC236}">
                  <a16:creationId xmlns:a16="http://schemas.microsoft.com/office/drawing/2014/main" id="{31AAF27D-FD5F-79F0-AD4F-589EB9F014CD}"/>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6"/>
              <a:stretch>
                <a:fillRect t="-365" b="-365"/>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230368" y="1097280"/>
            <a:ext cx="1737360" cy="1997964"/>
          </a:xfrm>
          <a:prstGeom prst="rect">
            <a:avLst/>
          </a:prstGeom>
        </p:spPr>
      </p:pic>
      <p:sp>
        <p:nvSpPr>
          <p:cNvPr id="3" name="Text 0"/>
          <p:cNvSpPr/>
          <p:nvPr/>
        </p:nvSpPr>
        <p:spPr>
          <a:xfrm>
            <a:off x="0" y="3337560"/>
            <a:ext cx="12191695" cy="914400"/>
          </a:xfrm>
          <a:prstGeom prst="rect">
            <a:avLst/>
          </a:prstGeom>
          <a:noFill/>
          <a:ln/>
        </p:spPr>
        <p:txBody>
          <a:bodyPr wrap="square" rtlCol="0" anchor="ctr"/>
          <a:lstStyle/>
          <a:p>
            <a:pPr marL="0" indent="0" algn="ctr">
              <a:buNone/>
            </a:pPr>
            <a:r>
              <a:rPr lang="en-US" sz="5200" b="1" dirty="0">
                <a:solidFill>
                  <a:srgbClr val="16294A"/>
                </a:solidFill>
                <a:latin typeface="Bookman Old Style" pitchFamily="34" charset="0"/>
                <a:ea typeface="Bookman Old Style" pitchFamily="34" charset="-122"/>
                <a:cs typeface="Bookman Old Style" pitchFamily="34" charset="-120"/>
              </a:rPr>
              <a:t>Thank You</a:t>
            </a:r>
            <a:endParaRPr lang="en-US" sz="5200" dirty="0"/>
          </a:p>
        </p:txBody>
      </p:sp>
      <p:sp>
        <p:nvSpPr>
          <p:cNvPr id="4" name="Text 1"/>
          <p:cNvSpPr/>
          <p:nvPr/>
        </p:nvSpPr>
        <p:spPr>
          <a:xfrm>
            <a:off x="0" y="4297680"/>
            <a:ext cx="12191695" cy="365760"/>
          </a:xfrm>
          <a:prstGeom prst="rect">
            <a:avLst/>
          </a:prstGeom>
          <a:noFill/>
          <a:ln/>
        </p:spPr>
        <p:txBody>
          <a:bodyPr wrap="square" rtlCol="0" anchor="ctr"/>
          <a:lstStyle/>
          <a:p>
            <a:pPr marL="0" indent="0" algn="ctr">
              <a:buNone/>
            </a:pPr>
            <a:r>
              <a:rPr lang="en-US" sz="1400" dirty="0">
                <a:solidFill>
                  <a:srgbClr val="1D6FE6"/>
                </a:solidFill>
                <a:latin typeface="Calibri" pitchFamily="34" charset="0"/>
                <a:ea typeface="Calibri" pitchFamily="34" charset="-122"/>
                <a:cs typeface="Calibri" pitchFamily="34" charset="-120"/>
              </a:rPr>
              <a:t>Cyber Threat Analytics Platform with Incident Visualization System</a:t>
            </a:r>
            <a:endParaRPr lang="en-US" sz="1400" dirty="0"/>
          </a:p>
        </p:txBody>
      </p:sp>
      <p:sp>
        <p:nvSpPr>
          <p:cNvPr id="5" name="Text 2"/>
          <p:cNvSpPr/>
          <p:nvPr/>
        </p:nvSpPr>
        <p:spPr>
          <a:xfrm>
            <a:off x="0" y="4754880"/>
            <a:ext cx="12191695" cy="365760"/>
          </a:xfrm>
          <a:prstGeom prst="rect">
            <a:avLst/>
          </a:prstGeom>
          <a:noFill/>
          <a:ln/>
        </p:spPr>
        <p:txBody>
          <a:bodyPr wrap="square" rtlCol="0" anchor="ctr"/>
          <a:lstStyle/>
          <a:p>
            <a:pPr marL="0" indent="0" algn="ctr">
              <a:buNone/>
            </a:pPr>
            <a:r>
              <a:rPr lang="en-US" sz="1300" b="1" dirty="0">
                <a:solidFill>
                  <a:srgbClr val="16294A"/>
                </a:solidFill>
                <a:latin typeface="Calibri" pitchFamily="34" charset="0"/>
                <a:ea typeface="Calibri" pitchFamily="34" charset="-122"/>
                <a:cs typeface="Calibri" pitchFamily="34" charset="-120"/>
              </a:rPr>
              <a:t>Siddhant Singh   ·   Priyam Sinha   ·   Ponnuru Nithiin</a:t>
            </a:r>
            <a:endParaRPr lang="en-US" sz="1300" dirty="0"/>
          </a:p>
        </p:txBody>
      </p:sp>
      <p:sp>
        <p:nvSpPr>
          <p:cNvPr id="6" name="Text 3"/>
          <p:cNvSpPr/>
          <p:nvPr/>
        </p:nvSpPr>
        <p:spPr>
          <a:xfrm>
            <a:off x="0" y="5166360"/>
            <a:ext cx="12191695" cy="365760"/>
          </a:xfrm>
          <a:prstGeom prst="rect">
            <a:avLst/>
          </a:prstGeom>
          <a:noFill/>
          <a:ln/>
        </p:spPr>
        <p:txBody>
          <a:bodyPr wrap="square" rtlCol="0" anchor="ctr"/>
          <a:lstStyle/>
          <a:p>
            <a:pPr marL="0" indent="0" algn="ctr">
              <a:buNone/>
            </a:pPr>
            <a:r>
              <a:rPr lang="en-US" sz="1200" dirty="0">
                <a:solidFill>
                  <a:srgbClr val="51617C"/>
                </a:solidFill>
                <a:latin typeface="Calibri" pitchFamily="34" charset="0"/>
                <a:ea typeface="Calibri" pitchFamily="34" charset="-122"/>
                <a:cs typeface="Calibri" pitchFamily="34" charset="-120"/>
              </a:rPr>
              <a:t>Infosys Springboard Virtual Internship 7.0   ·   Mentor: Ms. Nithyasri S J</a:t>
            </a:r>
            <a:endParaRPr lang="en-US" sz="1200" dirty="0"/>
          </a:p>
        </p:txBody>
      </p:sp>
      <p:grpSp>
        <p:nvGrpSpPr>
          <p:cNvPr id="7" name="Group 18">
            <a:extLst>
              <a:ext uri="{FF2B5EF4-FFF2-40B4-BE49-F238E27FC236}">
                <a16:creationId xmlns:a16="http://schemas.microsoft.com/office/drawing/2014/main" id="{0047F676-6143-FDED-75BC-8E0AFAE934C9}"/>
              </a:ext>
            </a:extLst>
          </p:cNvPr>
          <p:cNvGrpSpPr/>
          <p:nvPr/>
        </p:nvGrpSpPr>
        <p:grpSpPr>
          <a:xfrm>
            <a:off x="8965785" y="222677"/>
            <a:ext cx="2604706" cy="430770"/>
            <a:chOff x="0" y="0"/>
            <a:chExt cx="3584702" cy="861695"/>
          </a:xfrm>
        </p:grpSpPr>
        <p:sp>
          <p:nvSpPr>
            <p:cNvPr id="8" name="Freeform 19">
              <a:extLst>
                <a:ext uri="{FF2B5EF4-FFF2-40B4-BE49-F238E27FC236}">
                  <a16:creationId xmlns:a16="http://schemas.microsoft.com/office/drawing/2014/main" id="{5A453FAB-D711-9A7C-5EEF-1C6F37DADDC1}"/>
                </a:ext>
              </a:extLst>
            </p:cNvPr>
            <p:cNvSpPr/>
            <p:nvPr/>
          </p:nvSpPr>
          <p:spPr>
            <a:xfrm>
              <a:off x="0" y="0"/>
              <a:ext cx="3584702" cy="861695"/>
            </a:xfrm>
            <a:custGeom>
              <a:avLst/>
              <a:gdLst/>
              <a:ahLst/>
              <a:cxnLst/>
              <a:rect l="l" t="t" r="r" b="b"/>
              <a:pathLst>
                <a:path w="3584702" h="861695">
                  <a:moveTo>
                    <a:pt x="0" y="0"/>
                  </a:moveTo>
                  <a:lnTo>
                    <a:pt x="3584702" y="0"/>
                  </a:lnTo>
                  <a:lnTo>
                    <a:pt x="3584702" y="861695"/>
                  </a:lnTo>
                  <a:lnTo>
                    <a:pt x="0" y="861695"/>
                  </a:lnTo>
                  <a:lnTo>
                    <a:pt x="0" y="0"/>
                  </a:lnTo>
                  <a:close/>
                </a:path>
              </a:pathLst>
            </a:custGeom>
            <a:blipFill>
              <a:blip r:embed="rId5"/>
              <a:stretch>
                <a:fillRect t="-365" b="-36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3025</Words>
  <Application>Microsoft Office PowerPoint</Application>
  <PresentationFormat>Widescreen</PresentationFormat>
  <Paragraphs>203</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siddhant singh</cp:lastModifiedBy>
  <cp:revision>15</cp:revision>
  <dcterms:created xsi:type="dcterms:W3CDTF">2026-08-17T06:53:35Z</dcterms:created>
  <dcterms:modified xsi:type="dcterms:W3CDTF">2026-08-25T05:11:54Z</dcterms:modified>
</cp:coreProperties>
</file>