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98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1234440"/>
            <a:ext cx="3794760" cy="4343400"/>
          </a:xfrm>
          <a:prstGeom prst="roundRect">
            <a:avLst>
              <a:gd name="adj" fmla="val 3373"/>
            </a:avLst>
          </a:prstGeom>
          <a:solidFill>
            <a:srgbClr val="F3F8FF"/>
          </a:solidFill>
          <a:ln w="12700">
            <a:solidFill>
              <a:srgbClr val="CFE0F5"/>
            </a:solidFill>
            <a:prstDash val="solid"/>
          </a:ln>
          <a:effectLst>
            <a:outerShdw blurRad="127000" dist="38100" dir="5400000" algn="bl" rotWithShape="0">
              <a:srgbClr val="9FB8D8">
                <a:alpha val="4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572768"/>
            <a:ext cx="2286000" cy="2628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3568" y="46634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INTELLIGENCE FRAMEWORK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8686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1026688"/>
            <a:ext cx="342351" cy="342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9326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·  VIRTUAL INTERNSHIP 7.0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178308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Cyber Threat Analytics</a:t>
            </a:r>
            <a:endParaRPr lang="en-US" sz="3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Platform &amp; Incident</a:t>
            </a:r>
            <a:endParaRPr lang="en-US" sz="3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Visualization System</a:t>
            </a:r>
            <a:endParaRPr lang="en-US" sz="3500" dirty="0"/>
          </a:p>
        </p:txBody>
      </p:sp>
      <p:sp>
        <p:nvSpPr>
          <p:cNvPr id="9" name="Text 5"/>
          <p:cNvSpPr/>
          <p:nvPr/>
        </p:nvSpPr>
        <p:spPr>
          <a:xfrm>
            <a:off x="548640" y="39776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team-built Power BI framework that turns 40,000 raw cybersecurity events into seven interactive dashboards of clear, actionable threat intelligence.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470916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E7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4937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Singh</a:t>
            </a: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5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 Sinha</a:t>
            </a: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5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Ponnuru Nithiin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" y="53492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2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Ms. Nithyasri S J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589788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13232" y="589788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2880360" y="589788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044952" y="589788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5212080" y="589788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376672" y="589788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 </a:t>
            </a: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900" dirty="0"/>
          </a:p>
        </p:txBody>
      </p:sp>
      <p:grpSp>
        <p:nvGrpSpPr>
          <p:cNvPr id="22" name="Group 18">
            <a:extLst>
              <a:ext uri="{FF2B5EF4-FFF2-40B4-BE49-F238E27FC236}">
                <a16:creationId xmlns:a16="http://schemas.microsoft.com/office/drawing/2014/main" id="{39946B17-29D7-B4F8-97C2-F1738CBB63DB}"/>
              </a:ext>
            </a:extLst>
          </p:cNvPr>
          <p:cNvGrpSpPr/>
          <p:nvPr/>
        </p:nvGrpSpPr>
        <p:grpSpPr>
          <a:xfrm>
            <a:off x="8536577" y="209310"/>
            <a:ext cx="2604706" cy="430770"/>
            <a:chOff x="0" y="0"/>
            <a:chExt cx="3584702" cy="861695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7E412BBF-DBD4-0EB1-DF45-57D49CE775BE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OBJECTIVE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Goals and modules of the framework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98932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94218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1051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487168"/>
            <a:ext cx="529437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40,000 raw cybersecurity incidents into one Power BI analytical framework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quantify attack patterns, severity levels and anomaly behaviour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network traffic, user behaviour and response effectiveness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complex log data as clear KPIs for technical and non-technical audiences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1554480"/>
            <a:ext cx="487375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0" y="181051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554" y="194218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26680" y="1810512"/>
            <a:ext cx="3685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MODULES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14032" y="2487168"/>
            <a:ext cx="41788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 algn="l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Attacks Analysis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 &amp; Anomaly Analysis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Analysis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Behaviour Analytics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Profile, Severity &amp; Alert Response</a:t>
            </a:r>
            <a:endParaRPr lang="en-US" sz="1300" dirty="0"/>
          </a:p>
        </p:txBody>
      </p:sp>
      <p:grpSp>
        <p:nvGrpSpPr>
          <p:cNvPr id="15" name="Group 18">
            <a:extLst>
              <a:ext uri="{FF2B5EF4-FFF2-40B4-BE49-F238E27FC236}">
                <a16:creationId xmlns:a16="http://schemas.microsoft.com/office/drawing/2014/main" id="{D765860D-D010-7A1B-B9CD-28B57E2243ED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B09FCE33-B29D-5EFC-7797-A0A61F46248A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0" b="1" i="0" u="none" strike="noStrike" kern="1200" cap="none" spc="0" normalizeH="0" baseline="0" noProof="0" dirty="0">
                <a:ln>
                  <a:noFill/>
                </a:ln>
                <a:solidFill>
                  <a:srgbClr val="D8E8FB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kumimoji="0" lang="en-US" sz="1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1D6F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WORKFLOW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294A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eight-stage Power BI pipeline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5528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04888" y="2167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2CAA4B8-24C6-BA51-7412-502BDB002E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667" b="3401"/>
          <a:stretch>
            <a:fillRect/>
          </a:stretch>
        </p:blipFill>
        <p:spPr>
          <a:xfrm>
            <a:off x="4025445" y="1389887"/>
            <a:ext cx="3616326" cy="5304261"/>
          </a:xfrm>
          <a:prstGeom prst="rect">
            <a:avLst/>
          </a:prstGeom>
        </p:spPr>
      </p:pic>
      <p:grpSp>
        <p:nvGrpSpPr>
          <p:cNvPr id="5" name="Group 18">
            <a:extLst>
              <a:ext uri="{FF2B5EF4-FFF2-40B4-BE49-F238E27FC236}">
                <a16:creationId xmlns:a16="http://schemas.microsoft.com/office/drawing/2014/main" id="{293BE149-28EA-B0AB-1B9C-813A04A042AD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6" name="Freeform 19">
              <a:extLst>
                <a:ext uri="{FF2B5EF4-FFF2-40B4-BE49-F238E27FC236}">
                  <a16:creationId xmlns:a16="http://schemas.microsoft.com/office/drawing/2014/main" id="{D94F7C17-1DF3-8F2F-BBF1-2693C7682100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PROJECT EXECUTION MILESTONES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project was delivered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33472" cy="4480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92808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1D6FE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9280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Acquisition &amp; Cleaning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0848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the 40,000-record Kaggle dataset and shaped it through 19 Power Query steps — types, nulls, date/time split and category standardisation.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633472" cy="4480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5032" y="1892808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1D6FE6"/>
          </a:solidFill>
          <a:ln/>
        </p:spPr>
      </p:sp>
      <p:sp>
        <p:nvSpPr>
          <p:cNvPr id="13" name="Text 11"/>
          <p:cNvSpPr/>
          <p:nvPr/>
        </p:nvSpPr>
        <p:spPr>
          <a:xfrm>
            <a:off x="3685032" y="189280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03320" y="262432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2862072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3657600"/>
            <a:ext cx="20848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marked a Date table, established relationships and authored core DAX measures and the Anomaly Score Band logic.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600200"/>
            <a:ext cx="2633472" cy="4480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5392" y="1892808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1D6FE6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189280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262432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2862072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3657600"/>
            <a:ext cx="20848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seven themed dashboards with slicers, cross-filtering, decomposition tree, ribbon, treemap and Sankey visuals.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89720" y="1600200"/>
            <a:ext cx="2633472" cy="44805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45752" y="1892808"/>
            <a:ext cx="960120" cy="566928"/>
          </a:xfrm>
          <a:prstGeom prst="roundRect">
            <a:avLst>
              <a:gd name="adj" fmla="val 14516"/>
            </a:avLst>
          </a:prstGeom>
          <a:solidFill>
            <a:srgbClr val="1D6FE6"/>
          </a:solidFill>
          <a:ln/>
        </p:spPr>
      </p:sp>
      <p:sp>
        <p:nvSpPr>
          <p:cNvPr id="25" name="Text 23"/>
          <p:cNvSpPr/>
          <p:nvPr/>
        </p:nvSpPr>
        <p:spPr>
          <a:xfrm>
            <a:off x="9445752" y="189280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64040" y="262432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64040" y="2862072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Review &amp; Optimization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64040" y="3657600"/>
            <a:ext cx="20848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figures across visuals, optimised model performance, and consolidated the report, PPT and GitHub repository.</a:t>
            </a:r>
            <a:endParaRPr lang="en-US" sz="1200" dirty="0"/>
          </a:p>
        </p:txBody>
      </p:sp>
      <p:grpSp>
        <p:nvGrpSpPr>
          <p:cNvPr id="29" name="Group 18">
            <a:extLst>
              <a:ext uri="{FF2B5EF4-FFF2-40B4-BE49-F238E27FC236}">
                <a16:creationId xmlns:a16="http://schemas.microsoft.com/office/drawing/2014/main" id="{B0DA84C5-42D2-F4BD-A2B0-BEB1367EB6B3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099718DD-4C1A-F8F0-DE0B-709D80BE213D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CHALLENGES &amp; RESOLUTIONS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Obstacles met and how the team solved them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5910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813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4813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5910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30568" y="14813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RESOLUTIONS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08483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68096" y="230428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" y="2304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98448" y="21945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 40,000-row model responsive while every visual stayed interactive.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72200" y="208483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91656" y="230428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35915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22008" y="219456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efficient DAX and disabled unnecessary auto date/time tables to keep the model fast.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54787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76732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6"/>
          <p:cNvSpPr/>
          <p:nvPr/>
        </p:nvSpPr>
        <p:spPr>
          <a:xfrm>
            <a:off x="768096" y="3767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298448" y="365760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derived metrics (% High Severity, Block Rate %, Anomaly Bands) that held under every filter.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72200" y="354787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91656" y="376732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82219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22008" y="365760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tested and validated each measure across all slicer interactions and filter contexts.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501091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68096" y="523036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3"/>
          <p:cNvSpPr/>
          <p:nvPr/>
        </p:nvSpPr>
        <p:spPr>
          <a:xfrm>
            <a:off x="768096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1298448" y="51206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one visual language across seven dashboards built by different team members.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172200" y="5010912"/>
            <a:ext cx="52578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391656" y="5230368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28523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922008" y="5120640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colours &amp; severity encoding and merged work cleanly via Microsoft Teams and GitHub.</a:t>
            </a:r>
            <a:endParaRPr lang="en-US" sz="1200" dirty="0"/>
          </a:p>
        </p:txBody>
      </p:sp>
      <p:grpSp>
        <p:nvGrpSpPr>
          <p:cNvPr id="35" name="Group 18">
            <a:extLst>
              <a:ext uri="{FF2B5EF4-FFF2-40B4-BE49-F238E27FC236}">
                <a16:creationId xmlns:a16="http://schemas.microsoft.com/office/drawing/2014/main" id="{3350ACB2-8EEB-E71C-6DD7-DF697B601A04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087B631E-0061-5493-FD7E-2FBF5FE4B283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FUTURE ENHANCEMENTS &amp; KEY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framework goes next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9893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6479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89646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6479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441448"/>
            <a:ext cx="5294376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near-real-time data via scheduled refresh or DirectQuery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predictive analytics — anomaly forecasting &amp; risk scoring (Python / R / Azure ML)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for role-based dashboards + automated alerting via Power Automate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to raw incidents, a true India choropleth, and publish to the Power BI Service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0" y="1527048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1965960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22592" y="2075688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33.6%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732520" y="2075688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marginally leads a broad, multi-vector threat mix (Malware 33.3%, Intrusion 33.2%).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66560" y="3410712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22592" y="3520440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~45%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732520" y="3520440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is the most-targeted OS; malware indicators appear in exactly 50% of events.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66560" y="4855464"/>
            <a:ext cx="48737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22592" y="4965192"/>
            <a:ext cx="1828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D6FE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33.8%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732520" y="4965192"/>
            <a:ext cx="2679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a third of attacks are actively blocked — a clear, quantified response gap.</a:t>
            </a:r>
            <a:endParaRPr lang="en-US" sz="1150" dirty="0"/>
          </a:p>
        </p:txBody>
      </p:sp>
      <p:grpSp>
        <p:nvGrpSpPr>
          <p:cNvPr id="20" name="Group 18">
            <a:extLst>
              <a:ext uri="{FF2B5EF4-FFF2-40B4-BE49-F238E27FC236}">
                <a16:creationId xmlns:a16="http://schemas.microsoft.com/office/drawing/2014/main" id="{13DA92BE-A690-0241-A7CD-F585B68474B9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9EFC7F43-A508-82DE-EE52-9BDE2AD22768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team delivered and gained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3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8690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481328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 Threat Analytics Platform successfully transformed 40,000 raw cybersecurity incidents </a:t>
            </a:r>
            <a:r>
              <a:rPr lang="en-US" sz="14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seven interactive Power BI dashboards delivering clear, actionable threat intelligence.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04495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317662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04495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96112" y="3721608"/>
            <a:ext cx="47457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Power Query ETL &amp; data modeling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measures, calculated columns &amp; KPI logic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visuals &amp; report interactivity (GitHub version control)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09360" y="278892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0" y="304495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354" y="317662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69480" y="304495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656832" y="3721608"/>
            <a:ext cx="47457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 algn="l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300" dirty="0"/>
          </a:p>
          <a:p>
            <a:pPr marL="190500" indent="-190500" algn="l">
              <a:lnSpc>
                <a:spcPct val="103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CA69D0-51E9-3618-9ED3-38B504E0FE3C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3DBA5EC-C637-07D8-5912-82FF16A93C05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52560" y="-32004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D8E8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ACKNOWLEDGEMENTS &amp; 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With gratitude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3550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ACKNOWLEDGEMENTS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441448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like to express our heartfelt gratitude to: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3054096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916936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Team  </a:t>
            </a: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 a structured, industry-aligned internship platform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3922776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785616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Nithyasri S J (Mentor)  </a:t>
            </a: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 consistent guidance, feedback and encouragement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4791456"/>
            <a:ext cx="109728" cy="109728"/>
          </a:xfrm>
          <a:prstGeom prst="ellipse">
            <a:avLst/>
          </a:prstGeom>
          <a:solidFill>
            <a:srgbClr val="1D6FE6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654296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 </a:t>
            </a: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Siddhant Singh, Priyam Sinha &amp; Ponnuru Nithiin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086600" y="1508760"/>
            <a:ext cx="4553712" cy="4709160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CFE0F5"/>
            </a:solidFill>
            <a:prstDash val="solid"/>
          </a:ln>
          <a:effectLst>
            <a:outerShdw blurRad="114300" dist="38100" dir="5400000" algn="bl" rotWithShape="0">
              <a:srgbClr val="9FB8D8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60920" y="1783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9F2FE"/>
          </a:solidFill>
          <a:ln w="12700">
            <a:solidFill>
              <a:srgbClr val="1D6FE6">
                <a:alpha val="55000"/>
              </a:srgbClr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594" y="1914754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046720" y="1783080"/>
            <a:ext cx="33649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452360" y="2560320"/>
            <a:ext cx="386791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“Cyber Security Attacks” dataset (40,000 records, 2020–2023)</a:t>
            </a:r>
            <a:endParaRPr lang="en-US" sz="1250" dirty="0"/>
          </a:p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&amp; DAX official documentation and community resources</a:t>
            </a:r>
            <a:endParaRPr lang="en-US" sz="1250" dirty="0"/>
          </a:p>
          <a:p>
            <a:pPr marL="254000" indent="-254000" algn="l">
              <a:lnSpc>
                <a:spcPct val="105000"/>
              </a:lnSpc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learning modules and training materials</a:t>
            </a:r>
            <a:endParaRPr lang="en-US" sz="1250" dirty="0"/>
          </a:p>
        </p:txBody>
      </p:sp>
      <p:grpSp>
        <p:nvGrpSpPr>
          <p:cNvPr id="21" name="Group 18">
            <a:extLst>
              <a:ext uri="{FF2B5EF4-FFF2-40B4-BE49-F238E27FC236}">
                <a16:creationId xmlns:a16="http://schemas.microsoft.com/office/drawing/2014/main" id="{DD860F22-34AD-4436-1234-34FE6D2CFAAF}"/>
              </a:ext>
            </a:extLst>
          </p:cNvPr>
          <p:cNvGrpSpPr/>
          <p:nvPr/>
        </p:nvGrpSpPr>
        <p:grpSpPr>
          <a:xfrm>
            <a:off x="127718" y="92211"/>
            <a:ext cx="1168193" cy="227829"/>
            <a:chOff x="0" y="0"/>
            <a:chExt cx="3584702" cy="861695"/>
          </a:xfrm>
        </p:grpSpPr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31AAF27D-FD5F-79F0-AD4F-589EB9F014CD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097280"/>
            <a:ext cx="1737360" cy="19979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3375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629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D6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Singh   ·   Priyam Sinha   ·   Ponnuru Nithiin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5166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16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   ·   Mentor: Ms. Nithyasri S J</a:t>
            </a:r>
            <a:endParaRPr lang="en-US" sz="1200" dirty="0"/>
          </a:p>
        </p:txBody>
      </p:sp>
      <p:grpSp>
        <p:nvGrpSpPr>
          <p:cNvPr id="7" name="Group 18">
            <a:extLst>
              <a:ext uri="{FF2B5EF4-FFF2-40B4-BE49-F238E27FC236}">
                <a16:creationId xmlns:a16="http://schemas.microsoft.com/office/drawing/2014/main" id="{0047F676-6143-FDED-75BC-8E0AFAE934C9}"/>
              </a:ext>
            </a:extLst>
          </p:cNvPr>
          <p:cNvGrpSpPr/>
          <p:nvPr/>
        </p:nvGrpSpPr>
        <p:grpSpPr>
          <a:xfrm>
            <a:off x="8965785" y="222677"/>
            <a:ext cx="2604706" cy="430770"/>
            <a:chOff x="0" y="0"/>
            <a:chExt cx="3584702" cy="861695"/>
          </a:xfrm>
        </p:grpSpPr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5A453FAB-D711-9A7C-5EEF-1C6F37DADDC1}"/>
                </a:ext>
              </a:extLst>
            </p:cNvPr>
            <p:cNvSpPr/>
            <p:nvPr/>
          </p:nvSpPr>
          <p:spPr>
            <a:xfrm>
              <a:off x="0" y="0"/>
              <a:ext cx="3584702" cy="861695"/>
            </a:xfrm>
            <a:custGeom>
              <a:avLst/>
              <a:gdLst/>
              <a:ahLst/>
              <a:cxnLst/>
              <a:rect l="l" t="t" r="r" b="b"/>
              <a:pathLst>
                <a:path w="3584702" h="861695">
                  <a:moveTo>
                    <a:pt x="0" y="0"/>
                  </a:moveTo>
                  <a:lnTo>
                    <a:pt x="3584702" y="0"/>
                  </a:lnTo>
                  <a:lnTo>
                    <a:pt x="3584702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710</Words>
  <Application>Microsoft Office PowerPoint</Application>
  <PresentationFormat>Widescreen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siddhant singh</cp:lastModifiedBy>
  <cp:revision>2</cp:revision>
  <dcterms:created xsi:type="dcterms:W3CDTF">2026-08-17T06:53:35Z</dcterms:created>
  <dcterms:modified xsi:type="dcterms:W3CDTF">2026-08-17T07:10:38Z</dcterms:modified>
</cp:coreProperties>
</file>