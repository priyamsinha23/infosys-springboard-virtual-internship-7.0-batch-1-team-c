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15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1234440"/>
            <a:ext cx="3794760" cy="4343400"/>
          </a:xfrm>
          <a:prstGeom prst="roundRect">
            <a:avLst>
              <a:gd name="adj" fmla="val 3373"/>
            </a:avLst>
          </a:prstGeom>
          <a:solidFill>
            <a:srgbClr val="F3F8FF"/>
          </a:solidFill>
          <a:ln w="12700">
            <a:solidFill>
              <a:srgbClr val="CFE0F5"/>
            </a:solidFill>
            <a:prstDash val="solid"/>
          </a:ln>
          <a:effectLst>
            <a:outerShdw blurRad="127000" dist="38100" dir="5400000" algn="bl" rotWithShape="0">
              <a:srgbClr val="9FB8D8">
                <a:alpha val="4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572768"/>
            <a:ext cx="2286000" cy="2628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3568" y="4663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INTELLIGENCE FRAMEWORK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1026688"/>
            <a:ext cx="342351" cy="342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9326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·  VIRTUAL INTERNSHIP 7.0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1847088"/>
            <a:ext cx="73152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 Threat Analytics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 &amp; Incident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Visualization System</a:t>
            </a:r>
            <a:endParaRPr lang="en-US" sz="3500" dirty="0"/>
          </a:p>
        </p:txBody>
      </p:sp>
      <p:sp>
        <p:nvSpPr>
          <p:cNvPr id="9" name="Text 5"/>
          <p:cNvSpPr/>
          <p:nvPr/>
        </p:nvSpPr>
        <p:spPr>
          <a:xfrm>
            <a:off x="548640" y="409651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Power BI business-intelligence solution that turns 40,000 raw cybersecurity events into clear, actionable threat intelligence.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2803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000" b="1" kern="0" spc="20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r>
              <a:rPr lang="en-IN" sz="1600" b="1" dirty="0" err="1"/>
              <a:t>Ponnuru</a:t>
            </a:r>
            <a:r>
              <a:rPr lang="en-IN" sz="1600" b="1" dirty="0"/>
              <a:t> </a:t>
            </a:r>
            <a:r>
              <a:rPr lang="en-IN" sz="1600" b="1" smtClean="0"/>
              <a:t>Nithin</a:t>
            </a:r>
            <a:r>
              <a:rPr lang="en-US" sz="17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·  Ms. Nithyasri S J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1323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88036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04495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21208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37667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2000" dirty="0"/>
          </a:p>
        </p:txBody>
      </p:sp>
      <p:grpSp>
        <p:nvGrpSpPr>
          <p:cNvPr id="17" name="Group 18">
            <a:extLst>
              <a:ext uri="{FF2B5EF4-FFF2-40B4-BE49-F238E27FC236}">
                <a16:creationId xmlns:a16="http://schemas.microsoft.com/office/drawing/2014/main" xmlns="" id="{EB87D690-7F52-4C37-A11D-0B0166A4143D}"/>
              </a:ext>
            </a:extLst>
          </p:cNvPr>
          <p:cNvGrpSpPr/>
          <p:nvPr/>
        </p:nvGrpSpPr>
        <p:grpSpPr>
          <a:xfrm>
            <a:off x="10084003" y="92212"/>
            <a:ext cx="1869033" cy="320040"/>
            <a:chOff x="0" y="0"/>
            <a:chExt cx="3584702" cy="861695"/>
          </a:xfrm>
        </p:grpSpPr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xmlns="" id="{1AB35499-C2E5-89B3-729E-951738CCDA9B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framework set out to achieve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36" y="2073128"/>
            <a:ext cx="370881" cy="3708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19472" y="188366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2706624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Consolidate &amp; Model Data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04495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40,000 raw cybersecurity incident records into a single, coherent Power BI analytical framework.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27632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901952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696" y="2073128"/>
            <a:ext cx="370881" cy="3708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43032" y="188366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446520" y="2706624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 &amp; Quantify Threats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46520" y="304495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attack patterns, severity levels and anomaly behaviour across attack types, protocols and geography.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014216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288536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136" y="4459712"/>
            <a:ext cx="370881" cy="37088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19472" y="4270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22960" y="5093208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 Behaviour &amp; Response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2960" y="5431536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network traffic, user/device behaviour and how effectively incidents are blocked, logged or ignored.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172200" y="4014216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46520" y="4288536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696" y="4459712"/>
            <a:ext cx="370881" cy="37088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43032" y="4270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446520" y="5093208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Communicate Intelligence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6446520" y="5431536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complex log data into clear KPIs and visuals for both technical analysts and non-technical audiences.</a:t>
            </a:r>
            <a:endParaRPr lang="en-US" sz="1250" dirty="0"/>
          </a:p>
        </p:txBody>
      </p:sp>
      <p:grpSp>
        <p:nvGrpSpPr>
          <p:cNvPr id="29" name="Group 18">
            <a:extLst>
              <a:ext uri="{FF2B5EF4-FFF2-40B4-BE49-F238E27FC236}">
                <a16:creationId xmlns:a16="http://schemas.microsoft.com/office/drawing/2014/main" xmlns="" id="{50592E1F-BB8E-802F-B42B-F7795514C939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xmlns="" id="{0D2F6C41-5488-035D-C500-DC829B25B7B7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DESCRIPTION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interconnected dashboards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 Threat Incident Analytics &amp; Security Visualization Framework is built entirely in Microsoft Power BI on a 40,000-record Kaggle dataset spanning Jan 2020–Oct 2023 across 28 Indian states. </a:t>
            </a:r>
            <a:r>
              <a:rPr lang="en-US" sz="13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transforms raw log data into seven themed, drill-able dashboards that give a 360° view of the threat landscape.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47" y="2769535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3040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 Security Attacks Analysis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of attack volume, type, action and geographic spread.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919" y="276953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9512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239512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Threat Detection &amp; Anomaly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62856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Anomaly-score bands, gauge and interactive slicer-driven investigation.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01584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391" y="2769535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15984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015984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Network Traffic Analysis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339328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packet-type and severity behaviour across the network.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86384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447" y="4616623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463040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Behaviour Analytics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86384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OS/browser mix, user &amp; device metrics and top high-anomaly source IPs.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25112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62856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919" y="4616623"/>
            <a:ext cx="294803" cy="29480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39512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239512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Threat Profile &amp; Severity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62856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tree, signatures and severity mix by network segment.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101584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339328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5391" y="4616623"/>
            <a:ext cx="294803" cy="29480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15984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9015984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Monitoring &amp; Response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339328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IDS coverage, block-rate trends and response effectiveness.</a:t>
            </a:r>
            <a:endParaRPr lang="en-US" sz="1100" dirty="0"/>
          </a:p>
        </p:txBody>
      </p:sp>
      <p:grpSp>
        <p:nvGrpSpPr>
          <p:cNvPr id="42" name="Group 18">
            <a:extLst>
              <a:ext uri="{FF2B5EF4-FFF2-40B4-BE49-F238E27FC236}">
                <a16:creationId xmlns:a16="http://schemas.microsoft.com/office/drawing/2014/main" xmlns="" id="{7B102E00-855B-A1E3-914A-C2E59A2407C2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43" name="Freeform 19">
              <a:extLst>
                <a:ext uri="{FF2B5EF4-FFF2-40B4-BE49-F238E27FC236}">
                  <a16:creationId xmlns:a16="http://schemas.microsoft.com/office/drawing/2014/main" xmlns="" id="{F7797FC5-88F5-D82F-D4D0-C3288B5FD9D6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TOP VISUALIZATIONS / COMPONENTS USED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visual toolkit behind the framework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4813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TYPE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26280" y="14813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/  WHAT IT SHOWS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9019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0116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828800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KPI Cards &amp; Gauges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26280" y="1828800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- Total Attacks (40K), High Severity, Block Rate % and Malware Detected.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00884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" y="257403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68376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500884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Donut &amp; Pie Charts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26280" y="2500884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of attack types, action taken and anomaly-score bands at a glance.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172968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" y="32461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35584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172968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Decomposition Tree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26280" y="3172968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drill from total attacks → attack type → severity level.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845052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39182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02793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845052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Geographic Map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26280" y="3845052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volume and type plotted across 28 Indian states and cities.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517136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58368" y="45902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470001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517136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Ribbon &amp; Waterfall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526280" y="4517136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shifts of attack types over time and block-rate contribution by class.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48640" y="518922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58368" y="52623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5372100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371600" y="5189220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Sankey Diagram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4526280" y="5189220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every attack type into its Blocked / Ignored / Logged outcome.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48640" y="5861304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58368" y="59344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" y="6044184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371600" y="5861304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Gauge &amp; Key Influencers</a:t>
            </a:r>
            <a:endParaRPr lang="en-US" sz="1350" dirty="0"/>
          </a:p>
        </p:txBody>
      </p:sp>
      <p:sp>
        <p:nvSpPr>
          <p:cNvPr id="41" name="Text 32"/>
          <p:cNvSpPr/>
          <p:nvPr/>
        </p:nvSpPr>
        <p:spPr>
          <a:xfrm>
            <a:off x="4526280" y="5861304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anomaly score and the factors that drive a 'Blocked' outcome.</a:t>
            </a:r>
            <a:endParaRPr lang="en-US" sz="1150" dirty="0"/>
          </a:p>
        </p:txBody>
      </p:sp>
      <p:grpSp>
        <p:nvGrpSpPr>
          <p:cNvPr id="42" name="Group 18">
            <a:extLst>
              <a:ext uri="{FF2B5EF4-FFF2-40B4-BE49-F238E27FC236}">
                <a16:creationId xmlns:a16="http://schemas.microsoft.com/office/drawing/2014/main" xmlns="" id="{09F4B6F9-48E9-1D92-CA51-5F4B3448AFBE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43" name="Freeform 19">
              <a:extLst>
                <a:ext uri="{FF2B5EF4-FFF2-40B4-BE49-F238E27FC236}">
                  <a16:creationId xmlns:a16="http://schemas.microsoft.com/office/drawing/2014/main" xmlns="" id="{57C0D5AA-42D5-CC8F-F07E-CA77B23CC4A6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PROJECT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eight-stage Power BI pipeline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9552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0488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xmlns="" id="{B2CAA4B8-24C6-BA51-7412-502BDB002E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667" b="3401"/>
          <a:stretch>
            <a:fillRect/>
          </a:stretch>
        </p:blipFill>
        <p:spPr>
          <a:xfrm>
            <a:off x="4025445" y="1389887"/>
            <a:ext cx="3616326" cy="5304261"/>
          </a:xfrm>
          <a:prstGeom prst="rect">
            <a:avLst/>
          </a:prstGeom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xmlns="" id="{C6121101-3C0A-27DF-2FA8-C29E4064E1C6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xmlns="" id="{F19F29AE-D906-A962-5C76-B635001E6D0E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PROJECT EXECUTION MILESTONES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structured milestones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executed through 4 structured milestones to ensure systematic progress and accuracy.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EAF3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4825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2179930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01952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SOURCE   </a:t>
            </a:r>
            <a:r>
              <a:rPr lang="en-US" sz="12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“Cyber Security Attacks”   ·   40,000 records   ·   Jan 2020 – Oct 2023   ·   28 Indian states   ·   25 features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467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Foundation &amp; Understanding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467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acquisition, cleaning through 19 Power Query steps, data modeling and base KPIs.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2900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8503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17" name="Text 14"/>
          <p:cNvSpPr/>
          <p:nvPr/>
        </p:nvSpPr>
        <p:spPr>
          <a:xfrm>
            <a:off x="368503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68503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Dashboards &amp; Behaviour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68503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Attack, network-traffic, anomaly and user-behaviour dashboards with KPI cards.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6539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22" name="Text 19"/>
          <p:cNvSpPr/>
          <p:nvPr/>
        </p:nvSpPr>
        <p:spPr>
          <a:xfrm>
            <a:off x="656539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56539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Advanced Threat Profiling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6539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tree, severity profiling, insight synthesis and documentation.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18972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44575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27" name="Text 24"/>
          <p:cNvSpPr/>
          <p:nvPr/>
        </p:nvSpPr>
        <p:spPr>
          <a:xfrm>
            <a:off x="944575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44575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Monitoring &amp; Response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44575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 monitoring plus the attack-trends &amp; response-effectiveness dashboards.</a:t>
            </a:r>
            <a:endParaRPr lang="en-US" sz="1150" dirty="0"/>
          </a:p>
        </p:txBody>
      </p:sp>
      <p:grpSp>
        <p:nvGrpSpPr>
          <p:cNvPr id="30" name="Group 18">
            <a:extLst>
              <a:ext uri="{FF2B5EF4-FFF2-40B4-BE49-F238E27FC236}">
                <a16:creationId xmlns:a16="http://schemas.microsoft.com/office/drawing/2014/main" xmlns="" id="{0952FADF-B800-3FB0-A1B1-87389EC70BB3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xmlns="" id="{6090C595-1055-2C82-D743-4F67170963AC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CHALLENGES FACED &amp; RESOLUTIONS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Obstacles met and how they were solved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910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81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5910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0568" y="1481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RESOLUTIONS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08483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8096" y="230428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98448" y="21945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40,000-row model responsive while every visual stayed interactive.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2200" y="208483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91656" y="230428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3591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22008" y="21945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efficient DAX and disabled unnecessary auto date/time tables to keep the model fast.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54787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76732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6"/>
          <p:cNvSpPr/>
          <p:nvPr/>
        </p:nvSpPr>
        <p:spPr>
          <a:xfrm>
            <a:off x="768096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298448" y="3657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accurate derived metrics (% High Severity, Block Rate %, Anomaly Score Bands) that stayed correct under every filter.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354787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91656" y="376732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82219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2008" y="3657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tested and validated each measure across all slicer interactions and filter contexts.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01091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8096" y="52303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3"/>
          <p:cNvSpPr/>
          <p:nvPr/>
        </p:nvSpPr>
        <p:spPr>
          <a:xfrm>
            <a:off x="768096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298448" y="51206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a near-uniform dataset and keeping one visual language across seven dashboards built by different members.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172200" y="501091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391656" y="523036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28523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22008" y="51206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figures across visuals and standardised colours &amp; severity encoding, coordinating via Teams and GitHub.</a:t>
            </a:r>
            <a:endParaRPr lang="en-US" sz="1200" dirty="0"/>
          </a:p>
        </p:txBody>
      </p:sp>
      <p:grpSp>
        <p:nvGrpSpPr>
          <p:cNvPr id="35" name="Group 18">
            <a:extLst>
              <a:ext uri="{FF2B5EF4-FFF2-40B4-BE49-F238E27FC236}">
                <a16:creationId xmlns:a16="http://schemas.microsoft.com/office/drawing/2014/main" xmlns="" id="{1D98B00E-65AC-6A6F-8F5E-81411D5B5756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xmlns="" id="{55127B98-2FEE-0143-F1F9-F7B6F197BF27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LEARNINGS &amp; SKILLS ACQUIRED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internship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6479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89646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647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Power BI - Power Query ETL, modeling &amp; publishing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columns (CALCULATE, DIVIDE, COUNTROWS, banding)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visuals - decomposition tree, ribbon, treemap, gauge, Sankey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tables, relationships &amp; version control with GitHub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76479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4" y="189646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7647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246888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analytical findings clearly to non-technical audiences</a:t>
            </a:r>
            <a:endParaRPr lang="en-US" sz="125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collaboration, ownership &amp; accountability via Microsoft Teams</a:t>
            </a:r>
            <a:endParaRPr lang="en-US" sz="125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and delivery against milestone deadlines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52303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023" y="5366431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89204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EXPERIENCE
</a:t>
            </a:r>
            <a:r>
              <a:rPr lang="en-US" sz="13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 Power BI, DAX and analytical storytelling — reinforcing the real-world value of data-driven, evidence-based decision-making.</a:t>
            </a:r>
            <a:endParaRPr lang="en-US" sz="10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A0D558D1-36D2-7D24-E08B-9FFBC8740B00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xmlns="" id="{CCEC6D07-3632-FF46-BD06-5FA6CA3E3031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FUTURE ENHANCEMENTS &amp; KEY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framework goes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893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5349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near-real-time data via scheduled refresh or DirectQuery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analytics - anomaly forecasting &amp; risk scoring (Python / R / Azure ML)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for role-based dashboards + automated alerting via Power Automate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to raw incidents, a true India choropleth, and publish to the Power BI Service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0" y="1527048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1965960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22592" y="2075688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33.6%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732520" y="2075688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marginally leads a broad, multi-vector threat mix (Malware 33.3%, Intrusion 33.2%).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66560" y="3410712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22592" y="3520440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~45%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732520" y="3520440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is the most-targeted OS; malware indicators appear in exactly 50% of events.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66560" y="4855464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22592" y="4965192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33.8%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732520" y="4965192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a third of attacks are actively blocked — a clear, quantified response gap.</a:t>
            </a:r>
            <a:endParaRPr lang="en-US" sz="1150" dirty="0"/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xmlns="" id="{97835448-8758-8FF5-3988-1D9E00C6154E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xmlns="" id="{41476127-8E1F-81DB-8ACB-7766B5014D05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events to intelligence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Cyber Threat Analytics Platform successfully transformed 40,000 raw cybersecurity incidents into seven interactive Power BI dashboards</a:t>
            </a:r>
            <a:r>
              <a:rPr lang="en-US" sz="1900" dirty="0">
                <a:solidFill>
                  <a:srgbClr val="51617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— delivering a complete, drill-able view of the threat landscape for technical and non-technical audiences alike.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3239536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Impact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 Power BI, DAX, data modeling and analytical storytelling across a full BI pipeline.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8536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864" y="323953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Practical Experience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62856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business intelligence applied to security monitoring, reporting and executive decision-making.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28432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760" y="3239536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02752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Overall Outcome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02752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a clear opportunity to strengthen response (only ~1/3 blocked) and a strong base for future work.</a:t>
            </a:r>
            <a:endParaRPr lang="en-US" sz="1250" dirty="0"/>
          </a:p>
        </p:txBody>
      </p:sp>
      <p:grpSp>
        <p:nvGrpSpPr>
          <p:cNvPr id="21" name="Group 18">
            <a:extLst>
              <a:ext uri="{FF2B5EF4-FFF2-40B4-BE49-F238E27FC236}">
                <a16:creationId xmlns:a16="http://schemas.microsoft.com/office/drawing/2014/main" xmlns="" id="{13633F44-D353-98EC-CE9A-8FAB0C3CAB8A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xmlns="" id="{54AD58F1-8210-0075-BD02-728CEEC03A2D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ACKNOWLEDGEMENTS &amp; 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With gratitude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3550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41448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express my heartfelt gratitude to: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2962656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82549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Team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structured, industry-aligned internship platform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712464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57530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Nithyasri S J (Mentor)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consistent guidance, feedback and encouragement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462272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32511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Priyam Sinha &amp; Ponnuru Nithiin, for strong collaboration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5212080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507492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community  -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resources used during development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86600" y="1508760"/>
            <a:ext cx="4553712" cy="4709160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6092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594" y="191475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46720" y="1783080"/>
            <a:ext cx="3364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452360" y="2560320"/>
            <a:ext cx="3867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- “Cyber Security Attacks” dataset (40,000 records, 2020 -2023)</a:t>
            </a:r>
            <a:endParaRPr lang="en-US" sz="1250" dirty="0"/>
          </a:p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&amp; DAX official documentation and community resources</a:t>
            </a:r>
            <a:endParaRPr lang="en-US" sz="1250" dirty="0"/>
          </a:p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learning modules and milestone framework</a:t>
            </a:r>
            <a:endParaRPr lang="en-US" sz="1250" dirty="0"/>
          </a:p>
        </p:txBody>
      </p:sp>
      <p:grpSp>
        <p:nvGrpSpPr>
          <p:cNvPr id="23" name="Group 18">
            <a:extLst>
              <a:ext uri="{FF2B5EF4-FFF2-40B4-BE49-F238E27FC236}">
                <a16:creationId xmlns:a16="http://schemas.microsoft.com/office/drawing/2014/main" xmlns="" id="{D376B71F-D09A-97F9-7344-CAA52CD4CA1C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xmlns="" id="{5E83747B-F728-1138-DEFA-68623DD0188A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234440"/>
            <a:ext cx="1737360" cy="19979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204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Singh   ·   Infosys Springboard Virtual Internship 7.0   ·   Mentor: Ms. Nithyasri S J</a:t>
            </a:r>
            <a:endParaRPr lang="en-US" sz="1200" dirty="0"/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xmlns="" id="{662F8DA0-B29A-CD62-2538-C0CC7AEA025C}"/>
              </a:ext>
            </a:extLst>
          </p:cNvPr>
          <p:cNvGrpSpPr/>
          <p:nvPr/>
        </p:nvGrpSpPr>
        <p:grpSpPr>
          <a:xfrm>
            <a:off x="10021078" y="206125"/>
            <a:ext cx="1939723" cy="447018"/>
            <a:chOff x="0" y="0"/>
            <a:chExt cx="3584702" cy="861695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xmlns="" id="{9E16037E-5CD3-674E-2EBE-21AB68E6F89B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1140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10</cp:revision>
  <dcterms:created xsi:type="dcterms:W3CDTF">2026-08-16T16:15:30Z</dcterms:created>
  <dcterms:modified xsi:type="dcterms:W3CDTF">2026-08-17T12:23:41Z</dcterms:modified>
</cp:coreProperties>
</file>