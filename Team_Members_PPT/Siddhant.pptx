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156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73568" y="1234440"/>
            <a:ext cx="3794760" cy="4343400"/>
          </a:xfrm>
          <a:prstGeom prst="roundRect">
            <a:avLst>
              <a:gd name="adj" fmla="val 3373"/>
            </a:avLst>
          </a:prstGeom>
          <a:solidFill>
            <a:srgbClr val="F3F8FF"/>
          </a:solidFill>
          <a:ln w="12700">
            <a:solidFill>
              <a:srgbClr val="CFE0F5"/>
            </a:solidFill>
            <a:prstDash val="solid"/>
          </a:ln>
          <a:effectLst>
            <a:outerShdw blurRad="127000" dist="38100" dir="5400000" algn="bl" rotWithShape="0">
              <a:srgbClr val="9FB8D8">
                <a:alpha val="40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1572768"/>
            <a:ext cx="2286000" cy="2628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73568" y="466344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INTELLIGENCE FRAMEWORK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868680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648" y="1026688"/>
            <a:ext cx="342351" cy="3423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93268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·  VIRTUAL INTERNSHIP 7.0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1847088"/>
            <a:ext cx="73152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5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Cyber Threat Analytics</a:t>
            </a:r>
            <a:endParaRPr lang="en-US" sz="35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5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Platform &amp; Incident</a:t>
            </a:r>
            <a:endParaRPr lang="en-US" sz="35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5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Visualization System</a:t>
            </a:r>
            <a:endParaRPr lang="en-US" sz="3500" dirty="0"/>
          </a:p>
        </p:txBody>
      </p:sp>
      <p:sp>
        <p:nvSpPr>
          <p:cNvPr id="9" name="Text 5"/>
          <p:cNvSpPr/>
          <p:nvPr/>
        </p:nvSpPr>
        <p:spPr>
          <a:xfrm>
            <a:off x="548640" y="4096512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Power BI business-intelligence solution that turns 40,000 raw cybersecurity events into clear, actionable threat intelligence.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48640" y="4828032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kern="0" spc="200" dirty="0">
                <a:solidFill>
                  <a:srgbClr val="6E7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r>
              <a:rPr lang="en-US" sz="17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Siddhant Singh
</a:t>
            </a:r>
            <a:r>
              <a:rPr lang="en-US" sz="12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 ·  Ms. Nithyasri S J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48640" y="5806440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13232" y="5806440"/>
            <a:ext cx="1874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40,000   </a:t>
            </a: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2880360" y="5806440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3044952" y="5806440"/>
            <a:ext cx="1874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 </a:t>
            </a: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212080" y="5806440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376672" y="5806440"/>
            <a:ext cx="1874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  </a:t>
            </a: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2000" dirty="0"/>
          </a:p>
        </p:txBody>
      </p:sp>
      <p:grpSp>
        <p:nvGrpSpPr>
          <p:cNvPr id="17" name="Group 18">
            <a:extLst>
              <a:ext uri="{FF2B5EF4-FFF2-40B4-BE49-F238E27FC236}">
                <a16:creationId xmlns:a16="http://schemas.microsoft.com/office/drawing/2014/main" id="{EB87D690-7F52-4C37-A11D-0B0166A4143D}"/>
              </a:ext>
            </a:extLst>
          </p:cNvPr>
          <p:cNvGrpSpPr/>
          <p:nvPr/>
        </p:nvGrpSpPr>
        <p:grpSpPr>
          <a:xfrm>
            <a:off x="10084003" y="92212"/>
            <a:ext cx="1869033" cy="320040"/>
            <a:chOff x="0" y="0"/>
            <a:chExt cx="3584702" cy="861695"/>
          </a:xfrm>
        </p:grpSpPr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1AB35499-C2E5-89B3-729E-951738CCDA9B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PROJECT OBJECTIVES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the framework set out to achieve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52852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01952"/>
            <a:ext cx="713232" cy="713232"/>
          </a:xfrm>
          <a:prstGeom prst="roundRect">
            <a:avLst>
              <a:gd name="adj" fmla="val 11538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136" y="2073128"/>
            <a:ext cx="370881" cy="37088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19472" y="1883664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22960" y="2706624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Consolidate &amp; Model Data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3044952"/>
            <a:ext cx="4736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40,000 raw cybersecurity incident records into a single, coherent Power BI analytical framework.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1627632"/>
            <a:ext cx="52852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1901952"/>
            <a:ext cx="713232" cy="713232"/>
          </a:xfrm>
          <a:prstGeom prst="roundRect">
            <a:avLst>
              <a:gd name="adj" fmla="val 11538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696" y="2073128"/>
            <a:ext cx="370881" cy="37088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43032" y="1883664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6446520" y="2706624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Detect &amp; Quantify Threats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446520" y="3044952"/>
            <a:ext cx="4736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attack patterns, severity levels and anomaly behaviour across attack types, protocols and geography.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48640" y="4014216"/>
            <a:ext cx="52852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2960" y="4288536"/>
            <a:ext cx="713232" cy="713232"/>
          </a:xfrm>
          <a:prstGeom prst="roundRect">
            <a:avLst>
              <a:gd name="adj" fmla="val 11538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136" y="4459712"/>
            <a:ext cx="370881" cy="37088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19472" y="4270248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822960" y="5093208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Monitor Behaviour &amp; Response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22960" y="5431536"/>
            <a:ext cx="4736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network traffic, user/device behaviour and how effectively incidents are blocked, logged or ignored.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172200" y="4014216"/>
            <a:ext cx="52852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46520" y="4288536"/>
            <a:ext cx="713232" cy="713232"/>
          </a:xfrm>
          <a:prstGeom prst="roundRect">
            <a:avLst>
              <a:gd name="adj" fmla="val 11538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7696" y="4459712"/>
            <a:ext cx="370881" cy="37088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543032" y="4270248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Text 21"/>
          <p:cNvSpPr/>
          <p:nvPr/>
        </p:nvSpPr>
        <p:spPr>
          <a:xfrm>
            <a:off x="6446520" y="5093208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Communicate Intelligence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6446520" y="5431536"/>
            <a:ext cx="4736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complex log data into clear KPIs and visuals for both technical analysts and non-technical audiences.</a:t>
            </a:r>
            <a:endParaRPr lang="en-US" sz="1250" dirty="0"/>
          </a:p>
        </p:txBody>
      </p:sp>
      <p:grpSp>
        <p:nvGrpSpPr>
          <p:cNvPr id="29" name="Group 18">
            <a:extLst>
              <a:ext uri="{FF2B5EF4-FFF2-40B4-BE49-F238E27FC236}">
                <a16:creationId xmlns:a16="http://schemas.microsoft.com/office/drawing/2014/main" id="{50592E1F-BB8E-802F-B42B-F7795514C939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30" name="Freeform 19">
              <a:extLst>
                <a:ext uri="{FF2B5EF4-FFF2-40B4-BE49-F238E27FC236}">
                  <a16:creationId xmlns:a16="http://schemas.microsoft.com/office/drawing/2014/main" id="{0D2F6C41-5488-035D-C500-DC829B25B7B7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PROJECT DESCRIPTION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Seven interconnected dashboards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Advanced Threat Incident Analytics &amp; Security Visualization Framework is built entirely in Microsoft Power BI on a 40,000-record Kaggle dataset spanning Jan 2020–Oct 2023 across 28 Indian states. </a:t>
            </a:r>
            <a:r>
              <a:rPr lang="en-US" sz="135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transforms raw log data into seven themed, drill-able dashboards that give a 360° view of the threat landscape.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395728"/>
            <a:ext cx="349300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2633472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447" y="2769535"/>
            <a:ext cx="294803" cy="294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651760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463040" y="2852928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Cyber Security Attacks Analysis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86384" y="332841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overview of attack volume, type, action and geographic spread.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25112" y="2395728"/>
            <a:ext cx="349300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62856" y="2633472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8919" y="2769535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39512" y="2651760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239512" y="2852928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Threat Detection &amp; Anomaly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562856" y="332841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Anomaly-score bands, gauge and interactive slicer-driven investigation.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101584" y="2395728"/>
            <a:ext cx="349300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39328" y="2633472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5391" y="2769535"/>
            <a:ext cx="294803" cy="29480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15984" y="2651760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9015984" y="2852928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Network Traffic Analysis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339328" y="332841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Protocol, packet-type and severity behaviour across the network.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48640" y="4242816"/>
            <a:ext cx="349300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86384" y="448056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447" y="4616623"/>
            <a:ext cx="294803" cy="29480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63040" y="4498848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463040" y="4700016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User Behaviour Analytics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786384" y="517550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OS/browser mix, user &amp; device metrics and top high-anomaly source IPs.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325112" y="4242816"/>
            <a:ext cx="349300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562856" y="448056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8919" y="4616623"/>
            <a:ext cx="294803" cy="294803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239512" y="4498848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5239512" y="4700016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Threat Profile &amp; Severity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4562856" y="517550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tree, signatures and severity mix by network segment.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8101584" y="4242816"/>
            <a:ext cx="349300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339328" y="448056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5391" y="4616623"/>
            <a:ext cx="294803" cy="294803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015984" y="4498848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9015984" y="4700016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Alert Monitoring &amp; Response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8339328" y="517550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/ IDS coverage, block-rate trends and response effectiveness.</a:t>
            </a:r>
            <a:endParaRPr lang="en-US" sz="1100" dirty="0"/>
          </a:p>
        </p:txBody>
      </p:sp>
      <p:grpSp>
        <p:nvGrpSpPr>
          <p:cNvPr id="42" name="Group 18">
            <a:extLst>
              <a:ext uri="{FF2B5EF4-FFF2-40B4-BE49-F238E27FC236}">
                <a16:creationId xmlns:a16="http://schemas.microsoft.com/office/drawing/2014/main" id="{7B102E00-855B-A1E3-914A-C2E59A2407C2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43" name="Freeform 19">
              <a:extLst>
                <a:ext uri="{FF2B5EF4-FFF2-40B4-BE49-F238E27FC236}">
                  <a16:creationId xmlns:a16="http://schemas.microsoft.com/office/drawing/2014/main" id="{F7797FC5-88F5-D82F-D4D0-C3288B5FD9D6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TOP VISUALIZATIONS / COMPONENTS USED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visual toolkit behind the framework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148132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E7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TYPE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26280" y="148132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E7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 /  WHAT IT SHOWS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190195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2011680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828800"/>
            <a:ext cx="3063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KPI Cards &amp; Gauges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26280" y="1828800"/>
            <a:ext cx="6903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metrics - Total Attacks (40K), High Severity, Block Rate % and Malware Detected.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500884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" y="257403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2683764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71600" y="2500884"/>
            <a:ext cx="3063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Donut &amp; Pie Charts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4526280" y="2500884"/>
            <a:ext cx="6903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of attack types, action taken and anomaly-score bands at a glance.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" y="3172968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58368" y="32461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3355848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3172968"/>
            <a:ext cx="3063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Decomposition Tree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4526280" y="3172968"/>
            <a:ext cx="6903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drill from total attacks → attack type → severity level.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3845052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8368" y="391820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" y="4027932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71600" y="3845052"/>
            <a:ext cx="3063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Geographic Map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4526280" y="3845052"/>
            <a:ext cx="6903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volume and type plotted across 28 Indian states and cities.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48640" y="4517136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58368" y="459028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96" y="4700016"/>
            <a:ext cx="237744" cy="23774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371600" y="4517136"/>
            <a:ext cx="3063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Ribbon &amp; Waterfall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4526280" y="4517136"/>
            <a:ext cx="6903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shifts of attack types over time and block-rate contribution by class.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548640" y="5189220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58368" y="526237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096" y="5372100"/>
            <a:ext cx="237744" cy="23774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371600" y="5189220"/>
            <a:ext cx="3063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Sankey Diagram</a:t>
            </a:r>
            <a:endParaRPr lang="en-US" sz="1350" dirty="0"/>
          </a:p>
        </p:txBody>
      </p:sp>
      <p:sp>
        <p:nvSpPr>
          <p:cNvPr id="36" name="Text 28"/>
          <p:cNvSpPr/>
          <p:nvPr/>
        </p:nvSpPr>
        <p:spPr>
          <a:xfrm>
            <a:off x="4526280" y="5189220"/>
            <a:ext cx="6903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of every attack type into its Blocked / Ignored / Logged outcome.</a:t>
            </a:r>
            <a:endParaRPr lang="en-US" sz="1150" dirty="0"/>
          </a:p>
        </p:txBody>
      </p:sp>
      <p:sp>
        <p:nvSpPr>
          <p:cNvPr id="37" name="Shape 29"/>
          <p:cNvSpPr/>
          <p:nvPr/>
        </p:nvSpPr>
        <p:spPr>
          <a:xfrm>
            <a:off x="548640" y="5861304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658368" y="593445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8096" y="6044184"/>
            <a:ext cx="237744" cy="237744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1371600" y="5861304"/>
            <a:ext cx="3063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Gauge &amp; Key Influencers</a:t>
            </a:r>
            <a:endParaRPr lang="en-US" sz="1350" dirty="0"/>
          </a:p>
        </p:txBody>
      </p:sp>
      <p:sp>
        <p:nvSpPr>
          <p:cNvPr id="41" name="Text 32"/>
          <p:cNvSpPr/>
          <p:nvPr/>
        </p:nvSpPr>
        <p:spPr>
          <a:xfrm>
            <a:off x="4526280" y="5861304"/>
            <a:ext cx="6903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anomaly score and the factors that drive a 'Blocked' outcome.</a:t>
            </a:r>
            <a:endParaRPr lang="en-US" sz="1150" dirty="0"/>
          </a:p>
        </p:txBody>
      </p:sp>
      <p:grpSp>
        <p:nvGrpSpPr>
          <p:cNvPr id="42" name="Group 18">
            <a:extLst>
              <a:ext uri="{FF2B5EF4-FFF2-40B4-BE49-F238E27FC236}">
                <a16:creationId xmlns:a16="http://schemas.microsoft.com/office/drawing/2014/main" id="{09F4B6F9-48E9-1D92-CA51-5F4B3448AFBE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43" name="Freeform 19">
              <a:extLst>
                <a:ext uri="{FF2B5EF4-FFF2-40B4-BE49-F238E27FC236}">
                  <a16:creationId xmlns:a16="http://schemas.microsoft.com/office/drawing/2014/main" id="{57C0D5AA-42D5-CC8F-F07E-CA77B23CC4A6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PROJECT 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eight-stage Power BI pipeline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95528" y="2167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04888" y="2167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B2CAA4B8-24C6-BA51-7412-502BDB002E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667" b="3401"/>
          <a:stretch>
            <a:fillRect/>
          </a:stretch>
        </p:blipFill>
        <p:spPr>
          <a:xfrm>
            <a:off x="4025445" y="1389887"/>
            <a:ext cx="3616326" cy="5304261"/>
          </a:xfrm>
          <a:prstGeom prst="rect">
            <a:avLst/>
          </a:prstGeom>
        </p:spPr>
      </p:pic>
      <p:grpSp>
        <p:nvGrpSpPr>
          <p:cNvPr id="5" name="Group 18">
            <a:extLst>
              <a:ext uri="{FF2B5EF4-FFF2-40B4-BE49-F238E27FC236}">
                <a16:creationId xmlns:a16="http://schemas.microsoft.com/office/drawing/2014/main" id="{C6121101-3C0A-27DF-2FA8-C29E4064E1C6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6" name="Freeform 19">
              <a:extLst>
                <a:ext uri="{FF2B5EF4-FFF2-40B4-BE49-F238E27FC236}">
                  <a16:creationId xmlns:a16="http://schemas.microsoft.com/office/drawing/2014/main" id="{F19F29AE-D906-A962-5C76-B635001E6D0E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PROJECT EXECUTION MILESTONES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Four structured milestones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was executed through 4 structured milestones to ensure systematic progress and accuracy.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01952"/>
            <a:ext cx="11091672" cy="841248"/>
          </a:xfrm>
          <a:prstGeom prst="roundRect">
            <a:avLst>
              <a:gd name="adj" fmla="val 7609"/>
            </a:avLst>
          </a:prstGeom>
          <a:solidFill>
            <a:srgbClr val="EAF3FF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048256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194" y="2179930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901952"/>
            <a:ext cx="10149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/ SOURCE   </a:t>
            </a:r>
            <a:r>
              <a:rPr lang="en-US" sz="125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“Cyber Security Attacks”   ·   40,000 records   ·   Jan 2020 – Oct 2023   ·   28 Indian states   ·   25 features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3017520"/>
            <a:ext cx="2633472" cy="27432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3291840"/>
            <a:ext cx="868680" cy="566928"/>
          </a:xfrm>
          <a:prstGeom prst="roundRect">
            <a:avLst>
              <a:gd name="adj" fmla="val 12903"/>
            </a:avLst>
          </a:prstGeom>
          <a:solidFill>
            <a:srgbClr val="1D6FE6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3291840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04672" y="4041648"/>
            <a:ext cx="21214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Foundation &amp; Understanding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04672" y="4800600"/>
            <a:ext cx="21214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acquisition, cleaning through 19 Power Query steps, data modeling and base KPIs.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429000" y="3017520"/>
            <a:ext cx="2633472" cy="27432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85032" y="3291840"/>
            <a:ext cx="868680" cy="566928"/>
          </a:xfrm>
          <a:prstGeom prst="roundRect">
            <a:avLst>
              <a:gd name="adj" fmla="val 12903"/>
            </a:avLst>
          </a:prstGeom>
          <a:solidFill>
            <a:srgbClr val="1D6FE6"/>
          </a:solidFill>
          <a:ln/>
        </p:spPr>
      </p:sp>
      <p:sp>
        <p:nvSpPr>
          <p:cNvPr id="17" name="Text 14"/>
          <p:cNvSpPr/>
          <p:nvPr/>
        </p:nvSpPr>
        <p:spPr>
          <a:xfrm>
            <a:off x="3685032" y="3291840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M2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685032" y="4041648"/>
            <a:ext cx="21214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Core Dashboards &amp; Behaviour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3685032" y="4800600"/>
            <a:ext cx="21214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Attack, network-traffic, anomaly and user-behaviour dashboards with KPI cards.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309360" y="3017520"/>
            <a:ext cx="2633472" cy="27432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565392" y="3291840"/>
            <a:ext cx="868680" cy="566928"/>
          </a:xfrm>
          <a:prstGeom prst="roundRect">
            <a:avLst>
              <a:gd name="adj" fmla="val 12903"/>
            </a:avLst>
          </a:prstGeom>
          <a:solidFill>
            <a:srgbClr val="1D6FE6"/>
          </a:solidFill>
          <a:ln/>
        </p:spPr>
      </p:sp>
      <p:sp>
        <p:nvSpPr>
          <p:cNvPr id="22" name="Text 19"/>
          <p:cNvSpPr/>
          <p:nvPr/>
        </p:nvSpPr>
        <p:spPr>
          <a:xfrm>
            <a:off x="6565392" y="3291840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M3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565392" y="4041648"/>
            <a:ext cx="21214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Advanced Threat Profiling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565392" y="4800600"/>
            <a:ext cx="21214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tree, severity profiling, insight synthesis and documentation.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189720" y="3017520"/>
            <a:ext cx="2633472" cy="27432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445752" y="3291840"/>
            <a:ext cx="868680" cy="566928"/>
          </a:xfrm>
          <a:prstGeom prst="roundRect">
            <a:avLst>
              <a:gd name="adj" fmla="val 12903"/>
            </a:avLst>
          </a:prstGeom>
          <a:solidFill>
            <a:srgbClr val="1D6FE6"/>
          </a:solidFill>
          <a:ln/>
        </p:spPr>
      </p:sp>
      <p:sp>
        <p:nvSpPr>
          <p:cNvPr id="27" name="Text 24"/>
          <p:cNvSpPr/>
          <p:nvPr/>
        </p:nvSpPr>
        <p:spPr>
          <a:xfrm>
            <a:off x="9445752" y="3291840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M4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9445752" y="4041648"/>
            <a:ext cx="21214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Alert Monitoring &amp; Response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9445752" y="4800600"/>
            <a:ext cx="21214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alert monitoring plus the attack-trends &amp; response-effectiveness dashboards.</a:t>
            </a:r>
            <a:endParaRPr lang="en-US" sz="1150" dirty="0"/>
          </a:p>
        </p:txBody>
      </p:sp>
      <p:grpSp>
        <p:nvGrpSpPr>
          <p:cNvPr id="30" name="Group 18">
            <a:extLst>
              <a:ext uri="{FF2B5EF4-FFF2-40B4-BE49-F238E27FC236}">
                <a16:creationId xmlns:a16="http://schemas.microsoft.com/office/drawing/2014/main" id="{0952FADF-B800-3FB0-A1B1-87389EC70BB3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31" name="Freeform 19">
              <a:extLst>
                <a:ext uri="{FF2B5EF4-FFF2-40B4-BE49-F238E27FC236}">
                  <a16:creationId xmlns:a16="http://schemas.microsoft.com/office/drawing/2014/main" id="{6090C595-1055-2C82-D743-4F67170963AC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CHALLENGES FACED &amp; RESOLUTIONS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Obstacles met and how they were solved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59105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4813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CHALLENGES FACED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63640" y="148132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59105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30568" y="14813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966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RESOLUTIONS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2084832"/>
            <a:ext cx="525780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68096" y="2304288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3" name="Text 9"/>
          <p:cNvSpPr/>
          <p:nvPr/>
        </p:nvSpPr>
        <p:spPr>
          <a:xfrm>
            <a:off x="768096" y="2304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298448" y="219456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a 40,000-row model responsive while every visual stayed interactive.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72200" y="2084832"/>
            <a:ext cx="525780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91656" y="2304288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235915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22008" y="219456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efficient DAX and disabled unnecessary auto date/time tables to keep the model fast.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547872"/>
            <a:ext cx="525780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" y="3767328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6"/>
          <p:cNvSpPr/>
          <p:nvPr/>
        </p:nvSpPr>
        <p:spPr>
          <a:xfrm>
            <a:off x="768096" y="3767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298448" y="365760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accurate derived metrics (% High Severity, Block Rate %, Anomaly Score Bands) that stayed correct under every filter.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172200" y="3547872"/>
            <a:ext cx="525780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391656" y="3767328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822192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22008" y="365760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Iteratively tested and validated each measure across all slicer interactions and filter contexts.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48640" y="5010912"/>
            <a:ext cx="525780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68096" y="5230368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9" name="Text 23"/>
          <p:cNvSpPr/>
          <p:nvPr/>
        </p:nvSpPr>
        <p:spPr>
          <a:xfrm>
            <a:off x="768096" y="5230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1298448" y="512064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a near-uniform dataset and keeping one visual language across seven dashboards built by different members.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6172200" y="5010912"/>
            <a:ext cx="525780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391656" y="5230368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5285232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922008" y="512064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figures across visuals and standardised colours &amp; severity encoding, coordinating via Teams and GitHub.</a:t>
            </a:r>
            <a:endParaRPr lang="en-US" sz="1200" dirty="0"/>
          </a:p>
        </p:txBody>
      </p:sp>
      <p:grpSp>
        <p:nvGrpSpPr>
          <p:cNvPr id="35" name="Group 18">
            <a:extLst>
              <a:ext uri="{FF2B5EF4-FFF2-40B4-BE49-F238E27FC236}">
                <a16:creationId xmlns:a16="http://schemas.microsoft.com/office/drawing/2014/main" id="{1D98B00E-65AC-6A6F-8F5E-81411D5B5756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36" name="Freeform 19">
              <a:extLst>
                <a:ext uri="{FF2B5EF4-FFF2-40B4-BE49-F238E27FC236}">
                  <a16:creationId xmlns:a16="http://schemas.microsoft.com/office/drawing/2014/main" id="{55127B98-2FEE-0143-F1F9-F7B6F197BF27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07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LEARNINGS &amp; SKILLS ACQUIRED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this internship built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64792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1896466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764792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TECHNICAL SKILLS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468880"/>
            <a:ext cx="4800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Power BI - Power Query ETL, modeling &amp; publishing</a:t>
            </a:r>
            <a:endParaRPr lang="en-US" sz="125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&amp; calculated columns (CALCULATE, DIVIDE, COUNTROWS, banding)</a:t>
            </a:r>
            <a:endParaRPr lang="en-US" sz="125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visuals - decomposition tree, ribbon, treemap, gauge, Sankey</a:t>
            </a:r>
            <a:endParaRPr lang="en-US" sz="125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tables, relationships &amp; version control with GitHub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09360" y="1508760"/>
            <a:ext cx="54406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1764792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354" y="1896466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764792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SOFT SKILLS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629400" y="2468880"/>
            <a:ext cx="4800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Communicating analytical findings clearly to non-technical audiences</a:t>
            </a:r>
            <a:endParaRPr lang="en-US" sz="1250" dirty="0"/>
          </a:p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collaboration, ownership &amp; accountability via Microsoft Teams</a:t>
            </a:r>
            <a:endParaRPr lang="en-US" sz="1250" dirty="0"/>
          </a:p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 and delivery against milestone deadlines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89204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EAF3FF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" y="523036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023" y="5366431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4892040"/>
            <a:ext cx="10332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kern="0" spc="15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EXPERIENCE
</a:t>
            </a:r>
            <a:r>
              <a:rPr lang="en-US" sz="1300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mastery of Power BI, DAX and analytical storytelling — reinforcing the real-world value of data-driven, evidence-based decision-making.</a:t>
            </a:r>
            <a:endParaRPr lang="en-US" sz="105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0D558D1-36D2-7D24-E08B-9FFBC8740B00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CEC6D07-3632-FF46-BD06-5FA6CA3E3031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08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FUTURE ENHANCEMENTS &amp; KEY INSIGHTS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the framework goes next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98932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830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191475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78308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560320"/>
            <a:ext cx="53492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103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near-real-time data via scheduled refresh or DirectQuery</a:t>
            </a:r>
            <a:endParaRPr lang="en-US" sz="1300" dirty="0"/>
          </a:p>
          <a:p>
            <a:pPr marL="203200" indent="-203200" algn="l">
              <a:lnSpc>
                <a:spcPct val="103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predictive analytics - anomaly forecasting &amp; risk scoring (Python / R / Azure ML)</a:t>
            </a:r>
            <a:endParaRPr lang="en-US" sz="1300" dirty="0"/>
          </a:p>
          <a:p>
            <a:pPr marL="203200" indent="-203200" algn="l">
              <a:lnSpc>
                <a:spcPct val="103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for role-based dashboards + automated alerting via Power Automate</a:t>
            </a:r>
            <a:endParaRPr lang="en-US" sz="1300" dirty="0"/>
          </a:p>
          <a:p>
            <a:pPr marL="203200" indent="-203200" algn="l">
              <a:lnSpc>
                <a:spcPct val="103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Drill-through to raw incidents, a true India choropleth, and publish to the Power BI Service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766560" y="1527048"/>
            <a:ext cx="4873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766560" y="1965960"/>
            <a:ext cx="487375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022592" y="2075688"/>
            <a:ext cx="18288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6F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33.6%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8732520" y="2075688"/>
            <a:ext cx="26791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marginally leads a broad, multi-vector threat mix (Malware 33.3%, Intrusion 33.2%).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766560" y="3410712"/>
            <a:ext cx="487375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022592" y="3520440"/>
            <a:ext cx="18288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6F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~45%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8732520" y="3520440"/>
            <a:ext cx="26791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is the most-targeted OS; malware indicators appear in exactly 50% of events.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766560" y="4855464"/>
            <a:ext cx="487375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022592" y="4965192"/>
            <a:ext cx="18288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6F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33.8%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8732520" y="4965192"/>
            <a:ext cx="26791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about a third of attacks are actively blocked — a clear, quantified response gap.</a:t>
            </a:r>
            <a:endParaRPr lang="en-US" sz="1150" dirty="0"/>
          </a:p>
        </p:txBody>
      </p:sp>
      <p:grpSp>
        <p:nvGrpSpPr>
          <p:cNvPr id="20" name="Group 18">
            <a:extLst>
              <a:ext uri="{FF2B5EF4-FFF2-40B4-BE49-F238E27FC236}">
                <a16:creationId xmlns:a16="http://schemas.microsoft.com/office/drawing/2014/main" id="{97835448-8758-8FF5-3988-1D9E00C6154E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41476127-8E1F-81DB-8ACB-7766B5014D05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09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raw events to intelligence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Cyber Threat Analytics Platform successfully transformed 40,000 raw cybersecurity incidents into seven interactive Power BI dashboards</a:t>
            </a:r>
            <a:r>
              <a:rPr lang="en-US" sz="1900" dirty="0">
                <a:solidFill>
                  <a:srgbClr val="51617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— delivering a complete, drill-able view of the threat landscape for technical and non-technical audiences alike.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3602736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3081528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968" y="3239536"/>
            <a:ext cx="342351" cy="34235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904488"/>
            <a:ext cx="30540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Technical Impact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4325112"/>
            <a:ext cx="30540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mastery of Power BI, DAX, data modeling and analytical storytelling across a full BI pipeline.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88536" y="2788920"/>
            <a:ext cx="3602736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62856" y="3081528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0864" y="3239536"/>
            <a:ext cx="342351" cy="34235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62856" y="3904488"/>
            <a:ext cx="30540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Practical Experience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62856" y="4325112"/>
            <a:ext cx="30540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business intelligence applied to security monitoring, reporting and executive decision-making.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28432" y="2788920"/>
            <a:ext cx="3602736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02752" y="3081528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0760" y="3239536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02752" y="3904488"/>
            <a:ext cx="30540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Overall Outcome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302752" y="4325112"/>
            <a:ext cx="30540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a clear opportunity to strengthen response (only ~1/3 blocked) and a strong base for future work.</a:t>
            </a:r>
            <a:endParaRPr lang="en-US" sz="1250" dirty="0"/>
          </a:p>
        </p:txBody>
      </p:sp>
      <p:grpSp>
        <p:nvGrpSpPr>
          <p:cNvPr id="21" name="Group 18">
            <a:extLst>
              <a:ext uri="{FF2B5EF4-FFF2-40B4-BE49-F238E27FC236}">
                <a16:creationId xmlns:a16="http://schemas.microsoft.com/office/drawing/2014/main" id="{13633F44-D353-98EC-CE9A-8FAB0C3CAB8A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54AD58F1-8210-0075-BD02-728CEEC03A2D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ACKNOWLEDGEMENTS &amp; REFERENCES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With gratitude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35508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830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191475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783080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ACKNOWLEDGEMENTS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441448"/>
            <a:ext cx="5715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like to express my heartfelt gratitude to: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14400" y="2962656"/>
            <a:ext cx="109728" cy="109728"/>
          </a:xfrm>
          <a:prstGeom prst="ellipse">
            <a:avLst/>
          </a:prstGeom>
          <a:solidFill>
            <a:srgbClr val="1D6FE6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2825496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Team  </a:t>
            </a:r>
            <a:r>
              <a:rPr lang="en-US" sz="1200" b="1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 structured, industry-aligned internship platform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14400" y="3712464"/>
            <a:ext cx="109728" cy="109728"/>
          </a:xfrm>
          <a:prstGeom prst="ellipse">
            <a:avLst/>
          </a:prstGeom>
          <a:solidFill>
            <a:srgbClr val="1D6FE6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3575304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Nithyasri S J (Mentor)  </a:t>
            </a:r>
            <a:r>
              <a:rPr lang="en-US" sz="1200" b="1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consistent guidance, feedback and encouragement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14400" y="4462272"/>
            <a:ext cx="109728" cy="109728"/>
          </a:xfrm>
          <a:prstGeom prst="ellipse">
            <a:avLst/>
          </a:prstGeom>
          <a:solidFill>
            <a:srgbClr val="1D6FE6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4325112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 </a:t>
            </a:r>
            <a:r>
              <a:rPr lang="en-US" sz="1200" b="1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Priyam Sinha &amp; Ponnuru Nithiin, for strong collaboration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4400" y="5212080"/>
            <a:ext cx="109728" cy="109728"/>
          </a:xfrm>
          <a:prstGeom prst="ellipse">
            <a:avLst/>
          </a:prstGeom>
          <a:solidFill>
            <a:srgbClr val="1D6FE6"/>
          </a:solidFill>
          <a:ln/>
        </p:spPr>
      </p:sp>
      <p:sp>
        <p:nvSpPr>
          <p:cNvPr id="17" name="Text 14"/>
          <p:cNvSpPr/>
          <p:nvPr/>
        </p:nvSpPr>
        <p:spPr>
          <a:xfrm>
            <a:off x="1143000" y="507492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community  - </a:t>
            </a: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and resources used during development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086600" y="1508760"/>
            <a:ext cx="4553712" cy="4709160"/>
          </a:xfrm>
          <a:prstGeom prst="roundRect">
            <a:avLst>
              <a:gd name="adj" fmla="val 160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360920" y="17830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2594" y="1914754"/>
            <a:ext cx="285293" cy="285293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046720" y="1783080"/>
            <a:ext cx="3364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7452360" y="2560320"/>
            <a:ext cx="3867912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 algn="l">
              <a:lnSpc>
                <a:spcPct val="105000"/>
              </a:lnSpc>
              <a:spcAft>
                <a:spcPts val="16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- “Cyber Security Attacks” dataset (40,000 records, 2020 -2023)</a:t>
            </a:r>
            <a:endParaRPr lang="en-US" sz="1250" dirty="0"/>
          </a:p>
          <a:p>
            <a:pPr marL="254000" indent="-254000" algn="l">
              <a:lnSpc>
                <a:spcPct val="105000"/>
              </a:lnSpc>
              <a:spcAft>
                <a:spcPts val="16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&amp; DAX official documentation and community resources</a:t>
            </a:r>
            <a:endParaRPr lang="en-US" sz="1250" dirty="0"/>
          </a:p>
          <a:p>
            <a:pPr marL="254000" indent="-254000" algn="l">
              <a:lnSpc>
                <a:spcPct val="105000"/>
              </a:lnSpc>
              <a:spcAft>
                <a:spcPts val="16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learning modules and milestone framework</a:t>
            </a:r>
            <a:endParaRPr lang="en-US" sz="1250" dirty="0"/>
          </a:p>
        </p:txBody>
      </p:sp>
      <p:grpSp>
        <p:nvGrpSpPr>
          <p:cNvPr id="23" name="Group 18">
            <a:extLst>
              <a:ext uri="{FF2B5EF4-FFF2-40B4-BE49-F238E27FC236}">
                <a16:creationId xmlns:a16="http://schemas.microsoft.com/office/drawing/2014/main" id="{D376B71F-D09A-97F9-7344-CAA52CD4CA1C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5E83747B-F728-1138-DEFA-68623DD0188A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68" y="1234440"/>
            <a:ext cx="1737360" cy="19979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52044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0" y="44805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with Incident Visualization System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0" y="49377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Siddhant Singh   ·   Infosys Springboard Virtual Internship 7.0   ·   Mentor: Ms. Nithyasri S J</a:t>
            </a:r>
            <a:endParaRPr lang="en-US" sz="1200" dirty="0"/>
          </a:p>
        </p:txBody>
      </p:sp>
      <p:grpSp>
        <p:nvGrpSpPr>
          <p:cNvPr id="6" name="Group 18">
            <a:extLst>
              <a:ext uri="{FF2B5EF4-FFF2-40B4-BE49-F238E27FC236}">
                <a16:creationId xmlns:a16="http://schemas.microsoft.com/office/drawing/2014/main" id="{662F8DA0-B29A-CD62-2538-C0CC7AEA025C}"/>
              </a:ext>
            </a:extLst>
          </p:cNvPr>
          <p:cNvGrpSpPr/>
          <p:nvPr/>
        </p:nvGrpSpPr>
        <p:grpSpPr>
          <a:xfrm>
            <a:off x="10021078" y="206125"/>
            <a:ext cx="1939723" cy="447018"/>
            <a:chOff x="0" y="0"/>
            <a:chExt cx="3584702" cy="861695"/>
          </a:xfrm>
        </p:grpSpPr>
        <p:sp>
          <p:nvSpPr>
            <p:cNvPr id="7" name="Freeform 19">
              <a:extLst>
                <a:ext uri="{FF2B5EF4-FFF2-40B4-BE49-F238E27FC236}">
                  <a16:creationId xmlns:a16="http://schemas.microsoft.com/office/drawing/2014/main" id="{9E16037E-5CD3-674E-2EBE-21AB68E6F89B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1181</Words>
  <Application>Microsoft Office PowerPoint</Application>
  <PresentationFormat>Widescreen</PresentationFormat>
  <Paragraphs>166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siddhant singh</cp:lastModifiedBy>
  <cp:revision>8</cp:revision>
  <dcterms:created xsi:type="dcterms:W3CDTF">2026-08-16T16:15:30Z</dcterms:created>
  <dcterms:modified xsi:type="dcterms:W3CDTF">2026-08-17T07:08:52Z</dcterms:modified>
</cp:coreProperties>
</file>