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8" r:id="rId6"/>
    <p:sldId id="269" r:id="rId7"/>
    <p:sldId id="270" r:id="rId8"/>
    <p:sldId id="271" r:id="rId9"/>
    <p:sldId id="272" r:id="rId10"/>
    <p:sldId id="273" r:id="rId11"/>
    <p:sldId id="274" r:id="rId12"/>
    <p:sldId id="275" r:id="rId13"/>
    <p:sldId id="276" r:id="rId14"/>
    <p:sldId id="263" r:id="rId15"/>
    <p:sldId id="264" r:id="rId16"/>
    <p:sldId id="265" r:id="rId17"/>
    <p:sldId id="262" r:id="rId18"/>
    <p:sldId id="267"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156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4D3C19-16DF-FA68-43A7-3CBDC6D87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1AB3AA4-B0EB-42BE-7AD1-EF6D313ED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CEB1041-3EA6-86C1-9F87-8F1BD80C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B9EF791D-33BC-95A1-EC2C-5C3DD96D7BE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6651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ED4C25-18A3-FC7C-1293-4A317A4E4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0484F30-A403-AA26-F3DB-34D52D93E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9C53988-EE92-14D7-338E-CF2675736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558C1D5-FFFE-F28D-FA12-867DF8CCC9C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6153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973568" y="1234440"/>
            <a:ext cx="3794760" cy="4343400"/>
          </a:xfrm>
          <a:prstGeom prst="roundRect">
            <a:avLst>
              <a:gd name="adj" fmla="val 3373"/>
            </a:avLst>
          </a:prstGeom>
          <a:solidFill>
            <a:srgbClr val="F3F8FF"/>
          </a:solidFill>
          <a:ln w="12700">
            <a:solidFill>
              <a:srgbClr val="CFE0F5"/>
            </a:solidFill>
            <a:prstDash val="solid"/>
          </a:ln>
          <a:effectLst>
            <a:outerShdw blurRad="127000" dist="38100" dir="5400000" algn="bl" rotWithShape="0">
              <a:srgbClr val="9FB8D8">
                <a:alpha val="40000"/>
              </a:srgbClr>
            </a:outerShdw>
          </a:effectLst>
        </p:spPr>
      </p:sp>
      <p:pic>
        <p:nvPicPr>
          <p:cNvPr id="3" name="Image 0" descr="preencoded.png"/>
          <p:cNvPicPr>
            <a:picLocks noChangeAspect="1"/>
          </p:cNvPicPr>
          <p:nvPr/>
        </p:nvPicPr>
        <p:blipFill>
          <a:blip r:embed="rId4"/>
          <a:stretch>
            <a:fillRect/>
          </a:stretch>
        </p:blipFill>
        <p:spPr>
          <a:xfrm>
            <a:off x="8732520" y="1572768"/>
            <a:ext cx="2286000" cy="2628900"/>
          </a:xfrm>
          <a:prstGeom prst="rect">
            <a:avLst/>
          </a:prstGeom>
        </p:spPr>
      </p:pic>
      <p:sp>
        <p:nvSpPr>
          <p:cNvPr id="4" name="Text 1"/>
          <p:cNvSpPr/>
          <p:nvPr/>
        </p:nvSpPr>
        <p:spPr>
          <a:xfrm>
            <a:off x="7973568" y="4663440"/>
            <a:ext cx="3794760" cy="320040"/>
          </a:xfrm>
          <a:prstGeom prst="rect">
            <a:avLst/>
          </a:prstGeom>
          <a:noFill/>
          <a:ln/>
        </p:spPr>
        <p:txBody>
          <a:bodyPr wrap="square" rtlCol="0" anchor="ctr"/>
          <a:lstStyle/>
          <a:p>
            <a:pPr marL="0" indent="0" algn="ctr">
              <a:buNone/>
            </a:pPr>
            <a:r>
              <a:rPr lang="en-US" sz="1000" b="1" kern="0" spc="150" dirty="0">
                <a:solidFill>
                  <a:srgbClr val="1D6FE6"/>
                </a:solidFill>
                <a:latin typeface="Calibri" pitchFamily="34" charset="0"/>
                <a:ea typeface="Calibri" pitchFamily="34" charset="-122"/>
                <a:cs typeface="Calibri" pitchFamily="34" charset="-120"/>
              </a:rPr>
              <a:t>SECURITY INTELLIGENCE FRAMEWORK</a:t>
            </a:r>
            <a:endParaRPr lang="en-US" sz="1000" dirty="0"/>
          </a:p>
        </p:txBody>
      </p:sp>
      <p:sp>
        <p:nvSpPr>
          <p:cNvPr id="5" name="Shape 2"/>
          <p:cNvSpPr/>
          <p:nvPr/>
        </p:nvSpPr>
        <p:spPr>
          <a:xfrm>
            <a:off x="548640" y="868680"/>
            <a:ext cx="658368" cy="658368"/>
          </a:xfrm>
          <a:prstGeom prst="roundRect">
            <a:avLst>
              <a:gd name="adj" fmla="val 12500"/>
            </a:avLst>
          </a:prstGeom>
          <a:solidFill>
            <a:srgbClr val="E9F2FE"/>
          </a:solidFill>
          <a:ln w="12700">
            <a:solidFill>
              <a:srgbClr val="1D6FE6">
                <a:alpha val="55000"/>
              </a:srgbClr>
            </a:solidFill>
            <a:prstDash val="solid"/>
          </a:ln>
        </p:spPr>
      </p:sp>
      <p:pic>
        <p:nvPicPr>
          <p:cNvPr id="6" name="Image 1" descr="preencoded.png"/>
          <p:cNvPicPr>
            <a:picLocks noChangeAspect="1"/>
          </p:cNvPicPr>
          <p:nvPr/>
        </p:nvPicPr>
        <p:blipFill>
          <a:blip r:embed="rId5"/>
          <a:stretch>
            <a:fillRect/>
          </a:stretch>
        </p:blipFill>
        <p:spPr>
          <a:xfrm>
            <a:off x="706648" y="1026688"/>
            <a:ext cx="342351" cy="342351"/>
          </a:xfrm>
          <a:prstGeom prst="rect">
            <a:avLst/>
          </a:prstGeom>
        </p:spPr>
      </p:pic>
      <p:sp>
        <p:nvSpPr>
          <p:cNvPr id="7" name="Text 3"/>
          <p:cNvSpPr/>
          <p:nvPr/>
        </p:nvSpPr>
        <p:spPr>
          <a:xfrm>
            <a:off x="1371600" y="932688"/>
            <a:ext cx="6400800" cy="320040"/>
          </a:xfrm>
          <a:prstGeom prst="rect">
            <a:avLst/>
          </a:prstGeom>
          <a:noFill/>
          <a:ln/>
        </p:spPr>
        <p:txBody>
          <a:bodyPr wrap="square" rtlCol="0" anchor="ctr"/>
          <a:lstStyle/>
          <a:p>
            <a:pPr marL="0" indent="0">
              <a:buNone/>
            </a:pPr>
            <a:r>
              <a:rPr lang="en-US" sz="1300" b="1" kern="0" spc="200" dirty="0">
                <a:latin typeface="Calibri" pitchFamily="34" charset="0"/>
                <a:ea typeface="Calibri" pitchFamily="34" charset="-122"/>
                <a:cs typeface="Calibri" pitchFamily="34" charset="-120"/>
              </a:rPr>
              <a:t>INFOSYS SPRINGBOARD  ·  VIRTUAL INTERNSHIP 7.0</a:t>
            </a:r>
            <a:endParaRPr lang="en-US" sz="1300" dirty="0"/>
          </a:p>
        </p:txBody>
      </p:sp>
      <p:sp>
        <p:nvSpPr>
          <p:cNvPr id="8" name="Text 4"/>
          <p:cNvSpPr/>
          <p:nvPr/>
        </p:nvSpPr>
        <p:spPr>
          <a:xfrm>
            <a:off x="548640" y="1847088"/>
            <a:ext cx="7315200" cy="2148840"/>
          </a:xfrm>
          <a:prstGeom prst="rect">
            <a:avLst/>
          </a:prstGeom>
          <a:noFill/>
          <a:ln/>
        </p:spPr>
        <p:txBody>
          <a:bodyPr wrap="square" rtlCol="0" anchor="ctr"/>
          <a:lstStyle/>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Cyber Threat Analytics</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Platform &amp; Incident</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Visualization System</a:t>
            </a:r>
            <a:endParaRPr lang="en-US" sz="3500" dirty="0"/>
          </a:p>
        </p:txBody>
      </p:sp>
      <p:sp>
        <p:nvSpPr>
          <p:cNvPr id="9" name="Text 5"/>
          <p:cNvSpPr/>
          <p:nvPr/>
        </p:nvSpPr>
        <p:spPr>
          <a:xfrm>
            <a:off x="548640" y="4096512"/>
            <a:ext cx="7223760" cy="640080"/>
          </a:xfrm>
          <a:prstGeom prst="rect">
            <a:avLst/>
          </a:prstGeom>
          <a:noFill/>
          <a:ln/>
        </p:spPr>
        <p:txBody>
          <a:bodyPr wrap="square" rtlCol="0" anchor="ctr"/>
          <a:lstStyle/>
          <a:p>
            <a:pPr marL="0" indent="0" algn="l">
              <a:buNone/>
            </a:pPr>
            <a:r>
              <a:rPr lang="en-US" sz="1350" dirty="0">
                <a:solidFill>
                  <a:srgbClr val="51617C"/>
                </a:solidFill>
                <a:latin typeface="Calibri" pitchFamily="34" charset="0"/>
                <a:ea typeface="Calibri" pitchFamily="34" charset="-122"/>
                <a:cs typeface="Calibri" pitchFamily="34" charset="-120"/>
              </a:rPr>
              <a:t>An end-to-end Power BI business-intelligence solution that turns 40,000 raw cybersecurity events into clear, actionable threat intelligence.</a:t>
            </a:r>
            <a:endParaRPr lang="en-US" sz="1350" dirty="0"/>
          </a:p>
        </p:txBody>
      </p:sp>
      <p:sp>
        <p:nvSpPr>
          <p:cNvPr id="10" name="Text 6"/>
          <p:cNvSpPr/>
          <p:nvPr/>
        </p:nvSpPr>
        <p:spPr>
          <a:xfrm>
            <a:off x="548640" y="4828032"/>
            <a:ext cx="7223760" cy="914400"/>
          </a:xfrm>
          <a:prstGeom prst="rect">
            <a:avLst/>
          </a:prstGeom>
          <a:noFill/>
          <a:ln/>
        </p:spPr>
        <p:txBody>
          <a:bodyPr wrap="square" rtlCol="0" anchor="ctr"/>
          <a:lstStyle/>
          <a:p>
            <a:pPr marL="0" indent="0" algn="l">
              <a:lnSpc>
                <a:spcPct val="115000"/>
              </a:lnSpc>
              <a:buNone/>
            </a:pPr>
            <a:r>
              <a:rPr lang="en-US" sz="1000" b="1" kern="0" spc="200" dirty="0">
                <a:solidFill>
                  <a:srgbClr val="6E7E98"/>
                </a:solidFill>
                <a:latin typeface="Calibri" pitchFamily="34" charset="0"/>
                <a:ea typeface="Calibri" pitchFamily="34" charset="-122"/>
                <a:cs typeface="Calibri" pitchFamily="34" charset="-120"/>
              </a:rPr>
              <a:t>PRESENTED BY
</a:t>
            </a:r>
            <a:r>
              <a:rPr lang="en-US" sz="1700" b="1" dirty="0" err="1">
                <a:solidFill>
                  <a:srgbClr val="16294A"/>
                </a:solidFill>
                <a:latin typeface="Calibri" pitchFamily="34" charset="0"/>
                <a:ea typeface="Calibri" pitchFamily="34" charset="-122"/>
                <a:cs typeface="Calibri" pitchFamily="34" charset="-120"/>
              </a:rPr>
              <a:t>P</a:t>
            </a:r>
            <a:r>
              <a:rPr lang="en-US" sz="1700" b="1" smtClean="0">
                <a:solidFill>
                  <a:srgbClr val="16294A"/>
                </a:solidFill>
                <a:latin typeface="Calibri" pitchFamily="34" charset="0"/>
                <a:ea typeface="Calibri" pitchFamily="34" charset="-122"/>
                <a:cs typeface="Calibri" pitchFamily="34" charset="-120"/>
              </a:rPr>
              <a:t>onnuru</a:t>
            </a:r>
            <a:r>
              <a:rPr lang="en-US" sz="1700" b="1" dirty="0" smtClean="0">
                <a:solidFill>
                  <a:srgbClr val="16294A"/>
                </a:solidFill>
                <a:latin typeface="Calibri" pitchFamily="34" charset="0"/>
                <a:ea typeface="Calibri" pitchFamily="34" charset="-122"/>
                <a:cs typeface="Calibri" pitchFamily="34" charset="-120"/>
              </a:rPr>
              <a:t> </a:t>
            </a:r>
            <a:r>
              <a:rPr lang="en-US" sz="1700" b="1" dirty="0" err="1">
                <a:solidFill>
                  <a:srgbClr val="16294A"/>
                </a:solidFill>
                <a:latin typeface="Calibri" pitchFamily="34" charset="0"/>
                <a:ea typeface="Calibri" pitchFamily="34" charset="-122"/>
                <a:cs typeface="Calibri" pitchFamily="34" charset="-120"/>
              </a:rPr>
              <a:t>N</a:t>
            </a:r>
            <a:r>
              <a:rPr lang="en-US" sz="1700" b="1" dirty="0" err="1" smtClean="0">
                <a:solidFill>
                  <a:srgbClr val="16294A"/>
                </a:solidFill>
                <a:latin typeface="Calibri" pitchFamily="34" charset="0"/>
                <a:ea typeface="Calibri" pitchFamily="34" charset="-122"/>
                <a:cs typeface="Calibri" pitchFamily="34" charset="-120"/>
              </a:rPr>
              <a:t>ithin</a:t>
            </a:r>
            <a:r>
              <a:rPr lang="en-US" sz="1700" b="1" dirty="0">
                <a:solidFill>
                  <a:srgbClr val="16294A"/>
                </a:solidFill>
                <a:latin typeface="Calibri" pitchFamily="34" charset="0"/>
                <a:ea typeface="Calibri" pitchFamily="34" charset="-122"/>
                <a:cs typeface="Calibri" pitchFamily="34" charset="-120"/>
              </a:rPr>
              <a:t>
</a:t>
            </a:r>
            <a:r>
              <a:rPr lang="en-US" sz="1200" dirty="0">
                <a:solidFill>
                  <a:srgbClr val="1D6FE6"/>
                </a:solidFill>
                <a:latin typeface="Calibri" pitchFamily="34" charset="0"/>
                <a:ea typeface="Calibri" pitchFamily="34" charset="-122"/>
                <a:cs typeface="Calibri" pitchFamily="34" charset="-120"/>
              </a:rPr>
              <a:t>Mentor  ·  Ms. Nithyasri S J</a:t>
            </a:r>
            <a:endParaRPr lang="en-US" sz="1000" dirty="0"/>
          </a:p>
        </p:txBody>
      </p:sp>
      <p:sp>
        <p:nvSpPr>
          <p:cNvPr id="11" name="Shape 7"/>
          <p:cNvSpPr/>
          <p:nvPr/>
        </p:nvSpPr>
        <p:spPr>
          <a:xfrm>
            <a:off x="54864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Text 8"/>
          <p:cNvSpPr/>
          <p:nvPr/>
        </p:nvSpPr>
        <p:spPr>
          <a:xfrm>
            <a:off x="71323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40,000   </a:t>
            </a:r>
            <a:r>
              <a:rPr lang="en-US" sz="1200" dirty="0">
                <a:solidFill>
                  <a:srgbClr val="51617C"/>
                </a:solidFill>
                <a:latin typeface="Calibri" pitchFamily="34" charset="0"/>
                <a:ea typeface="Calibri" pitchFamily="34" charset="-122"/>
                <a:cs typeface="Calibri" pitchFamily="34" charset="-120"/>
              </a:rPr>
              <a:t>Incidents</a:t>
            </a:r>
            <a:endParaRPr lang="en-US" sz="2000" dirty="0"/>
          </a:p>
        </p:txBody>
      </p:sp>
      <p:sp>
        <p:nvSpPr>
          <p:cNvPr id="13" name="Shape 9"/>
          <p:cNvSpPr/>
          <p:nvPr/>
        </p:nvSpPr>
        <p:spPr>
          <a:xfrm>
            <a:off x="288036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4" name="Text 10"/>
          <p:cNvSpPr/>
          <p:nvPr/>
        </p:nvSpPr>
        <p:spPr>
          <a:xfrm>
            <a:off x="304495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7   </a:t>
            </a:r>
            <a:r>
              <a:rPr lang="en-US" sz="1200" dirty="0">
                <a:solidFill>
                  <a:srgbClr val="51617C"/>
                </a:solidFill>
                <a:latin typeface="Calibri" pitchFamily="34" charset="0"/>
                <a:ea typeface="Calibri" pitchFamily="34" charset="-122"/>
                <a:cs typeface="Calibri" pitchFamily="34" charset="-120"/>
              </a:rPr>
              <a:t>Dashboards</a:t>
            </a:r>
            <a:endParaRPr lang="en-US" sz="2000" dirty="0"/>
          </a:p>
        </p:txBody>
      </p:sp>
      <p:sp>
        <p:nvSpPr>
          <p:cNvPr id="15" name="Shape 11"/>
          <p:cNvSpPr/>
          <p:nvPr/>
        </p:nvSpPr>
        <p:spPr>
          <a:xfrm>
            <a:off x="5212080" y="5806440"/>
            <a:ext cx="2148840" cy="713232"/>
          </a:xfrm>
          <a:prstGeom prst="roundRect">
            <a:avLst>
              <a:gd name="adj" fmla="val 1025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6" name="Text 12"/>
          <p:cNvSpPr/>
          <p:nvPr/>
        </p:nvSpPr>
        <p:spPr>
          <a:xfrm>
            <a:off x="5376672" y="5806440"/>
            <a:ext cx="1874520" cy="713232"/>
          </a:xfrm>
          <a:prstGeom prst="rect">
            <a:avLst/>
          </a:prstGeom>
          <a:noFill/>
          <a:ln/>
        </p:spPr>
        <p:txBody>
          <a:bodyPr wrap="square" rtlCol="0" anchor="ctr"/>
          <a:lstStyle/>
          <a:p>
            <a:pPr marL="0" indent="0" algn="l">
              <a:buNone/>
            </a:pPr>
            <a:r>
              <a:rPr lang="en-US" sz="2000" b="1" dirty="0">
                <a:solidFill>
                  <a:srgbClr val="1D6FE6"/>
                </a:solidFill>
                <a:latin typeface="Calibri" pitchFamily="34" charset="0"/>
                <a:ea typeface="Calibri" pitchFamily="34" charset="-122"/>
                <a:cs typeface="Calibri" pitchFamily="34" charset="-120"/>
              </a:rPr>
              <a:t>28   </a:t>
            </a:r>
            <a:r>
              <a:rPr lang="en-US" sz="1200" dirty="0">
                <a:solidFill>
                  <a:srgbClr val="51617C"/>
                </a:solidFill>
                <a:latin typeface="Calibri" pitchFamily="34" charset="0"/>
                <a:ea typeface="Calibri" pitchFamily="34" charset="-122"/>
                <a:cs typeface="Calibri" pitchFamily="34" charset="-120"/>
              </a:rPr>
              <a:t>States</a:t>
            </a:r>
            <a:endParaRPr lang="en-US" sz="2000" dirty="0"/>
          </a:p>
        </p:txBody>
      </p:sp>
      <p:grpSp>
        <p:nvGrpSpPr>
          <p:cNvPr id="17" name="Group 18">
            <a:extLst>
              <a:ext uri="{FF2B5EF4-FFF2-40B4-BE49-F238E27FC236}">
                <a16:creationId xmlns:a16="http://schemas.microsoft.com/office/drawing/2014/main" xmlns="" id="{EB87D690-7F52-4C37-A11D-0B0166A4143D}"/>
              </a:ext>
            </a:extLst>
          </p:cNvPr>
          <p:cNvGrpSpPr/>
          <p:nvPr/>
        </p:nvGrpSpPr>
        <p:grpSpPr>
          <a:xfrm>
            <a:off x="10084003" y="92212"/>
            <a:ext cx="1869033" cy="320040"/>
            <a:chOff x="0" y="0"/>
            <a:chExt cx="3584702" cy="861695"/>
          </a:xfrm>
        </p:grpSpPr>
        <p:sp>
          <p:nvSpPr>
            <p:cNvPr id="18" name="Freeform 19">
              <a:extLst>
                <a:ext uri="{FF2B5EF4-FFF2-40B4-BE49-F238E27FC236}">
                  <a16:creationId xmlns:a16="http://schemas.microsoft.com/office/drawing/2014/main" xmlns="" id="{1AB35499-C2E5-89B3-729E-951738CCDA9B}"/>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3600" b="1" kern="0" spc="300" dirty="0">
                <a:solidFill>
                  <a:srgbClr val="1D6FE6"/>
                </a:solidFill>
                <a:latin typeface="Calibri" pitchFamily="34" charset="0"/>
                <a:ea typeface="Calibri" pitchFamily="34" charset="-122"/>
                <a:cs typeface="Calibri" pitchFamily="34" charset="-120"/>
              </a:rPr>
              <a:t>01 · PROJECT OBJECTIVES</a:t>
            </a:r>
            <a:endParaRPr lang="en-US" sz="36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What the framework set out to achieve</a:t>
            </a:r>
            <a:endParaRPr lang="en-US" sz="2400" dirty="0"/>
          </a:p>
        </p:txBody>
      </p:sp>
      <p:sp>
        <p:nvSpPr>
          <p:cNvPr id="5" name="Shape 3"/>
          <p:cNvSpPr/>
          <p:nvPr/>
        </p:nvSpPr>
        <p:spPr>
          <a:xfrm>
            <a:off x="548640" y="1627632"/>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901952"/>
            <a:ext cx="713232" cy="713232"/>
          </a:xfrm>
          <a:prstGeom prst="roundRect">
            <a:avLst>
              <a:gd name="adj" fmla="val 11538"/>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94136" y="2073128"/>
            <a:ext cx="370881" cy="370881"/>
          </a:xfrm>
          <a:prstGeom prst="rect">
            <a:avLst/>
          </a:prstGeom>
        </p:spPr>
      </p:pic>
      <p:sp>
        <p:nvSpPr>
          <p:cNvPr id="8" name="Text 5"/>
          <p:cNvSpPr/>
          <p:nvPr/>
        </p:nvSpPr>
        <p:spPr>
          <a:xfrm>
            <a:off x="4919472" y="1883664"/>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01</a:t>
            </a:r>
            <a:endParaRPr lang="en-US" sz="2600" dirty="0"/>
          </a:p>
        </p:txBody>
      </p:sp>
      <p:sp>
        <p:nvSpPr>
          <p:cNvPr id="9" name="Text 6"/>
          <p:cNvSpPr/>
          <p:nvPr/>
        </p:nvSpPr>
        <p:spPr>
          <a:xfrm>
            <a:off x="822960" y="2706624"/>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Consolidate &amp; Model Data</a:t>
            </a:r>
            <a:endParaRPr lang="en-US" sz="1700" dirty="0"/>
          </a:p>
        </p:txBody>
      </p:sp>
      <p:sp>
        <p:nvSpPr>
          <p:cNvPr id="10" name="Text 7"/>
          <p:cNvSpPr/>
          <p:nvPr/>
        </p:nvSpPr>
        <p:spPr>
          <a:xfrm>
            <a:off x="822960" y="3044952"/>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Unify 40,000 raw cybersecurity incident records into a single, coherent Power BI analytical framework.</a:t>
            </a:r>
            <a:endParaRPr lang="en-US" sz="1250" dirty="0"/>
          </a:p>
        </p:txBody>
      </p:sp>
      <p:sp>
        <p:nvSpPr>
          <p:cNvPr id="11" name="Shape 8"/>
          <p:cNvSpPr/>
          <p:nvPr/>
        </p:nvSpPr>
        <p:spPr>
          <a:xfrm>
            <a:off x="6172200" y="1627632"/>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Shape 9"/>
          <p:cNvSpPr/>
          <p:nvPr/>
        </p:nvSpPr>
        <p:spPr>
          <a:xfrm>
            <a:off x="6446520" y="1901952"/>
            <a:ext cx="713232" cy="713232"/>
          </a:xfrm>
          <a:prstGeom prst="roundRect">
            <a:avLst>
              <a:gd name="adj" fmla="val 11538"/>
            </a:avLst>
          </a:prstGeom>
          <a:solidFill>
            <a:srgbClr val="E9F2FE"/>
          </a:solidFill>
          <a:ln w="12700">
            <a:solidFill>
              <a:srgbClr val="1D6FE6">
                <a:alpha val="55000"/>
              </a:srgbClr>
            </a:solidFill>
            <a:prstDash val="solid"/>
          </a:ln>
        </p:spPr>
      </p:sp>
      <p:pic>
        <p:nvPicPr>
          <p:cNvPr id="13" name="Image 1" descr="preencoded.png"/>
          <p:cNvPicPr>
            <a:picLocks noChangeAspect="1"/>
          </p:cNvPicPr>
          <p:nvPr/>
        </p:nvPicPr>
        <p:blipFill>
          <a:blip r:embed="rId5"/>
          <a:stretch>
            <a:fillRect/>
          </a:stretch>
        </p:blipFill>
        <p:spPr>
          <a:xfrm>
            <a:off x="6617696" y="2073128"/>
            <a:ext cx="370881" cy="370881"/>
          </a:xfrm>
          <a:prstGeom prst="rect">
            <a:avLst/>
          </a:prstGeom>
        </p:spPr>
      </p:pic>
      <p:sp>
        <p:nvSpPr>
          <p:cNvPr id="14" name="Text 10"/>
          <p:cNvSpPr/>
          <p:nvPr/>
        </p:nvSpPr>
        <p:spPr>
          <a:xfrm>
            <a:off x="10543032" y="1883664"/>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02</a:t>
            </a:r>
            <a:endParaRPr lang="en-US" sz="2600" dirty="0"/>
          </a:p>
        </p:txBody>
      </p:sp>
      <p:sp>
        <p:nvSpPr>
          <p:cNvPr id="15" name="Text 11"/>
          <p:cNvSpPr/>
          <p:nvPr/>
        </p:nvSpPr>
        <p:spPr>
          <a:xfrm>
            <a:off x="6446520" y="2706624"/>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Detect &amp; Quantify Threats</a:t>
            </a:r>
            <a:endParaRPr lang="en-US" sz="1700" dirty="0"/>
          </a:p>
        </p:txBody>
      </p:sp>
      <p:sp>
        <p:nvSpPr>
          <p:cNvPr id="16" name="Text 12"/>
          <p:cNvSpPr/>
          <p:nvPr/>
        </p:nvSpPr>
        <p:spPr>
          <a:xfrm>
            <a:off x="6446520" y="3044952"/>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Identify attack patterns, severity levels and anomaly behaviour across attack types, protocols and geography.</a:t>
            </a:r>
            <a:endParaRPr lang="en-US" sz="1250" dirty="0"/>
          </a:p>
        </p:txBody>
      </p:sp>
      <p:sp>
        <p:nvSpPr>
          <p:cNvPr id="17" name="Shape 13"/>
          <p:cNvSpPr/>
          <p:nvPr/>
        </p:nvSpPr>
        <p:spPr>
          <a:xfrm>
            <a:off x="548640" y="4014216"/>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4"/>
          <p:cNvSpPr/>
          <p:nvPr/>
        </p:nvSpPr>
        <p:spPr>
          <a:xfrm>
            <a:off x="822960" y="4288536"/>
            <a:ext cx="713232" cy="713232"/>
          </a:xfrm>
          <a:prstGeom prst="roundRect">
            <a:avLst>
              <a:gd name="adj" fmla="val 11538"/>
            </a:avLst>
          </a:prstGeom>
          <a:solidFill>
            <a:srgbClr val="E9F2FE"/>
          </a:solidFill>
          <a:ln w="12700">
            <a:solidFill>
              <a:srgbClr val="1D6FE6">
                <a:alpha val="55000"/>
              </a:srgbClr>
            </a:solidFill>
            <a:prstDash val="solid"/>
          </a:ln>
        </p:spPr>
      </p:sp>
      <p:pic>
        <p:nvPicPr>
          <p:cNvPr id="19" name="Image 2" descr="preencoded.png"/>
          <p:cNvPicPr>
            <a:picLocks noChangeAspect="1"/>
          </p:cNvPicPr>
          <p:nvPr/>
        </p:nvPicPr>
        <p:blipFill>
          <a:blip r:embed="rId6"/>
          <a:stretch>
            <a:fillRect/>
          </a:stretch>
        </p:blipFill>
        <p:spPr>
          <a:xfrm>
            <a:off x="994136" y="4459712"/>
            <a:ext cx="370881" cy="370881"/>
          </a:xfrm>
          <a:prstGeom prst="rect">
            <a:avLst/>
          </a:prstGeom>
        </p:spPr>
      </p:pic>
      <p:sp>
        <p:nvSpPr>
          <p:cNvPr id="20" name="Text 15"/>
          <p:cNvSpPr/>
          <p:nvPr/>
        </p:nvSpPr>
        <p:spPr>
          <a:xfrm>
            <a:off x="4919472" y="4270248"/>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03</a:t>
            </a:r>
            <a:endParaRPr lang="en-US" sz="2600" dirty="0"/>
          </a:p>
        </p:txBody>
      </p:sp>
      <p:sp>
        <p:nvSpPr>
          <p:cNvPr id="21" name="Text 16"/>
          <p:cNvSpPr/>
          <p:nvPr/>
        </p:nvSpPr>
        <p:spPr>
          <a:xfrm>
            <a:off x="822960" y="5093208"/>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Monitor Behaviour &amp; Response</a:t>
            </a:r>
            <a:endParaRPr lang="en-US" sz="1700" dirty="0"/>
          </a:p>
        </p:txBody>
      </p:sp>
      <p:sp>
        <p:nvSpPr>
          <p:cNvPr id="22" name="Text 17"/>
          <p:cNvSpPr/>
          <p:nvPr/>
        </p:nvSpPr>
        <p:spPr>
          <a:xfrm>
            <a:off x="822960" y="5431536"/>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Track network traffic, user/device behaviour and how effectively incidents are blocked, logged or ignored.</a:t>
            </a:r>
            <a:endParaRPr lang="en-US" sz="1250" dirty="0"/>
          </a:p>
        </p:txBody>
      </p:sp>
      <p:sp>
        <p:nvSpPr>
          <p:cNvPr id="23" name="Shape 18"/>
          <p:cNvSpPr/>
          <p:nvPr/>
        </p:nvSpPr>
        <p:spPr>
          <a:xfrm>
            <a:off x="6172200" y="4014216"/>
            <a:ext cx="5285232" cy="2084832"/>
          </a:xfrm>
          <a:prstGeom prst="roundRect">
            <a:avLst>
              <a:gd name="adj" fmla="val 350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4" name="Shape 19"/>
          <p:cNvSpPr/>
          <p:nvPr/>
        </p:nvSpPr>
        <p:spPr>
          <a:xfrm>
            <a:off x="6446520" y="4288536"/>
            <a:ext cx="713232" cy="713232"/>
          </a:xfrm>
          <a:prstGeom prst="roundRect">
            <a:avLst>
              <a:gd name="adj" fmla="val 11538"/>
            </a:avLst>
          </a:prstGeom>
          <a:solidFill>
            <a:srgbClr val="E9F2FE"/>
          </a:solidFill>
          <a:ln w="12700">
            <a:solidFill>
              <a:srgbClr val="1D6FE6">
                <a:alpha val="55000"/>
              </a:srgbClr>
            </a:solidFill>
            <a:prstDash val="solid"/>
          </a:ln>
        </p:spPr>
      </p:sp>
      <p:pic>
        <p:nvPicPr>
          <p:cNvPr id="25" name="Image 3" descr="preencoded.png"/>
          <p:cNvPicPr>
            <a:picLocks noChangeAspect="1"/>
          </p:cNvPicPr>
          <p:nvPr/>
        </p:nvPicPr>
        <p:blipFill>
          <a:blip r:embed="rId7"/>
          <a:stretch>
            <a:fillRect/>
          </a:stretch>
        </p:blipFill>
        <p:spPr>
          <a:xfrm>
            <a:off x="6617696" y="4459712"/>
            <a:ext cx="370881" cy="370881"/>
          </a:xfrm>
          <a:prstGeom prst="rect">
            <a:avLst/>
          </a:prstGeom>
        </p:spPr>
      </p:pic>
      <p:sp>
        <p:nvSpPr>
          <p:cNvPr id="26" name="Text 20"/>
          <p:cNvSpPr/>
          <p:nvPr/>
        </p:nvSpPr>
        <p:spPr>
          <a:xfrm>
            <a:off x="10543032" y="4270248"/>
            <a:ext cx="685800" cy="457200"/>
          </a:xfrm>
          <a:prstGeom prst="rect">
            <a:avLst/>
          </a:prstGeom>
          <a:noFill/>
          <a:ln/>
        </p:spPr>
        <p:txBody>
          <a:bodyPr wrap="square" rtlCol="0" anchor="ctr"/>
          <a:lstStyle/>
          <a:p>
            <a:pPr marL="0" indent="0" algn="r">
              <a:buNone/>
            </a:pPr>
            <a:r>
              <a:rPr lang="en-US" sz="2600" b="1" dirty="0">
                <a:solidFill>
                  <a:srgbClr val="D8E8FB"/>
                </a:solidFill>
                <a:latin typeface="Bookman Old Style" pitchFamily="34" charset="0"/>
                <a:ea typeface="Bookman Old Style" pitchFamily="34" charset="-122"/>
                <a:cs typeface="Bookman Old Style" pitchFamily="34" charset="-120"/>
              </a:rPr>
              <a:t>04</a:t>
            </a:r>
            <a:endParaRPr lang="en-US" sz="2600" dirty="0"/>
          </a:p>
        </p:txBody>
      </p:sp>
      <p:sp>
        <p:nvSpPr>
          <p:cNvPr id="27" name="Text 21"/>
          <p:cNvSpPr/>
          <p:nvPr/>
        </p:nvSpPr>
        <p:spPr>
          <a:xfrm>
            <a:off x="6446520" y="5093208"/>
            <a:ext cx="4736592" cy="365760"/>
          </a:xfrm>
          <a:prstGeom prst="rect">
            <a:avLst/>
          </a:prstGeom>
          <a:noFill/>
          <a:ln/>
        </p:spPr>
        <p:txBody>
          <a:bodyPr wrap="square" rtlCol="0" anchor="ctr"/>
          <a:lstStyle/>
          <a:p>
            <a:pPr marL="0" indent="0" algn="l">
              <a:buNone/>
            </a:pPr>
            <a:r>
              <a:rPr lang="en-US" sz="1700" b="1" dirty="0">
                <a:solidFill>
                  <a:srgbClr val="16294A"/>
                </a:solidFill>
                <a:latin typeface="Bookman Old Style" pitchFamily="34" charset="0"/>
                <a:ea typeface="Bookman Old Style" pitchFamily="34" charset="-122"/>
                <a:cs typeface="Bookman Old Style" pitchFamily="34" charset="-120"/>
              </a:rPr>
              <a:t>Communicate Intelligence</a:t>
            </a:r>
            <a:endParaRPr lang="en-US" sz="1700" dirty="0"/>
          </a:p>
        </p:txBody>
      </p:sp>
      <p:sp>
        <p:nvSpPr>
          <p:cNvPr id="28" name="Text 22"/>
          <p:cNvSpPr/>
          <p:nvPr/>
        </p:nvSpPr>
        <p:spPr>
          <a:xfrm>
            <a:off x="6446520" y="5431536"/>
            <a:ext cx="4736592" cy="566928"/>
          </a:xfrm>
          <a:prstGeom prst="rect">
            <a:avLst/>
          </a:prstGeom>
          <a:noFill/>
          <a:ln/>
        </p:spPr>
        <p:txBody>
          <a:bodyPr wrap="square" rtlCol="0" anchor="ctr"/>
          <a:lstStyle/>
          <a:p>
            <a:pPr marL="0" indent="0" algn="l">
              <a:lnSpc>
                <a:spcPct val="103000"/>
              </a:lnSpc>
              <a:buNone/>
            </a:pPr>
            <a:r>
              <a:rPr lang="en-US" sz="1250" dirty="0">
                <a:solidFill>
                  <a:srgbClr val="51617C"/>
                </a:solidFill>
                <a:latin typeface="Calibri" pitchFamily="34" charset="0"/>
                <a:ea typeface="Calibri" pitchFamily="34" charset="-122"/>
                <a:cs typeface="Calibri" pitchFamily="34" charset="-120"/>
              </a:rPr>
              <a:t>Convert complex log data into clear KPIs and visuals for both technical analysts and non-technical audiences.</a:t>
            </a:r>
            <a:endParaRPr lang="en-US" sz="1250" dirty="0"/>
          </a:p>
        </p:txBody>
      </p:sp>
      <p:grpSp>
        <p:nvGrpSpPr>
          <p:cNvPr id="29" name="Group 18">
            <a:extLst>
              <a:ext uri="{FF2B5EF4-FFF2-40B4-BE49-F238E27FC236}">
                <a16:creationId xmlns:a16="http://schemas.microsoft.com/office/drawing/2014/main" xmlns="" id="{50592E1F-BB8E-802F-B42B-F7795514C939}"/>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0D2F6C41-5488-035D-C500-DC829B25B7B7}"/>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8"/>
              <a:stretch>
                <a:fillRect t="-365" b="-365"/>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3600" b="1" kern="0" spc="300" dirty="0">
                <a:solidFill>
                  <a:srgbClr val="1D6FE6"/>
                </a:solidFill>
                <a:latin typeface="Calibri" pitchFamily="34" charset="0"/>
                <a:ea typeface="Calibri" pitchFamily="34" charset="-122"/>
                <a:cs typeface="Calibri" pitchFamily="34" charset="-120"/>
              </a:rPr>
              <a:t>02 · PROJECT DESCRIPTION</a:t>
            </a:r>
            <a:endParaRPr lang="en-US" sz="36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Seven interconnected dashboards</a:t>
            </a:r>
            <a:endParaRPr lang="en-US" sz="2400" dirty="0"/>
          </a:p>
        </p:txBody>
      </p:sp>
      <p:sp>
        <p:nvSpPr>
          <p:cNvPr id="5" name="Text 3"/>
          <p:cNvSpPr/>
          <p:nvPr/>
        </p:nvSpPr>
        <p:spPr>
          <a:xfrm>
            <a:off x="548640" y="1481328"/>
            <a:ext cx="11064240" cy="777240"/>
          </a:xfrm>
          <a:prstGeom prst="rect">
            <a:avLst/>
          </a:prstGeom>
          <a:noFill/>
          <a:ln/>
        </p:spPr>
        <p:txBody>
          <a:bodyPr wrap="square" rtlCol="0" anchor="ctr"/>
          <a:lstStyle/>
          <a:p>
            <a:pPr marL="0" indent="0" algn="l">
              <a:lnSpc>
                <a:spcPct val="105000"/>
              </a:lnSpc>
              <a:buNone/>
            </a:pPr>
            <a:r>
              <a:rPr lang="en-US" sz="1350" dirty="0">
                <a:solidFill>
                  <a:srgbClr val="51617C"/>
                </a:solidFill>
                <a:latin typeface="Calibri" pitchFamily="34" charset="0"/>
                <a:ea typeface="Calibri" pitchFamily="34" charset="-122"/>
                <a:cs typeface="Calibri" pitchFamily="34" charset="-120"/>
              </a:rPr>
              <a:t>The Advanced Threat Incident Analytics &amp; Security Visualization Framework is built entirely in Microsoft Power BI on a 40,000-record Kaggle dataset spanning Jan 2020–Oct 2023 across 28 Indian states. </a:t>
            </a:r>
            <a:r>
              <a:rPr lang="en-US" sz="1350" b="1" dirty="0">
                <a:solidFill>
                  <a:srgbClr val="16294A"/>
                </a:solidFill>
                <a:latin typeface="Calibri" pitchFamily="34" charset="0"/>
                <a:ea typeface="Calibri" pitchFamily="34" charset="-122"/>
                <a:cs typeface="Calibri" pitchFamily="34" charset="-120"/>
              </a:rPr>
              <a:t>It transforms raw log data into seven themed, drill-able dashboards that give a 360° view of the threat landscape.</a:t>
            </a:r>
            <a:endParaRPr lang="en-US" sz="1350" dirty="0"/>
          </a:p>
        </p:txBody>
      </p:sp>
      <p:sp>
        <p:nvSpPr>
          <p:cNvPr id="6" name="Shape 4"/>
          <p:cNvSpPr/>
          <p:nvPr/>
        </p:nvSpPr>
        <p:spPr>
          <a:xfrm>
            <a:off x="548640"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7" name="Shape 5"/>
          <p:cNvSpPr/>
          <p:nvPr/>
        </p:nvSpPr>
        <p:spPr>
          <a:xfrm>
            <a:off x="786384"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8" name="Image 0" descr="preencoded.png"/>
          <p:cNvPicPr>
            <a:picLocks noChangeAspect="1"/>
          </p:cNvPicPr>
          <p:nvPr/>
        </p:nvPicPr>
        <p:blipFill>
          <a:blip r:embed="rId4"/>
          <a:stretch>
            <a:fillRect/>
          </a:stretch>
        </p:blipFill>
        <p:spPr>
          <a:xfrm>
            <a:off x="922447" y="2769535"/>
            <a:ext cx="294803" cy="294803"/>
          </a:xfrm>
          <a:prstGeom prst="rect">
            <a:avLst/>
          </a:prstGeom>
        </p:spPr>
      </p:pic>
      <p:sp>
        <p:nvSpPr>
          <p:cNvPr id="9" name="Text 6"/>
          <p:cNvSpPr/>
          <p:nvPr/>
        </p:nvSpPr>
        <p:spPr>
          <a:xfrm>
            <a:off x="1463040"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1</a:t>
            </a:r>
            <a:endParaRPr lang="en-US" sz="900" dirty="0"/>
          </a:p>
        </p:txBody>
      </p:sp>
      <p:sp>
        <p:nvSpPr>
          <p:cNvPr id="10" name="Text 7"/>
          <p:cNvSpPr/>
          <p:nvPr/>
        </p:nvSpPr>
        <p:spPr>
          <a:xfrm>
            <a:off x="1463040"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Cyber Security Attacks Analysis</a:t>
            </a:r>
            <a:endParaRPr lang="en-US" sz="1250" dirty="0"/>
          </a:p>
        </p:txBody>
      </p:sp>
      <p:sp>
        <p:nvSpPr>
          <p:cNvPr id="11" name="Text 8"/>
          <p:cNvSpPr/>
          <p:nvPr/>
        </p:nvSpPr>
        <p:spPr>
          <a:xfrm>
            <a:off x="786384"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KPI overview of attack volume, type, action and geographic spread.</a:t>
            </a:r>
            <a:endParaRPr lang="en-US" sz="1100" dirty="0"/>
          </a:p>
        </p:txBody>
      </p:sp>
      <p:sp>
        <p:nvSpPr>
          <p:cNvPr id="12" name="Shape 9"/>
          <p:cNvSpPr/>
          <p:nvPr/>
        </p:nvSpPr>
        <p:spPr>
          <a:xfrm>
            <a:off x="4325112"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3" name="Shape 10"/>
          <p:cNvSpPr/>
          <p:nvPr/>
        </p:nvSpPr>
        <p:spPr>
          <a:xfrm>
            <a:off x="4562856"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14" name="Image 1" descr="preencoded.png"/>
          <p:cNvPicPr>
            <a:picLocks noChangeAspect="1"/>
          </p:cNvPicPr>
          <p:nvPr/>
        </p:nvPicPr>
        <p:blipFill>
          <a:blip r:embed="rId5"/>
          <a:stretch>
            <a:fillRect/>
          </a:stretch>
        </p:blipFill>
        <p:spPr>
          <a:xfrm>
            <a:off x="4698919" y="2769535"/>
            <a:ext cx="294803" cy="294803"/>
          </a:xfrm>
          <a:prstGeom prst="rect">
            <a:avLst/>
          </a:prstGeom>
        </p:spPr>
      </p:pic>
      <p:sp>
        <p:nvSpPr>
          <p:cNvPr id="15" name="Text 11"/>
          <p:cNvSpPr/>
          <p:nvPr/>
        </p:nvSpPr>
        <p:spPr>
          <a:xfrm>
            <a:off x="5239512"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2</a:t>
            </a:r>
            <a:endParaRPr lang="en-US" sz="900" dirty="0"/>
          </a:p>
        </p:txBody>
      </p:sp>
      <p:sp>
        <p:nvSpPr>
          <p:cNvPr id="16" name="Text 12"/>
          <p:cNvSpPr/>
          <p:nvPr/>
        </p:nvSpPr>
        <p:spPr>
          <a:xfrm>
            <a:off x="5239512"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Threat Detection &amp; Anomaly</a:t>
            </a:r>
            <a:endParaRPr lang="en-US" sz="1250" dirty="0"/>
          </a:p>
        </p:txBody>
      </p:sp>
      <p:sp>
        <p:nvSpPr>
          <p:cNvPr id="17" name="Text 13"/>
          <p:cNvSpPr/>
          <p:nvPr/>
        </p:nvSpPr>
        <p:spPr>
          <a:xfrm>
            <a:off x="4562856"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Anomaly-score bands, gauge and interactive slicer-driven investigation.</a:t>
            </a:r>
            <a:endParaRPr lang="en-US" sz="1100" dirty="0"/>
          </a:p>
        </p:txBody>
      </p:sp>
      <p:sp>
        <p:nvSpPr>
          <p:cNvPr id="18" name="Shape 14"/>
          <p:cNvSpPr/>
          <p:nvPr/>
        </p:nvSpPr>
        <p:spPr>
          <a:xfrm>
            <a:off x="8101584" y="2395728"/>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9" name="Shape 15"/>
          <p:cNvSpPr/>
          <p:nvPr/>
        </p:nvSpPr>
        <p:spPr>
          <a:xfrm>
            <a:off x="8339328" y="2633472"/>
            <a:ext cx="566928" cy="566928"/>
          </a:xfrm>
          <a:prstGeom prst="roundRect">
            <a:avLst>
              <a:gd name="adj" fmla="val 14516"/>
            </a:avLst>
          </a:prstGeom>
          <a:solidFill>
            <a:srgbClr val="E9F2FE"/>
          </a:solidFill>
          <a:ln w="12700">
            <a:solidFill>
              <a:srgbClr val="1D6FE6">
                <a:alpha val="55000"/>
              </a:srgbClr>
            </a:solidFill>
            <a:prstDash val="solid"/>
          </a:ln>
        </p:spPr>
      </p:sp>
      <p:pic>
        <p:nvPicPr>
          <p:cNvPr id="20" name="Image 2" descr="preencoded.png"/>
          <p:cNvPicPr>
            <a:picLocks noChangeAspect="1"/>
          </p:cNvPicPr>
          <p:nvPr/>
        </p:nvPicPr>
        <p:blipFill>
          <a:blip r:embed="rId6"/>
          <a:stretch>
            <a:fillRect/>
          </a:stretch>
        </p:blipFill>
        <p:spPr>
          <a:xfrm>
            <a:off x="8475391" y="2769535"/>
            <a:ext cx="294803" cy="294803"/>
          </a:xfrm>
          <a:prstGeom prst="rect">
            <a:avLst/>
          </a:prstGeom>
        </p:spPr>
      </p:pic>
      <p:sp>
        <p:nvSpPr>
          <p:cNvPr id="21" name="Text 16"/>
          <p:cNvSpPr/>
          <p:nvPr/>
        </p:nvSpPr>
        <p:spPr>
          <a:xfrm>
            <a:off x="9015984" y="2651760"/>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3</a:t>
            </a:r>
            <a:endParaRPr lang="en-US" sz="900" dirty="0"/>
          </a:p>
        </p:txBody>
      </p:sp>
      <p:sp>
        <p:nvSpPr>
          <p:cNvPr id="22" name="Text 17"/>
          <p:cNvSpPr/>
          <p:nvPr/>
        </p:nvSpPr>
        <p:spPr>
          <a:xfrm>
            <a:off x="9015984" y="2852928"/>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Network Traffic Analysis</a:t>
            </a:r>
            <a:endParaRPr lang="en-US" sz="1250" dirty="0"/>
          </a:p>
        </p:txBody>
      </p:sp>
      <p:sp>
        <p:nvSpPr>
          <p:cNvPr id="23" name="Text 18"/>
          <p:cNvSpPr/>
          <p:nvPr/>
        </p:nvSpPr>
        <p:spPr>
          <a:xfrm>
            <a:off x="8339328" y="3328416"/>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Protocol, packet-type and severity behaviour across the network.</a:t>
            </a:r>
            <a:endParaRPr lang="en-US" sz="1100" dirty="0"/>
          </a:p>
        </p:txBody>
      </p:sp>
      <p:sp>
        <p:nvSpPr>
          <p:cNvPr id="24" name="Shape 19"/>
          <p:cNvSpPr/>
          <p:nvPr/>
        </p:nvSpPr>
        <p:spPr>
          <a:xfrm>
            <a:off x="548640"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5" name="Shape 20"/>
          <p:cNvSpPr/>
          <p:nvPr/>
        </p:nvSpPr>
        <p:spPr>
          <a:xfrm>
            <a:off x="786384"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26" name="Image 3" descr="preencoded.png"/>
          <p:cNvPicPr>
            <a:picLocks noChangeAspect="1"/>
          </p:cNvPicPr>
          <p:nvPr/>
        </p:nvPicPr>
        <p:blipFill>
          <a:blip r:embed="rId7"/>
          <a:stretch>
            <a:fillRect/>
          </a:stretch>
        </p:blipFill>
        <p:spPr>
          <a:xfrm>
            <a:off x="922447" y="4616623"/>
            <a:ext cx="294803" cy="294803"/>
          </a:xfrm>
          <a:prstGeom prst="rect">
            <a:avLst/>
          </a:prstGeom>
        </p:spPr>
      </p:pic>
      <p:sp>
        <p:nvSpPr>
          <p:cNvPr id="27" name="Text 21"/>
          <p:cNvSpPr/>
          <p:nvPr/>
        </p:nvSpPr>
        <p:spPr>
          <a:xfrm>
            <a:off x="1463040"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4</a:t>
            </a:r>
            <a:endParaRPr lang="en-US" sz="900" dirty="0"/>
          </a:p>
        </p:txBody>
      </p:sp>
      <p:sp>
        <p:nvSpPr>
          <p:cNvPr id="28" name="Text 22"/>
          <p:cNvSpPr/>
          <p:nvPr/>
        </p:nvSpPr>
        <p:spPr>
          <a:xfrm>
            <a:off x="1463040"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User Behaviour Analytics</a:t>
            </a:r>
            <a:endParaRPr lang="en-US" sz="1250" dirty="0"/>
          </a:p>
        </p:txBody>
      </p:sp>
      <p:sp>
        <p:nvSpPr>
          <p:cNvPr id="29" name="Text 23"/>
          <p:cNvSpPr/>
          <p:nvPr/>
        </p:nvSpPr>
        <p:spPr>
          <a:xfrm>
            <a:off x="786384"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OS/browser mix, user &amp; device metrics and top high-anomaly source IPs.</a:t>
            </a:r>
            <a:endParaRPr lang="en-US" sz="1100" dirty="0"/>
          </a:p>
        </p:txBody>
      </p:sp>
      <p:sp>
        <p:nvSpPr>
          <p:cNvPr id="30" name="Shape 24"/>
          <p:cNvSpPr/>
          <p:nvPr/>
        </p:nvSpPr>
        <p:spPr>
          <a:xfrm>
            <a:off x="4325112"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1" name="Shape 25"/>
          <p:cNvSpPr/>
          <p:nvPr/>
        </p:nvSpPr>
        <p:spPr>
          <a:xfrm>
            <a:off x="4562856"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32" name="Image 4" descr="preencoded.png"/>
          <p:cNvPicPr>
            <a:picLocks noChangeAspect="1"/>
          </p:cNvPicPr>
          <p:nvPr/>
        </p:nvPicPr>
        <p:blipFill>
          <a:blip r:embed="rId8"/>
          <a:stretch>
            <a:fillRect/>
          </a:stretch>
        </p:blipFill>
        <p:spPr>
          <a:xfrm>
            <a:off x="4698919" y="4616623"/>
            <a:ext cx="294803" cy="294803"/>
          </a:xfrm>
          <a:prstGeom prst="rect">
            <a:avLst/>
          </a:prstGeom>
        </p:spPr>
      </p:pic>
      <p:sp>
        <p:nvSpPr>
          <p:cNvPr id="33" name="Text 26"/>
          <p:cNvSpPr/>
          <p:nvPr/>
        </p:nvSpPr>
        <p:spPr>
          <a:xfrm>
            <a:off x="5239512"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5</a:t>
            </a:r>
            <a:endParaRPr lang="en-US" sz="900" dirty="0"/>
          </a:p>
        </p:txBody>
      </p:sp>
      <p:sp>
        <p:nvSpPr>
          <p:cNvPr id="34" name="Text 27"/>
          <p:cNvSpPr/>
          <p:nvPr/>
        </p:nvSpPr>
        <p:spPr>
          <a:xfrm>
            <a:off x="5239512"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Threat Profile &amp; Severity</a:t>
            </a:r>
            <a:endParaRPr lang="en-US" sz="1250" dirty="0"/>
          </a:p>
        </p:txBody>
      </p:sp>
      <p:sp>
        <p:nvSpPr>
          <p:cNvPr id="35" name="Text 28"/>
          <p:cNvSpPr/>
          <p:nvPr/>
        </p:nvSpPr>
        <p:spPr>
          <a:xfrm>
            <a:off x="4562856"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Decomposition tree, signatures and severity mix by network segment.</a:t>
            </a:r>
            <a:endParaRPr lang="en-US" sz="1100" dirty="0"/>
          </a:p>
        </p:txBody>
      </p:sp>
      <p:sp>
        <p:nvSpPr>
          <p:cNvPr id="36" name="Shape 29"/>
          <p:cNvSpPr/>
          <p:nvPr/>
        </p:nvSpPr>
        <p:spPr>
          <a:xfrm>
            <a:off x="8101584" y="4242816"/>
            <a:ext cx="3493008" cy="1572768"/>
          </a:xfrm>
          <a:prstGeom prst="roundRect">
            <a:avLst>
              <a:gd name="adj" fmla="val 465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7" name="Shape 30"/>
          <p:cNvSpPr/>
          <p:nvPr/>
        </p:nvSpPr>
        <p:spPr>
          <a:xfrm>
            <a:off x="8339328" y="4480560"/>
            <a:ext cx="566928" cy="566928"/>
          </a:xfrm>
          <a:prstGeom prst="roundRect">
            <a:avLst>
              <a:gd name="adj" fmla="val 14516"/>
            </a:avLst>
          </a:prstGeom>
          <a:solidFill>
            <a:srgbClr val="E9F2FE"/>
          </a:solidFill>
          <a:ln w="12700">
            <a:solidFill>
              <a:srgbClr val="1D6FE6">
                <a:alpha val="55000"/>
              </a:srgbClr>
            </a:solidFill>
            <a:prstDash val="solid"/>
          </a:ln>
        </p:spPr>
      </p:sp>
      <p:pic>
        <p:nvPicPr>
          <p:cNvPr id="38" name="Image 5" descr="preencoded.png"/>
          <p:cNvPicPr>
            <a:picLocks noChangeAspect="1"/>
          </p:cNvPicPr>
          <p:nvPr/>
        </p:nvPicPr>
        <p:blipFill>
          <a:blip r:embed="rId9"/>
          <a:stretch>
            <a:fillRect/>
          </a:stretch>
        </p:blipFill>
        <p:spPr>
          <a:xfrm>
            <a:off x="8475391" y="4616623"/>
            <a:ext cx="294803" cy="294803"/>
          </a:xfrm>
          <a:prstGeom prst="rect">
            <a:avLst/>
          </a:prstGeom>
        </p:spPr>
      </p:pic>
      <p:sp>
        <p:nvSpPr>
          <p:cNvPr id="39" name="Text 31"/>
          <p:cNvSpPr/>
          <p:nvPr/>
        </p:nvSpPr>
        <p:spPr>
          <a:xfrm>
            <a:off x="9015984" y="4498848"/>
            <a:ext cx="2395728" cy="219456"/>
          </a:xfrm>
          <a:prstGeom prst="rect">
            <a:avLst/>
          </a:prstGeom>
          <a:noFill/>
          <a:ln/>
        </p:spPr>
        <p:txBody>
          <a:bodyPr wrap="square" rtlCol="0" anchor="ctr"/>
          <a:lstStyle/>
          <a:p>
            <a:pPr marL="0" indent="0">
              <a:buNone/>
            </a:pPr>
            <a:r>
              <a:rPr lang="en-US" sz="900" b="1" kern="0" spc="150" dirty="0">
                <a:solidFill>
                  <a:srgbClr val="1D6FE6"/>
                </a:solidFill>
                <a:latin typeface="Calibri" pitchFamily="34" charset="0"/>
                <a:ea typeface="Calibri" pitchFamily="34" charset="-122"/>
                <a:cs typeface="Calibri" pitchFamily="34" charset="-120"/>
              </a:rPr>
              <a:t>MODULE 6</a:t>
            </a:r>
            <a:endParaRPr lang="en-US" sz="900" dirty="0"/>
          </a:p>
        </p:txBody>
      </p:sp>
      <p:sp>
        <p:nvSpPr>
          <p:cNvPr id="40" name="Text 32"/>
          <p:cNvSpPr/>
          <p:nvPr/>
        </p:nvSpPr>
        <p:spPr>
          <a:xfrm>
            <a:off x="9015984" y="4700016"/>
            <a:ext cx="2395728" cy="384048"/>
          </a:xfrm>
          <a:prstGeom prst="rect">
            <a:avLst/>
          </a:prstGeom>
          <a:noFill/>
          <a:ln/>
        </p:spPr>
        <p:txBody>
          <a:bodyPr wrap="square" rtlCol="0" anchor="ctr"/>
          <a:lstStyle/>
          <a:p>
            <a:pPr marL="0" indent="0">
              <a:buNone/>
            </a:pPr>
            <a:r>
              <a:rPr lang="en-US" sz="1250" b="1" dirty="0">
                <a:solidFill>
                  <a:srgbClr val="16294A"/>
                </a:solidFill>
                <a:latin typeface="Bookman Old Style" pitchFamily="34" charset="0"/>
                <a:ea typeface="Bookman Old Style" pitchFamily="34" charset="-122"/>
                <a:cs typeface="Bookman Old Style" pitchFamily="34" charset="-120"/>
              </a:rPr>
              <a:t>Alert Monitoring &amp; Response</a:t>
            </a:r>
            <a:endParaRPr lang="en-US" sz="1250" dirty="0"/>
          </a:p>
        </p:txBody>
      </p:sp>
      <p:sp>
        <p:nvSpPr>
          <p:cNvPr id="41" name="Text 33"/>
          <p:cNvSpPr/>
          <p:nvPr/>
        </p:nvSpPr>
        <p:spPr>
          <a:xfrm>
            <a:off x="8339328" y="5175504"/>
            <a:ext cx="3017520" cy="548640"/>
          </a:xfrm>
          <a:prstGeom prst="rect">
            <a:avLst/>
          </a:prstGeom>
          <a:noFill/>
          <a:ln/>
        </p:spPr>
        <p:txBody>
          <a:bodyPr wrap="square" rtlCol="0" anchor="ctr"/>
          <a:lstStyle/>
          <a:p>
            <a:pPr marL="0" indent="0">
              <a:lnSpc>
                <a:spcPct val="100000"/>
              </a:lnSpc>
              <a:buNone/>
            </a:pPr>
            <a:r>
              <a:rPr lang="en-US" sz="1100" dirty="0">
                <a:solidFill>
                  <a:srgbClr val="51617C"/>
                </a:solidFill>
                <a:latin typeface="Calibri" pitchFamily="34" charset="0"/>
                <a:ea typeface="Calibri" pitchFamily="34" charset="-122"/>
                <a:cs typeface="Calibri" pitchFamily="34" charset="-120"/>
              </a:rPr>
              <a:t>Alert / IDS coverage, block-rate trends and response effectiveness.</a:t>
            </a:r>
            <a:endParaRPr lang="en-US" sz="1100" dirty="0"/>
          </a:p>
        </p:txBody>
      </p:sp>
      <p:grpSp>
        <p:nvGrpSpPr>
          <p:cNvPr id="42" name="Group 18">
            <a:extLst>
              <a:ext uri="{FF2B5EF4-FFF2-40B4-BE49-F238E27FC236}">
                <a16:creationId xmlns:a16="http://schemas.microsoft.com/office/drawing/2014/main" xmlns="" id="{7B102E00-855B-A1E3-914A-C2E59A2407C2}"/>
              </a:ext>
            </a:extLst>
          </p:cNvPr>
          <p:cNvGrpSpPr/>
          <p:nvPr/>
        </p:nvGrpSpPr>
        <p:grpSpPr>
          <a:xfrm>
            <a:off x="127718" y="92211"/>
            <a:ext cx="1168193" cy="227829"/>
            <a:chOff x="0" y="0"/>
            <a:chExt cx="3584702" cy="861695"/>
          </a:xfrm>
        </p:grpSpPr>
        <p:sp>
          <p:nvSpPr>
            <p:cNvPr id="43" name="Freeform 19">
              <a:extLst>
                <a:ext uri="{FF2B5EF4-FFF2-40B4-BE49-F238E27FC236}">
                  <a16:creationId xmlns:a16="http://schemas.microsoft.com/office/drawing/2014/main" xmlns="" id="{F7797FC5-88F5-D82F-D4D0-C3288B5FD9D6}"/>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10"/>
              <a:stretch>
                <a:fillRect t="-365" b="-365"/>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03 · TOP VISUALIZATIONS / COMPONENTS USED</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The visual toolkit behind the framework</a:t>
            </a:r>
            <a:endParaRPr lang="en-US" sz="2400" dirty="0"/>
          </a:p>
        </p:txBody>
      </p:sp>
      <p:sp>
        <p:nvSpPr>
          <p:cNvPr id="5" name="Text 3"/>
          <p:cNvSpPr/>
          <p:nvPr/>
        </p:nvSpPr>
        <p:spPr>
          <a:xfrm>
            <a:off x="1371600" y="1481328"/>
            <a:ext cx="3017520" cy="256032"/>
          </a:xfrm>
          <a:prstGeom prst="rect">
            <a:avLst/>
          </a:prstGeom>
          <a:noFill/>
          <a:ln/>
        </p:spPr>
        <p:txBody>
          <a:bodyPr wrap="square" rtlCol="0" anchor="ctr"/>
          <a:lstStyle/>
          <a:p>
            <a:pPr marL="0" indent="0">
              <a:buNone/>
            </a:pPr>
            <a:r>
              <a:rPr lang="en-US" sz="1000" b="1" kern="0" spc="150" dirty="0">
                <a:solidFill>
                  <a:srgbClr val="6E7E98"/>
                </a:solidFill>
                <a:latin typeface="Calibri" pitchFamily="34" charset="0"/>
                <a:ea typeface="Calibri" pitchFamily="34" charset="-122"/>
                <a:cs typeface="Calibri" pitchFamily="34" charset="-120"/>
              </a:rPr>
              <a:t>VISUAL TYPE</a:t>
            </a:r>
            <a:endParaRPr lang="en-US" sz="1000" dirty="0"/>
          </a:p>
        </p:txBody>
      </p:sp>
      <p:sp>
        <p:nvSpPr>
          <p:cNvPr id="6" name="Text 4"/>
          <p:cNvSpPr/>
          <p:nvPr/>
        </p:nvSpPr>
        <p:spPr>
          <a:xfrm>
            <a:off x="4526280" y="1481328"/>
            <a:ext cx="6858000" cy="256032"/>
          </a:xfrm>
          <a:prstGeom prst="rect">
            <a:avLst/>
          </a:prstGeom>
          <a:noFill/>
          <a:ln/>
        </p:spPr>
        <p:txBody>
          <a:bodyPr wrap="square" rtlCol="0" anchor="ctr"/>
          <a:lstStyle/>
          <a:p>
            <a:pPr marL="0" indent="0">
              <a:buNone/>
            </a:pPr>
            <a:r>
              <a:rPr lang="en-US" sz="1000" b="1" kern="0" spc="150" dirty="0">
                <a:solidFill>
                  <a:srgbClr val="6E7E98"/>
                </a:solidFill>
                <a:latin typeface="Calibri" pitchFamily="34" charset="0"/>
                <a:ea typeface="Calibri" pitchFamily="34" charset="-122"/>
                <a:cs typeface="Calibri" pitchFamily="34" charset="-120"/>
              </a:rPr>
              <a:t>PURPOSE  /  WHAT IT SHOWS</a:t>
            </a:r>
            <a:endParaRPr lang="en-US" sz="1000" dirty="0"/>
          </a:p>
        </p:txBody>
      </p:sp>
      <p:sp>
        <p:nvSpPr>
          <p:cNvPr id="7" name="Shape 5"/>
          <p:cNvSpPr/>
          <p:nvPr/>
        </p:nvSpPr>
        <p:spPr>
          <a:xfrm>
            <a:off x="548640" y="1828800"/>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8" name="Shape 6"/>
          <p:cNvSpPr/>
          <p:nvPr/>
        </p:nvSpPr>
        <p:spPr>
          <a:xfrm>
            <a:off x="658368" y="1901952"/>
            <a:ext cx="457200" cy="457200"/>
          </a:xfrm>
          <a:prstGeom prst="roundRect">
            <a:avLst>
              <a:gd name="adj" fmla="val 18000"/>
            </a:avLst>
          </a:prstGeom>
          <a:solidFill>
            <a:srgbClr val="E9F2FE"/>
          </a:solidFill>
          <a:ln w="12700">
            <a:solidFill>
              <a:srgbClr val="1D6FE6">
                <a:alpha val="55000"/>
              </a:srgbClr>
            </a:solidFill>
            <a:prstDash val="solid"/>
          </a:ln>
        </p:spPr>
      </p:sp>
      <p:pic>
        <p:nvPicPr>
          <p:cNvPr id="9" name="Image 0" descr="preencoded.png"/>
          <p:cNvPicPr>
            <a:picLocks noChangeAspect="1"/>
          </p:cNvPicPr>
          <p:nvPr/>
        </p:nvPicPr>
        <p:blipFill>
          <a:blip r:embed="rId4"/>
          <a:stretch>
            <a:fillRect/>
          </a:stretch>
        </p:blipFill>
        <p:spPr>
          <a:xfrm>
            <a:off x="768096" y="2011680"/>
            <a:ext cx="237744" cy="237744"/>
          </a:xfrm>
          <a:prstGeom prst="rect">
            <a:avLst/>
          </a:prstGeom>
        </p:spPr>
      </p:pic>
      <p:sp>
        <p:nvSpPr>
          <p:cNvPr id="10" name="Text 7"/>
          <p:cNvSpPr/>
          <p:nvPr/>
        </p:nvSpPr>
        <p:spPr>
          <a:xfrm>
            <a:off x="1371600" y="1828800"/>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KPI Cards &amp; Gauges</a:t>
            </a:r>
            <a:endParaRPr lang="en-US" sz="1350" dirty="0"/>
          </a:p>
        </p:txBody>
      </p:sp>
      <p:sp>
        <p:nvSpPr>
          <p:cNvPr id="11" name="Text 8"/>
          <p:cNvSpPr/>
          <p:nvPr/>
        </p:nvSpPr>
        <p:spPr>
          <a:xfrm>
            <a:off x="4526280" y="1828800"/>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Headline metrics - Total Attacks (40K), High Severity, Block Rate % and Malware Detected.</a:t>
            </a:r>
            <a:endParaRPr lang="en-US" sz="1150" dirty="0"/>
          </a:p>
        </p:txBody>
      </p:sp>
      <p:sp>
        <p:nvSpPr>
          <p:cNvPr id="12" name="Shape 9"/>
          <p:cNvSpPr/>
          <p:nvPr/>
        </p:nvSpPr>
        <p:spPr>
          <a:xfrm>
            <a:off x="548640" y="2500884"/>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3" name="Shape 10"/>
          <p:cNvSpPr/>
          <p:nvPr/>
        </p:nvSpPr>
        <p:spPr>
          <a:xfrm>
            <a:off x="658368" y="2574036"/>
            <a:ext cx="457200" cy="457200"/>
          </a:xfrm>
          <a:prstGeom prst="roundRect">
            <a:avLst>
              <a:gd name="adj" fmla="val 18000"/>
            </a:avLst>
          </a:prstGeom>
          <a:solidFill>
            <a:srgbClr val="E9F2FE"/>
          </a:solidFill>
          <a:ln w="12700">
            <a:solidFill>
              <a:srgbClr val="1D6FE6">
                <a:alpha val="55000"/>
              </a:srgbClr>
            </a:solidFill>
            <a:prstDash val="solid"/>
          </a:ln>
        </p:spPr>
      </p:sp>
      <p:pic>
        <p:nvPicPr>
          <p:cNvPr id="14" name="Image 1" descr="preencoded.png"/>
          <p:cNvPicPr>
            <a:picLocks noChangeAspect="1"/>
          </p:cNvPicPr>
          <p:nvPr/>
        </p:nvPicPr>
        <p:blipFill>
          <a:blip r:embed="rId5"/>
          <a:stretch>
            <a:fillRect/>
          </a:stretch>
        </p:blipFill>
        <p:spPr>
          <a:xfrm>
            <a:off x="768096" y="2683764"/>
            <a:ext cx="237744" cy="237744"/>
          </a:xfrm>
          <a:prstGeom prst="rect">
            <a:avLst/>
          </a:prstGeom>
        </p:spPr>
      </p:pic>
      <p:sp>
        <p:nvSpPr>
          <p:cNvPr id="15" name="Text 11"/>
          <p:cNvSpPr/>
          <p:nvPr/>
        </p:nvSpPr>
        <p:spPr>
          <a:xfrm>
            <a:off x="1371600" y="2500884"/>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Donut &amp; Pie Charts</a:t>
            </a:r>
            <a:endParaRPr lang="en-US" sz="1350" dirty="0"/>
          </a:p>
        </p:txBody>
      </p:sp>
      <p:sp>
        <p:nvSpPr>
          <p:cNvPr id="16" name="Text 12"/>
          <p:cNvSpPr/>
          <p:nvPr/>
        </p:nvSpPr>
        <p:spPr>
          <a:xfrm>
            <a:off x="4526280" y="2500884"/>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Composition of attack types, action taken and anomaly-score bands at a glance.</a:t>
            </a:r>
            <a:endParaRPr lang="en-US" sz="1150" dirty="0"/>
          </a:p>
        </p:txBody>
      </p:sp>
      <p:sp>
        <p:nvSpPr>
          <p:cNvPr id="17" name="Shape 13"/>
          <p:cNvSpPr/>
          <p:nvPr/>
        </p:nvSpPr>
        <p:spPr>
          <a:xfrm>
            <a:off x="548640" y="3172968"/>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4"/>
          <p:cNvSpPr/>
          <p:nvPr/>
        </p:nvSpPr>
        <p:spPr>
          <a:xfrm>
            <a:off x="658368" y="3246120"/>
            <a:ext cx="457200" cy="457200"/>
          </a:xfrm>
          <a:prstGeom prst="roundRect">
            <a:avLst>
              <a:gd name="adj" fmla="val 18000"/>
            </a:avLst>
          </a:prstGeom>
          <a:solidFill>
            <a:srgbClr val="E9F2FE"/>
          </a:solidFill>
          <a:ln w="12700">
            <a:solidFill>
              <a:srgbClr val="1D6FE6">
                <a:alpha val="55000"/>
              </a:srgbClr>
            </a:solidFill>
            <a:prstDash val="solid"/>
          </a:ln>
        </p:spPr>
      </p:sp>
      <p:pic>
        <p:nvPicPr>
          <p:cNvPr id="19" name="Image 2" descr="preencoded.png"/>
          <p:cNvPicPr>
            <a:picLocks noChangeAspect="1"/>
          </p:cNvPicPr>
          <p:nvPr/>
        </p:nvPicPr>
        <p:blipFill>
          <a:blip r:embed="rId6"/>
          <a:stretch>
            <a:fillRect/>
          </a:stretch>
        </p:blipFill>
        <p:spPr>
          <a:xfrm>
            <a:off x="768096" y="3355848"/>
            <a:ext cx="237744" cy="237744"/>
          </a:xfrm>
          <a:prstGeom prst="rect">
            <a:avLst/>
          </a:prstGeom>
        </p:spPr>
      </p:pic>
      <p:sp>
        <p:nvSpPr>
          <p:cNvPr id="20" name="Text 15"/>
          <p:cNvSpPr/>
          <p:nvPr/>
        </p:nvSpPr>
        <p:spPr>
          <a:xfrm>
            <a:off x="1371600" y="3172968"/>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Decomposition Tree</a:t>
            </a:r>
            <a:endParaRPr lang="en-US" sz="1350" dirty="0"/>
          </a:p>
        </p:txBody>
      </p:sp>
      <p:sp>
        <p:nvSpPr>
          <p:cNvPr id="21" name="Text 16"/>
          <p:cNvSpPr/>
          <p:nvPr/>
        </p:nvSpPr>
        <p:spPr>
          <a:xfrm>
            <a:off x="4526280" y="3172968"/>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Interactive drill from total attacks → attack type → severity level.</a:t>
            </a:r>
            <a:endParaRPr lang="en-US" sz="1150" dirty="0"/>
          </a:p>
        </p:txBody>
      </p:sp>
      <p:sp>
        <p:nvSpPr>
          <p:cNvPr id="22" name="Shape 17"/>
          <p:cNvSpPr/>
          <p:nvPr/>
        </p:nvSpPr>
        <p:spPr>
          <a:xfrm>
            <a:off x="548640" y="3845052"/>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3" name="Shape 18"/>
          <p:cNvSpPr/>
          <p:nvPr/>
        </p:nvSpPr>
        <p:spPr>
          <a:xfrm>
            <a:off x="658368" y="3918204"/>
            <a:ext cx="457200" cy="457200"/>
          </a:xfrm>
          <a:prstGeom prst="roundRect">
            <a:avLst>
              <a:gd name="adj" fmla="val 18000"/>
            </a:avLst>
          </a:prstGeom>
          <a:solidFill>
            <a:srgbClr val="E9F2FE"/>
          </a:solidFill>
          <a:ln w="12700">
            <a:solidFill>
              <a:srgbClr val="1D6FE6">
                <a:alpha val="55000"/>
              </a:srgbClr>
            </a:solidFill>
            <a:prstDash val="solid"/>
          </a:ln>
        </p:spPr>
      </p:sp>
      <p:pic>
        <p:nvPicPr>
          <p:cNvPr id="24" name="Image 3" descr="preencoded.png"/>
          <p:cNvPicPr>
            <a:picLocks noChangeAspect="1"/>
          </p:cNvPicPr>
          <p:nvPr/>
        </p:nvPicPr>
        <p:blipFill>
          <a:blip r:embed="rId7"/>
          <a:stretch>
            <a:fillRect/>
          </a:stretch>
        </p:blipFill>
        <p:spPr>
          <a:xfrm>
            <a:off x="768096" y="4027932"/>
            <a:ext cx="237744" cy="237744"/>
          </a:xfrm>
          <a:prstGeom prst="rect">
            <a:avLst/>
          </a:prstGeom>
        </p:spPr>
      </p:pic>
      <p:sp>
        <p:nvSpPr>
          <p:cNvPr id="25" name="Text 19"/>
          <p:cNvSpPr/>
          <p:nvPr/>
        </p:nvSpPr>
        <p:spPr>
          <a:xfrm>
            <a:off x="1371600" y="3845052"/>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Geographic Map</a:t>
            </a:r>
            <a:endParaRPr lang="en-US" sz="1350" dirty="0"/>
          </a:p>
        </p:txBody>
      </p:sp>
      <p:sp>
        <p:nvSpPr>
          <p:cNvPr id="26" name="Text 20"/>
          <p:cNvSpPr/>
          <p:nvPr/>
        </p:nvSpPr>
        <p:spPr>
          <a:xfrm>
            <a:off x="4526280" y="3845052"/>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Attack volume and type plotted across 28 Indian states and cities.</a:t>
            </a:r>
            <a:endParaRPr lang="en-US" sz="1150" dirty="0"/>
          </a:p>
        </p:txBody>
      </p:sp>
      <p:sp>
        <p:nvSpPr>
          <p:cNvPr id="27" name="Shape 21"/>
          <p:cNvSpPr/>
          <p:nvPr/>
        </p:nvSpPr>
        <p:spPr>
          <a:xfrm>
            <a:off x="548640" y="4517136"/>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8" name="Shape 22"/>
          <p:cNvSpPr/>
          <p:nvPr/>
        </p:nvSpPr>
        <p:spPr>
          <a:xfrm>
            <a:off x="658368" y="4590288"/>
            <a:ext cx="457200" cy="457200"/>
          </a:xfrm>
          <a:prstGeom prst="roundRect">
            <a:avLst>
              <a:gd name="adj" fmla="val 18000"/>
            </a:avLst>
          </a:prstGeom>
          <a:solidFill>
            <a:srgbClr val="E9F2FE"/>
          </a:solidFill>
          <a:ln w="12700">
            <a:solidFill>
              <a:srgbClr val="1D6FE6">
                <a:alpha val="55000"/>
              </a:srgbClr>
            </a:solidFill>
            <a:prstDash val="solid"/>
          </a:ln>
        </p:spPr>
      </p:sp>
      <p:pic>
        <p:nvPicPr>
          <p:cNvPr id="29" name="Image 4" descr="preencoded.png"/>
          <p:cNvPicPr>
            <a:picLocks noChangeAspect="1"/>
          </p:cNvPicPr>
          <p:nvPr/>
        </p:nvPicPr>
        <p:blipFill>
          <a:blip r:embed="rId8"/>
          <a:stretch>
            <a:fillRect/>
          </a:stretch>
        </p:blipFill>
        <p:spPr>
          <a:xfrm>
            <a:off x="768096" y="4700016"/>
            <a:ext cx="237744" cy="237744"/>
          </a:xfrm>
          <a:prstGeom prst="rect">
            <a:avLst/>
          </a:prstGeom>
        </p:spPr>
      </p:pic>
      <p:sp>
        <p:nvSpPr>
          <p:cNvPr id="30" name="Text 23"/>
          <p:cNvSpPr/>
          <p:nvPr/>
        </p:nvSpPr>
        <p:spPr>
          <a:xfrm>
            <a:off x="1371600" y="4517136"/>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Ribbon &amp; Waterfall</a:t>
            </a:r>
            <a:endParaRPr lang="en-US" sz="1350" dirty="0"/>
          </a:p>
        </p:txBody>
      </p:sp>
      <p:sp>
        <p:nvSpPr>
          <p:cNvPr id="31" name="Text 24"/>
          <p:cNvSpPr/>
          <p:nvPr/>
        </p:nvSpPr>
        <p:spPr>
          <a:xfrm>
            <a:off x="4526280" y="4517136"/>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Rank shifts of attack types over time and block-rate contribution by class.</a:t>
            </a:r>
            <a:endParaRPr lang="en-US" sz="1150" dirty="0"/>
          </a:p>
        </p:txBody>
      </p:sp>
      <p:sp>
        <p:nvSpPr>
          <p:cNvPr id="32" name="Shape 25"/>
          <p:cNvSpPr/>
          <p:nvPr/>
        </p:nvSpPr>
        <p:spPr>
          <a:xfrm>
            <a:off x="548640" y="5189220"/>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3" name="Shape 26"/>
          <p:cNvSpPr/>
          <p:nvPr/>
        </p:nvSpPr>
        <p:spPr>
          <a:xfrm>
            <a:off x="658368" y="5262372"/>
            <a:ext cx="457200" cy="457200"/>
          </a:xfrm>
          <a:prstGeom prst="roundRect">
            <a:avLst>
              <a:gd name="adj" fmla="val 18000"/>
            </a:avLst>
          </a:prstGeom>
          <a:solidFill>
            <a:srgbClr val="E9F2FE"/>
          </a:solidFill>
          <a:ln w="12700">
            <a:solidFill>
              <a:srgbClr val="1D6FE6">
                <a:alpha val="55000"/>
              </a:srgbClr>
            </a:solidFill>
            <a:prstDash val="solid"/>
          </a:ln>
        </p:spPr>
      </p:sp>
      <p:pic>
        <p:nvPicPr>
          <p:cNvPr id="34" name="Image 5" descr="preencoded.png"/>
          <p:cNvPicPr>
            <a:picLocks noChangeAspect="1"/>
          </p:cNvPicPr>
          <p:nvPr/>
        </p:nvPicPr>
        <p:blipFill>
          <a:blip r:embed="rId9"/>
          <a:stretch>
            <a:fillRect/>
          </a:stretch>
        </p:blipFill>
        <p:spPr>
          <a:xfrm>
            <a:off x="768096" y="5372100"/>
            <a:ext cx="237744" cy="237744"/>
          </a:xfrm>
          <a:prstGeom prst="rect">
            <a:avLst/>
          </a:prstGeom>
        </p:spPr>
      </p:pic>
      <p:sp>
        <p:nvSpPr>
          <p:cNvPr id="35" name="Text 27"/>
          <p:cNvSpPr/>
          <p:nvPr/>
        </p:nvSpPr>
        <p:spPr>
          <a:xfrm>
            <a:off x="1371600" y="5189220"/>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Sankey Diagram</a:t>
            </a:r>
            <a:endParaRPr lang="en-US" sz="1350" dirty="0"/>
          </a:p>
        </p:txBody>
      </p:sp>
      <p:sp>
        <p:nvSpPr>
          <p:cNvPr id="36" name="Text 28"/>
          <p:cNvSpPr/>
          <p:nvPr/>
        </p:nvSpPr>
        <p:spPr>
          <a:xfrm>
            <a:off x="4526280" y="5189220"/>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Flow of every attack type into its Blocked / Ignored / Logged outcome.</a:t>
            </a:r>
            <a:endParaRPr lang="en-US" sz="1150" dirty="0"/>
          </a:p>
        </p:txBody>
      </p:sp>
      <p:sp>
        <p:nvSpPr>
          <p:cNvPr id="37" name="Shape 29"/>
          <p:cNvSpPr/>
          <p:nvPr/>
        </p:nvSpPr>
        <p:spPr>
          <a:xfrm>
            <a:off x="548640" y="5861304"/>
            <a:ext cx="11091672" cy="603504"/>
          </a:xfrm>
          <a:prstGeom prst="roundRect">
            <a:avLst>
              <a:gd name="adj" fmla="val 1212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38" name="Shape 30"/>
          <p:cNvSpPr/>
          <p:nvPr/>
        </p:nvSpPr>
        <p:spPr>
          <a:xfrm>
            <a:off x="658368" y="5934456"/>
            <a:ext cx="457200" cy="457200"/>
          </a:xfrm>
          <a:prstGeom prst="roundRect">
            <a:avLst>
              <a:gd name="adj" fmla="val 18000"/>
            </a:avLst>
          </a:prstGeom>
          <a:solidFill>
            <a:srgbClr val="E9F2FE"/>
          </a:solidFill>
          <a:ln w="12700">
            <a:solidFill>
              <a:srgbClr val="1D6FE6">
                <a:alpha val="55000"/>
              </a:srgbClr>
            </a:solidFill>
            <a:prstDash val="solid"/>
          </a:ln>
        </p:spPr>
      </p:sp>
      <p:pic>
        <p:nvPicPr>
          <p:cNvPr id="39" name="Image 6" descr="preencoded.png"/>
          <p:cNvPicPr>
            <a:picLocks noChangeAspect="1"/>
          </p:cNvPicPr>
          <p:nvPr/>
        </p:nvPicPr>
        <p:blipFill>
          <a:blip r:embed="rId10"/>
          <a:stretch>
            <a:fillRect/>
          </a:stretch>
        </p:blipFill>
        <p:spPr>
          <a:xfrm>
            <a:off x="768096" y="6044184"/>
            <a:ext cx="237744" cy="237744"/>
          </a:xfrm>
          <a:prstGeom prst="rect">
            <a:avLst/>
          </a:prstGeom>
        </p:spPr>
      </p:pic>
      <p:sp>
        <p:nvSpPr>
          <p:cNvPr id="40" name="Text 31"/>
          <p:cNvSpPr/>
          <p:nvPr/>
        </p:nvSpPr>
        <p:spPr>
          <a:xfrm>
            <a:off x="1371600" y="5861304"/>
            <a:ext cx="3063240" cy="603504"/>
          </a:xfrm>
          <a:prstGeom prst="rect">
            <a:avLst/>
          </a:prstGeom>
          <a:noFill/>
          <a:ln/>
        </p:spPr>
        <p:txBody>
          <a:bodyPr wrap="square" rtlCol="0" anchor="ctr"/>
          <a:lstStyle/>
          <a:p>
            <a:pPr marL="0" indent="0" algn="l">
              <a:buNone/>
            </a:pPr>
            <a:r>
              <a:rPr lang="en-US" sz="1350" b="1" dirty="0">
                <a:solidFill>
                  <a:srgbClr val="16294A"/>
                </a:solidFill>
                <a:latin typeface="Bookman Old Style" pitchFamily="34" charset="0"/>
                <a:ea typeface="Bookman Old Style" pitchFamily="34" charset="-122"/>
                <a:cs typeface="Bookman Old Style" pitchFamily="34" charset="-120"/>
              </a:rPr>
              <a:t>Gauge &amp; Key Influencers</a:t>
            </a:r>
            <a:endParaRPr lang="en-US" sz="1350" dirty="0"/>
          </a:p>
        </p:txBody>
      </p:sp>
      <p:sp>
        <p:nvSpPr>
          <p:cNvPr id="41" name="Text 32"/>
          <p:cNvSpPr/>
          <p:nvPr/>
        </p:nvSpPr>
        <p:spPr>
          <a:xfrm>
            <a:off x="4526280" y="5861304"/>
            <a:ext cx="6903720" cy="603504"/>
          </a:xfrm>
          <a:prstGeom prst="rect">
            <a:avLst/>
          </a:prstGeom>
          <a:noFill/>
          <a:ln/>
        </p:spPr>
        <p:txBody>
          <a:bodyPr wrap="square" rtlCol="0" anchor="ctr"/>
          <a:lstStyle/>
          <a:p>
            <a:pPr marL="0" indent="0" algn="l">
              <a:lnSpc>
                <a:spcPct val="98000"/>
              </a:lnSpc>
              <a:buNone/>
            </a:pPr>
            <a:r>
              <a:rPr lang="en-US" sz="1150" dirty="0">
                <a:solidFill>
                  <a:srgbClr val="51617C"/>
                </a:solidFill>
                <a:latin typeface="Calibri" pitchFamily="34" charset="0"/>
                <a:ea typeface="Calibri" pitchFamily="34" charset="-122"/>
                <a:cs typeface="Calibri" pitchFamily="34" charset="-120"/>
              </a:rPr>
              <a:t>Average anomaly score and the factors that drive a 'Blocked' outcome.</a:t>
            </a:r>
            <a:endParaRPr lang="en-US" sz="1150" dirty="0"/>
          </a:p>
        </p:txBody>
      </p:sp>
      <p:grpSp>
        <p:nvGrpSpPr>
          <p:cNvPr id="42" name="Group 18">
            <a:extLst>
              <a:ext uri="{FF2B5EF4-FFF2-40B4-BE49-F238E27FC236}">
                <a16:creationId xmlns:a16="http://schemas.microsoft.com/office/drawing/2014/main" xmlns="" id="{09F4B6F9-48E9-1D92-CA51-5F4B3448AFBE}"/>
              </a:ext>
            </a:extLst>
          </p:cNvPr>
          <p:cNvGrpSpPr/>
          <p:nvPr/>
        </p:nvGrpSpPr>
        <p:grpSpPr>
          <a:xfrm>
            <a:off x="127718" y="92211"/>
            <a:ext cx="1168193" cy="227829"/>
            <a:chOff x="0" y="0"/>
            <a:chExt cx="3584702" cy="861695"/>
          </a:xfrm>
        </p:grpSpPr>
        <p:sp>
          <p:nvSpPr>
            <p:cNvPr id="43" name="Freeform 19">
              <a:extLst>
                <a:ext uri="{FF2B5EF4-FFF2-40B4-BE49-F238E27FC236}">
                  <a16:creationId xmlns:a16="http://schemas.microsoft.com/office/drawing/2014/main" xmlns="" id="{57C0D5AA-42D5-CC8F-F07E-CA77B23CC4A6}"/>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11"/>
              <a:stretch>
                <a:fillRect t="-365" b="-365"/>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04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9552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 name="Picture 50">
            <a:extLst>
              <a:ext uri="{FF2B5EF4-FFF2-40B4-BE49-F238E27FC236}">
                <a16:creationId xmlns:a16="http://schemas.microsoft.com/office/drawing/2014/main" xmlns="" id="{B2CAA4B8-24C6-BA51-7412-502BDB002E4B}"/>
              </a:ext>
            </a:extLst>
          </p:cNvPr>
          <p:cNvPicPr>
            <a:picLocks noChangeAspect="1"/>
          </p:cNvPicPr>
          <p:nvPr/>
        </p:nvPicPr>
        <p:blipFill>
          <a:blip r:embed="rId4"/>
          <a:srcRect t="14667" b="3401"/>
          <a:stretch>
            <a:fillRect/>
          </a:stretch>
        </p:blipFill>
        <p:spPr>
          <a:xfrm>
            <a:off x="4025445" y="1389887"/>
            <a:ext cx="3616326" cy="5304261"/>
          </a:xfrm>
          <a:prstGeom prst="rect">
            <a:avLst/>
          </a:prstGeom>
          <a:ln>
            <a:solidFill>
              <a:schemeClr val="tx1"/>
            </a:solidFill>
          </a:ln>
        </p:spPr>
      </p:pic>
      <p:grpSp>
        <p:nvGrpSpPr>
          <p:cNvPr id="5" name="Group 18">
            <a:extLst>
              <a:ext uri="{FF2B5EF4-FFF2-40B4-BE49-F238E27FC236}">
                <a16:creationId xmlns:a16="http://schemas.microsoft.com/office/drawing/2014/main" xmlns="" id="{293BE149-28EA-B0AB-1B9C-813A04A042AD}"/>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xmlns="" id="{D94F7C17-1DF3-8F2F-BBF1-2693C7682100}"/>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xmlns="" id="{24BC94DC-4D4C-005C-F53D-2440A827DF3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xmlns="" id="{D8F9C20C-331B-355E-0A62-1410623DCB3A}"/>
              </a:ext>
            </a:extLst>
          </p:cNvPr>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04.1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xmlns="" id="{6A1F9F8D-7634-13F1-04FB-8CF5177A93BB}"/>
              </a:ext>
            </a:extLst>
          </p:cNvPr>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xmlns="" id="{4C01A62B-6340-1361-3BC9-C5EF58CA544E}"/>
              </a:ext>
            </a:extLst>
          </p:cNvPr>
          <p:cNvSpPr/>
          <p:nvPr/>
        </p:nvSpPr>
        <p:spPr>
          <a:xfrm>
            <a:off x="795528" y="2167127"/>
            <a:ext cx="10942382" cy="4485599"/>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xmlns="" id="{9F8921D6-12D9-F262-DBBB-4AAC4C39E957}"/>
              </a:ext>
            </a:extLst>
          </p:cNvPr>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18">
            <a:extLst>
              <a:ext uri="{FF2B5EF4-FFF2-40B4-BE49-F238E27FC236}">
                <a16:creationId xmlns:a16="http://schemas.microsoft.com/office/drawing/2014/main" xmlns="" id="{6085B85C-0102-2871-7987-B45CA2616EA5}"/>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xmlns="" id="{76BEAF47-31D6-3F0D-9BDA-42E532D4C922}"/>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7" name="TextBox 6">
            <a:extLst>
              <a:ext uri="{FF2B5EF4-FFF2-40B4-BE49-F238E27FC236}">
                <a16:creationId xmlns:a16="http://schemas.microsoft.com/office/drawing/2014/main" xmlns="" id="{CFCC084D-2582-77DD-F9FC-CF55FF11AF3D}"/>
              </a:ext>
            </a:extLst>
          </p:cNvPr>
          <p:cNvSpPr txBox="1"/>
          <p:nvPr/>
        </p:nvSpPr>
        <p:spPr>
          <a:xfrm>
            <a:off x="6139543" y="1035698"/>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xmlns="" id="{8132BE53-7182-D1F0-49AE-4B891310143E}"/>
              </a:ext>
            </a:extLst>
          </p:cNvPr>
          <p:cNvSpPr txBox="1"/>
          <p:nvPr/>
        </p:nvSpPr>
        <p:spPr>
          <a:xfrm>
            <a:off x="548640" y="1389888"/>
            <a:ext cx="11430000"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End-to-End Cybersecurity Analytics Workflow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1. Problem Understanding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project began by identifying key cybersecurity questions: number and types of attacks, severity, anomaly behaviour, network activity, user behaviour, and effectiveness of security responses. KPIs such as Total Attacks, High Severity, Malware Detected, Average Anomaly Score and Block Rate were defined for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2. Data Collection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 publicly available 40,000-record cybersecurity dataset from Kaggle, covering January 2020 to October 2023, was collected. It contained information on IPs, protocols, attack types, severity, malware indicators, anomaly scores, devices, operating systems, browsers and geography.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3. Data Understanding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collected data was explored to understand its structure, variables, categories, quality and analytical potential. Key dimensions such as DDoS, Malware, Intrusion; Low, Medium, High severity; TCP, UDP, ICMP; and Blocked, Logged, Ignored were identified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4. Data Connection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dataset was imported into Microsoft Power BI, with Power Query used as the ETL environment. A structured data model was established, including a dedicated Date table and relationships to ensure consistent filtering and analysis across dashboards.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5. Data Preprocessing</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raw data was cleaned and transformed through 19 Power Query steps. This included removing duplicates, correcting data types, handling missing values, splitting location fields into City and State, extracting browser information, removing unnecessary payload data, creating a Severity Sort key, and grouping anomaly scores into four bands: 0–25, 26–50, 51–75 and 76–100.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6. Data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Modeling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cleaned data was structured for analysis using a Date table, relationships and DAX measures/calculated columns. Key calculations included Total Attacks, High Severity, % High Severity, Malware Detected, Average Anomaly Score, Block Rate and Anomaly Score Band.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7. Data Visualization</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analysis was converted into five interactive Power BI dashboards: Cyber Security Attacks Analysis, Threat Detection &amp; Anomaly Analysis, Network Traffic Analysis, User Behaviour Analytics, and Threat Profile &amp; Severity Breakdown. Slicers, cross-filtering and advanced visuals enabled users to explore threats from overview to detailed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8. Share / Publish Report</a:t>
            </a:r>
            <a:b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The final insights were documented in the Milestone 3 report and PowerPoint presentation, while the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pbix</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file and supporting artefacts were maintained through GitHub. The project was reviewed with the mentor through Microsoft Teams and prepared for stakeholder access through Power BI publishing.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9774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05 · PROJECT EXECUTION MILESTONES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How the project was delivered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04672" y="1892808"/>
            <a:ext cx="960120" cy="566928"/>
          </a:xfrm>
          <a:prstGeom prst="roundRect">
            <a:avLst>
              <a:gd name="adj" fmla="val 14516"/>
            </a:avLst>
          </a:prstGeom>
          <a:solidFill>
            <a:srgbClr val="1D6FE6"/>
          </a:solidFill>
          <a:ln/>
        </p:spPr>
      </p:sp>
      <p:sp>
        <p:nvSpPr>
          <p:cNvPr id="7" name="Text 5"/>
          <p:cNvSpPr/>
          <p:nvPr/>
        </p:nvSpPr>
        <p:spPr>
          <a:xfrm>
            <a:off x="80467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2296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Sourced the 40,000-record Kaggle dataset and shaped it through 19 Power Query steps - types, nulls, date/time split and category standardisation.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42900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3685032" y="1892808"/>
            <a:ext cx="960120" cy="566928"/>
          </a:xfrm>
          <a:prstGeom prst="roundRect">
            <a:avLst>
              <a:gd name="adj" fmla="val 14516"/>
            </a:avLst>
          </a:prstGeom>
          <a:solidFill>
            <a:srgbClr val="1D6FE6"/>
          </a:solidFill>
          <a:ln/>
        </p:spPr>
      </p:sp>
      <p:sp>
        <p:nvSpPr>
          <p:cNvPr id="13" name="Text 11"/>
          <p:cNvSpPr/>
          <p:nvPr/>
        </p:nvSpPr>
        <p:spPr>
          <a:xfrm>
            <a:off x="368503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70332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70332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Data Modeling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70332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Built and marked a Date table, established relationships and authored core DAX measures and the Anomaly Score Band logic.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30936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6"/>
          <p:cNvSpPr/>
          <p:nvPr/>
        </p:nvSpPr>
        <p:spPr>
          <a:xfrm>
            <a:off x="6565392" y="1892808"/>
            <a:ext cx="960120" cy="566928"/>
          </a:xfrm>
          <a:prstGeom prst="roundRect">
            <a:avLst>
              <a:gd name="adj" fmla="val 14516"/>
            </a:avLst>
          </a:prstGeom>
          <a:solidFill>
            <a:srgbClr val="1D6FE6"/>
          </a:solidFill>
          <a:ln/>
        </p:spPr>
      </p:sp>
      <p:sp>
        <p:nvSpPr>
          <p:cNvPr id="19" name="Text 17"/>
          <p:cNvSpPr/>
          <p:nvPr/>
        </p:nvSpPr>
        <p:spPr>
          <a:xfrm>
            <a:off x="656539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58368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58368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Development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58368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Designed the seven themed dashboards with slicers, cross-filtering, decomposition tree, ribbon, treemap and Sankey visuals.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918972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4" name="Shape 22"/>
          <p:cNvSpPr/>
          <p:nvPr/>
        </p:nvSpPr>
        <p:spPr>
          <a:xfrm>
            <a:off x="9445752" y="1892808"/>
            <a:ext cx="960120" cy="566928"/>
          </a:xfrm>
          <a:prstGeom prst="roundRect">
            <a:avLst>
              <a:gd name="adj" fmla="val 14516"/>
            </a:avLst>
          </a:prstGeom>
          <a:solidFill>
            <a:srgbClr val="1D6FE6"/>
          </a:solidFill>
          <a:ln/>
        </p:spPr>
      </p:sp>
      <p:sp>
        <p:nvSpPr>
          <p:cNvPr id="25" name="Text 23"/>
          <p:cNvSpPr/>
          <p:nvPr/>
        </p:nvSpPr>
        <p:spPr>
          <a:xfrm>
            <a:off x="9445752" y="1892808"/>
            <a:ext cx="9601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Bookman Old Style" pitchFamily="34" charset="0"/>
                <a:ea typeface="Bookman Old Style" pitchFamily="34" charset="-122"/>
                <a:cs typeface="Bookman Old Style" pitchFamily="34" charset="-120"/>
              </a:rPr>
              <a:t>M4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464040" y="2624328"/>
            <a:ext cx="2084832"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1D6FE6"/>
                </a:solidFill>
                <a:effectLst/>
                <a:uLnTx/>
                <a:uFillTx/>
                <a:latin typeface="Calibri" pitchFamily="34" charset="0"/>
                <a:ea typeface="Calibri" pitchFamily="34" charset="-122"/>
                <a:cs typeface="Calibri" pitchFamily="34" charset="-120"/>
              </a:rPr>
              <a:t>MILESTONE 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946404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Review &amp; Optimization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464040" y="3657600"/>
            <a:ext cx="2084832" cy="219456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1617C"/>
                </a:solidFill>
                <a:effectLst/>
                <a:uLnTx/>
                <a:uFillTx/>
                <a:latin typeface="Calibri" pitchFamily="34" charset="0"/>
                <a:ea typeface="Calibri" pitchFamily="34" charset="-122"/>
                <a:cs typeface="Calibri" pitchFamily="34" charset="-120"/>
              </a:rPr>
              <a:t>Validated figures across visuals, optimised model performance, and consolidated the report, PPT and GitHub repository.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 name="Group 18">
            <a:extLst>
              <a:ext uri="{FF2B5EF4-FFF2-40B4-BE49-F238E27FC236}">
                <a16:creationId xmlns:a16="http://schemas.microsoft.com/office/drawing/2014/main" xmlns="" id="{B0DA84C5-42D2-F4BD-A2B0-BEB1367EB6B3}"/>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099718DD-4C1A-F8F0-DE0B-709D80BE213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2" name="Text 13">
            <a:extLst>
              <a:ext uri="{FF2B5EF4-FFF2-40B4-BE49-F238E27FC236}">
                <a16:creationId xmlns:a16="http://schemas.microsoft.com/office/drawing/2014/main" xmlns="" id="{55709E63-E508-1317-686C-FEC68F802897}"/>
              </a:ext>
            </a:extLst>
          </p:cNvPr>
          <p:cNvSpPr/>
          <p:nvPr/>
        </p:nvSpPr>
        <p:spPr>
          <a:xfrm>
            <a:off x="804672" y="2862756"/>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Data Modeling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xmlns="" id="{5CC7489D-CDFE-8777-7665-D1B872A3B39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xmlns="" id="{2900E792-CBE5-9CCC-B4F8-EDD6A850E06D}"/>
              </a:ext>
            </a:extLst>
          </p:cNvPr>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05.1 · PROJECT EXECUTION MILESTONES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xmlns="" id="{9D518FB3-88BD-5A19-718C-37FBD819273B}"/>
              </a:ext>
            </a:extLst>
          </p:cNvPr>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How the project was delivered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xmlns="" id="{6CA14BCE-B301-D97A-43AE-63EA580EFC09}"/>
              </a:ext>
            </a:extLst>
          </p:cNvPr>
          <p:cNvSpPr/>
          <p:nvPr/>
        </p:nvSpPr>
        <p:spPr>
          <a:xfrm>
            <a:off x="822960" y="2862072"/>
            <a:ext cx="2084832" cy="777240"/>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 name="Group 18">
            <a:extLst>
              <a:ext uri="{FF2B5EF4-FFF2-40B4-BE49-F238E27FC236}">
                <a16:creationId xmlns:a16="http://schemas.microsoft.com/office/drawing/2014/main" xmlns="" id="{1D29F79F-FBAB-32D8-55DD-479480C00569}"/>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xmlns="" id="{6987D9F8-0149-DDC7-FCDD-EA09FC7CE21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1" name="TextBox 30">
            <a:extLst>
              <a:ext uri="{FF2B5EF4-FFF2-40B4-BE49-F238E27FC236}">
                <a16:creationId xmlns:a16="http://schemas.microsoft.com/office/drawing/2014/main" xmlns="" id="{CC134F63-A8CE-1178-79A8-053ED5B4E69B}"/>
              </a:ext>
            </a:extLst>
          </p:cNvPr>
          <p:cNvSpPr txBox="1"/>
          <p:nvPr/>
        </p:nvSpPr>
        <p:spPr>
          <a:xfrm>
            <a:off x="548640" y="1389888"/>
            <a:ext cx="11376504" cy="5266999"/>
          </a:xfrm>
          <a:prstGeom prst="rect">
            <a:avLst/>
          </a:prstGeom>
          <a:noFill/>
        </p:spPr>
        <p:txBody>
          <a:bodyPr wrap="square" numCol="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1 - Data Foundation &amp; Understanding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Preparing reliable data for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Collected and validated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40,000 cybersecurity records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from Kaggle.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Explored data structure, variables and cybersecurity dimensions.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Cleaned and transformed data using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Power Query</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Handled missing values, duplicates, errors and incorrect data types.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Date, City, State, Browser, Severity Sort and Anomaly Score Bands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Built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Date table, relationships and basic KPIs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Clean, structured and analysis-ready cybersecurity dataset.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2 - Core Dashboards &amp; Behavioural Analytics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Converting data into interactive security analytics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Developed dashboards for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Attack Analysis, Threat/Anomaly Detection, Network Traffic and User Behaviour</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Analysed attack types, severity, protocols, packet types, geography, browsers and operating systems.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Added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KPIs, slicers, cross-filtering and interactive navigation</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Identified patterns across attacks, network activity and user/device behaviour.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Interactive dashboards providing a comprehensive view of the cybersecurity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3 - Advanced Threat Profiling, Insights &amp; Reporting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Deep analysis and final reporting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Developed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Threat Profile &amp; Severity Breakdown</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dashboard.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Applied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Decomposition Tree, Ribbon Chart, </a:t>
            </a:r>
            <a:r>
              <a:rPr kumimoji="0" lang="en-IN" sz="1300" b="1" i="0" u="none" strike="noStrike" kern="1200" cap="none" spc="0" normalizeH="0" baseline="0" noProof="0" dirty="0" err="1">
                <a:ln>
                  <a:noFill/>
                </a:ln>
                <a:solidFill>
                  <a:prstClr val="black"/>
                </a:solidFill>
                <a:effectLst/>
                <a:uLnTx/>
                <a:uFillTx/>
                <a:latin typeface="Calibri" panose="020F0502020204030204"/>
                <a:ea typeface="+mn-ea"/>
                <a:cs typeface="+mn-cs"/>
              </a:rPr>
              <a:t>Treemap</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 and Severity Matrix</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Analysed Attack Type × Severity, Network Segment, Anomaly Bands and Threat Signatures.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Created advanced KPIs including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 High Severity, Malware Detected and Block Rate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Validated insights across dashboards and documented the findings.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Prepared the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Word report, PowerPoint presentation and GitHub project artefacts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Complete cybersecurity analytics framework with validated and actionable insights.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MILESTONE 4 - Future Enhancement &amp; Deployment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Focus: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Taking the framework toward a more advanced, operational solution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Integrate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near-real-time cybersecurity data</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using Scheduled Refresh or </a:t>
            </a:r>
            <a:r>
              <a:rPr kumimoji="0" lang="en-IN" sz="1300" b="0" i="0" u="none" strike="noStrike" kern="1200" cap="none" spc="0" normalizeH="0" baseline="0" noProof="0" dirty="0" err="1">
                <a:ln>
                  <a:noFill/>
                </a:ln>
                <a:solidFill>
                  <a:prstClr val="black"/>
                </a:solidFill>
                <a:effectLst/>
                <a:uLnTx/>
                <a:uFillTx/>
                <a:latin typeface="Calibri" panose="020F0502020204030204"/>
                <a:ea typeface="+mn-ea"/>
                <a:cs typeface="+mn-cs"/>
              </a:rPr>
              <a:t>DirectQuery</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Introduce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predictive analytics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anomaly forecasting and risk scoring using Python/R or Azure ML.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Implement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Row-Level Security (RLS)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role-based access, such as SOC analysts and managers.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Create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automated alerts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for critical threshold breaches using Power Automate.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Add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drill-through to individual incident details</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and improve geographic analysis with a true India choropleth map.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Deploy the solution more broadly through </a:t>
            </a: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Power BI Service/App Workspace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black"/>
                </a:solidFill>
                <a:effectLst/>
                <a:uLnTx/>
                <a:uFillTx/>
                <a:latin typeface="Calibri" panose="020F0502020204030204"/>
                <a:ea typeface="+mn-ea"/>
                <a:cs typeface="+mn-cs"/>
              </a:rPr>
              <a:t>Outcome: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A more automated, predictive, secure and operational cybersecurity intelligence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7235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5334217" cy="369332"/>
          </a:xfrm>
          <a:prstGeom prst="rect">
            <a:avLst/>
          </a:prstGeom>
          <a:noFill/>
        </p:spPr>
        <p:txBody>
          <a:bodyPr wrap="none">
            <a:spAutoFit/>
          </a:bodyPr>
          <a:lstStyle/>
          <a:p>
            <a:r>
              <a:rPr b="1" dirty="0">
                <a:solidFill>
                  <a:srgbClr val="1D6FE6"/>
                </a:solidFill>
                <a:latin typeface="Aptos"/>
              </a:rPr>
              <a:t>01  Dashboard 1 </a:t>
            </a:r>
            <a:r>
              <a:rPr lang="en-IN" b="1" dirty="0">
                <a:solidFill>
                  <a:srgbClr val="1D6FE6"/>
                </a:solidFill>
                <a:latin typeface="Aptos"/>
              </a:rPr>
              <a:t>-</a:t>
            </a:r>
            <a:r>
              <a:rPr b="1" dirty="0">
                <a:solidFill>
                  <a:srgbClr val="1D6FE6"/>
                </a:solidFill>
                <a:latin typeface="Aptos"/>
              </a:rPr>
              <a:t> Cyber Security Attacks Analysis</a:t>
            </a:r>
          </a:p>
        </p:txBody>
      </p:sp>
      <p:sp>
        <p:nvSpPr>
          <p:cNvPr id="4" name="TextBox 3"/>
          <p:cNvSpPr txBox="1"/>
          <p:nvPr/>
        </p:nvSpPr>
        <p:spPr>
          <a:xfrm>
            <a:off x="621792" y="749808"/>
            <a:ext cx="4259798" cy="2051331"/>
          </a:xfrm>
          <a:prstGeom prst="rect">
            <a:avLst/>
          </a:prstGeom>
          <a:noFill/>
        </p:spPr>
        <p:txBody>
          <a:bodyPr wrap="square">
            <a:spAutoFit/>
          </a:bodyPr>
          <a:lstStyle/>
          <a:p>
            <a:pPr>
              <a:spcAft>
                <a:spcPts val="200"/>
              </a:spcAft>
            </a:pPr>
            <a:r>
              <a:rPr sz="1019" b="0" dirty="0">
                <a:solidFill>
                  <a:srgbClr val="16294A"/>
                </a:solidFill>
                <a:latin typeface="Aptos"/>
              </a:rPr>
              <a:t>• Executive overview of the 40,000-event dataset, using KPI cards to surface total attacks, high-severity events and low-severity events at a glance.</a:t>
            </a:r>
          </a:p>
          <a:p>
            <a:pPr>
              <a:spcAft>
                <a:spcPts val="200"/>
              </a:spcAft>
            </a:pPr>
            <a:r>
              <a:rPr sz="1019" b="0" dirty="0">
                <a:solidFill>
                  <a:srgbClr val="16294A"/>
                </a:solidFill>
                <a:latin typeface="Aptos"/>
              </a:rPr>
              <a:t>• Attack-type visuals compare DDoS, Malware and Intrusion, while the action chart separates Blocked, Ignored and Logged outcomes to show response distribution.</a:t>
            </a:r>
          </a:p>
          <a:p>
            <a:pPr>
              <a:spcAft>
                <a:spcPts val="200"/>
              </a:spcAft>
            </a:pPr>
            <a:r>
              <a:rPr sz="1019" b="0" dirty="0">
                <a:solidFill>
                  <a:srgbClr val="16294A"/>
                </a:solidFill>
                <a:latin typeface="Aptos"/>
              </a:rPr>
              <a:t>• The geographic map places attack activity across India and nearby regions, helping analysts connect attack type with location and identify concentration areas.</a:t>
            </a:r>
          </a:p>
          <a:p>
            <a:pPr>
              <a:spcAft>
                <a:spcPts val="200"/>
              </a:spcAft>
            </a:pPr>
            <a:r>
              <a:rPr sz="1019" b="0" dirty="0">
                <a:solidFill>
                  <a:srgbClr val="16294A"/>
                </a:solidFill>
                <a:latin typeface="Aptos"/>
              </a:rPr>
              <a:t>• Yearly trend, severity mix and traffic breakdown visuals provide a compact view of how attack volume, severity and protocol activity change over time.</a:t>
            </a:r>
          </a:p>
        </p:txBody>
      </p:sp>
      <p:pic>
        <p:nvPicPr>
          <p:cNvPr id="6" name="Picture 5" descr="cbe9ba50-1194-439c-a8f9-1ba0b0ae8567.png"/>
          <p:cNvPicPr>
            <a:picLocks noChangeAspect="1"/>
          </p:cNvPicPr>
          <p:nvPr/>
        </p:nvPicPr>
        <p:blipFill>
          <a:blip r:embed="rId2"/>
          <a:stretch>
            <a:fillRect/>
          </a:stretch>
        </p:blipFill>
        <p:spPr>
          <a:xfrm>
            <a:off x="749807" y="3002082"/>
            <a:ext cx="4700299" cy="3129106"/>
          </a:xfrm>
          <a:prstGeom prst="rect">
            <a:avLst/>
          </a:prstGeom>
          <a:ln>
            <a:solidFill>
              <a:schemeClr val="tx1"/>
            </a:solidFill>
          </a:ln>
        </p:spPr>
      </p:pic>
      <p:pic>
        <p:nvPicPr>
          <p:cNvPr id="8" name="Picture 7" descr="8652b21f-9d2b-4634-8b91-a8a925de8842.png">
            <a:extLst>
              <a:ext uri="{FF2B5EF4-FFF2-40B4-BE49-F238E27FC236}">
                <a16:creationId xmlns:a16="http://schemas.microsoft.com/office/drawing/2014/main" xmlns="" id="{5EA344C2-4203-27E4-9139-A35E398A5F70}"/>
              </a:ext>
            </a:extLst>
          </p:cNvPr>
          <p:cNvPicPr>
            <a:picLocks noChangeAspect="1"/>
          </p:cNvPicPr>
          <p:nvPr/>
        </p:nvPicPr>
        <p:blipFill>
          <a:blip r:embed="rId3"/>
          <a:stretch>
            <a:fillRect/>
          </a:stretch>
        </p:blipFill>
        <p:spPr>
          <a:xfrm>
            <a:off x="6943191" y="3002081"/>
            <a:ext cx="4859459" cy="3129107"/>
          </a:xfrm>
          <a:prstGeom prst="rect">
            <a:avLst/>
          </a:prstGeom>
          <a:ln>
            <a:solidFill>
              <a:schemeClr val="tx1"/>
            </a:solidFill>
          </a:ln>
        </p:spPr>
      </p:pic>
      <p:sp>
        <p:nvSpPr>
          <p:cNvPr id="10" name="TextBox 9">
            <a:extLst>
              <a:ext uri="{FF2B5EF4-FFF2-40B4-BE49-F238E27FC236}">
                <a16:creationId xmlns:a16="http://schemas.microsoft.com/office/drawing/2014/main" xmlns="" id="{67946774-AB61-4D94-C20A-5C4EF875C8D2}"/>
              </a:ext>
            </a:extLst>
          </p:cNvPr>
          <p:cNvSpPr txBox="1"/>
          <p:nvPr/>
        </p:nvSpPr>
        <p:spPr>
          <a:xfrm>
            <a:off x="6943192" y="882510"/>
            <a:ext cx="4859458" cy="1423980"/>
          </a:xfrm>
          <a:prstGeom prst="rect">
            <a:avLst/>
          </a:prstGeom>
          <a:noFill/>
        </p:spPr>
        <p:txBody>
          <a:bodyPr wrap="square">
            <a:spAutoFit/>
          </a:bodyPr>
          <a:lstStyle/>
          <a:p>
            <a:pPr>
              <a:spcAft>
                <a:spcPts val="200"/>
              </a:spcAft>
            </a:pPr>
            <a:r>
              <a:rPr sz="1019" b="0" dirty="0">
                <a:solidFill>
                  <a:srgbClr val="16294A"/>
                </a:solidFill>
                <a:latin typeface="Aptos"/>
              </a:rPr>
              <a:t>• Focuses on anomaly </a:t>
            </a:r>
            <a:r>
              <a:rPr sz="1019" b="0" dirty="0" err="1">
                <a:solidFill>
                  <a:srgbClr val="16294A"/>
                </a:solidFill>
                <a:latin typeface="Aptos"/>
              </a:rPr>
              <a:t>behaviour</a:t>
            </a:r>
            <a:r>
              <a:rPr sz="1019" b="0" dirty="0">
                <a:solidFill>
                  <a:srgbClr val="16294A"/>
                </a:solidFill>
                <a:latin typeface="Aptos"/>
              </a:rPr>
              <a:t> by combining severity, attack type and date slicers with an average anomaly-score KPI for targeted investigation.</a:t>
            </a:r>
          </a:p>
          <a:p>
            <a:pPr>
              <a:spcAft>
                <a:spcPts val="200"/>
              </a:spcAft>
            </a:pPr>
            <a:r>
              <a:rPr sz="1019" b="0" dirty="0">
                <a:solidFill>
                  <a:srgbClr val="16294A"/>
                </a:solidFill>
                <a:latin typeface="Aptos"/>
              </a:rPr>
              <a:t>• The Attack Over Time donut groups events by anomaly-score bands, allowing analysts to distinguish lower-score activity from higher-score observations.</a:t>
            </a:r>
          </a:p>
          <a:p>
            <a:pPr>
              <a:spcAft>
                <a:spcPts val="200"/>
              </a:spcAft>
            </a:pPr>
            <a:r>
              <a:rPr sz="1019" b="0" dirty="0">
                <a:solidFill>
                  <a:srgbClr val="16294A"/>
                </a:solidFill>
                <a:latin typeface="Aptos"/>
              </a:rPr>
              <a:t>• Cyber Attack by Browser compares browser-related attack volume, while the state chart highlights how attack counts vary across the listed states.</a:t>
            </a:r>
          </a:p>
          <a:p>
            <a:pPr>
              <a:spcAft>
                <a:spcPts val="200"/>
              </a:spcAft>
            </a:pPr>
            <a:r>
              <a:rPr sz="1019" b="0" dirty="0">
                <a:solidFill>
                  <a:srgbClr val="16294A"/>
                </a:solidFill>
                <a:latin typeface="Aptos"/>
              </a:rPr>
              <a:t>• The page is designed for drill-down analysis: users can narrow the view with severity, attack type and date selections and observe the visuals update together.</a:t>
            </a:r>
          </a:p>
        </p:txBody>
      </p:sp>
      <p:sp>
        <p:nvSpPr>
          <p:cNvPr id="13" name="TextBox 12">
            <a:extLst>
              <a:ext uri="{FF2B5EF4-FFF2-40B4-BE49-F238E27FC236}">
                <a16:creationId xmlns:a16="http://schemas.microsoft.com/office/drawing/2014/main" xmlns="" id="{CA0D03FF-C6B8-F6F9-0569-E4E6AB0DE93E}"/>
              </a:ext>
            </a:extLst>
          </p:cNvPr>
          <p:cNvSpPr txBox="1"/>
          <p:nvPr/>
        </p:nvSpPr>
        <p:spPr>
          <a:xfrm>
            <a:off x="6943191" y="244937"/>
            <a:ext cx="5334216" cy="615553"/>
          </a:xfrm>
          <a:prstGeom prst="rect">
            <a:avLst/>
          </a:prstGeom>
          <a:noFill/>
        </p:spPr>
        <p:txBody>
          <a:bodyPr wrap="square">
            <a:spAutoFit/>
          </a:bodyPr>
          <a:lstStyle/>
          <a:p>
            <a:r>
              <a:rPr sz="1700" b="1" dirty="0">
                <a:solidFill>
                  <a:srgbClr val="1D6FE6"/>
                </a:solidFill>
                <a:latin typeface="Aptos"/>
              </a:rPr>
              <a:t>02  Dashboard 2 </a:t>
            </a:r>
            <a:r>
              <a:rPr lang="en-IN" sz="1700" b="1" dirty="0">
                <a:solidFill>
                  <a:srgbClr val="1D6FE6"/>
                </a:solidFill>
                <a:latin typeface="Aptos"/>
              </a:rPr>
              <a:t>-</a:t>
            </a:r>
            <a:r>
              <a:rPr sz="1700" b="1" dirty="0">
                <a:solidFill>
                  <a:srgbClr val="1D6FE6"/>
                </a:solidFill>
                <a:latin typeface="Aptos"/>
              </a:rPr>
              <a:t> Threat Detection &amp; Anomaly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xmlns="" id="{6CAF4C8D-CC12-4978-B674-987E96DE4631}"/>
              </a:ext>
            </a:extLst>
          </p:cNvPr>
          <p:cNvSpPr txBox="1"/>
          <p:nvPr/>
        </p:nvSpPr>
        <p:spPr>
          <a:xfrm>
            <a:off x="744451" y="210312"/>
            <a:ext cx="4540923" cy="369332"/>
          </a:xfrm>
          <a:prstGeom prst="rect">
            <a:avLst/>
          </a:prstGeom>
          <a:noFill/>
        </p:spPr>
        <p:txBody>
          <a:bodyPr wrap="none">
            <a:spAutoFit/>
          </a:bodyPr>
          <a:lstStyle/>
          <a:p>
            <a:r>
              <a:rPr b="1" dirty="0">
                <a:solidFill>
                  <a:srgbClr val="1D6FE6"/>
                </a:solidFill>
                <a:latin typeface="Aptos"/>
              </a:rPr>
              <a:t>03  Dashboard 3 </a:t>
            </a:r>
            <a:r>
              <a:rPr lang="en-IN" b="1" dirty="0">
                <a:solidFill>
                  <a:srgbClr val="1D6FE6"/>
                </a:solidFill>
                <a:latin typeface="Aptos"/>
              </a:rPr>
              <a:t>-</a:t>
            </a:r>
            <a:r>
              <a:rPr b="1" dirty="0">
                <a:solidFill>
                  <a:srgbClr val="1D6FE6"/>
                </a:solidFill>
                <a:latin typeface="Aptos"/>
              </a:rPr>
              <a:t> Network Traffic Analysis</a:t>
            </a:r>
          </a:p>
        </p:txBody>
      </p:sp>
      <p:sp>
        <p:nvSpPr>
          <p:cNvPr id="10" name="TextBox 9">
            <a:extLst>
              <a:ext uri="{FF2B5EF4-FFF2-40B4-BE49-F238E27FC236}">
                <a16:creationId xmlns:a16="http://schemas.microsoft.com/office/drawing/2014/main" xmlns="" id="{5CECAFBE-A413-841A-4175-4D9F8E1A1234}"/>
              </a:ext>
            </a:extLst>
          </p:cNvPr>
          <p:cNvSpPr txBox="1"/>
          <p:nvPr/>
        </p:nvSpPr>
        <p:spPr>
          <a:xfrm>
            <a:off x="744451" y="749808"/>
            <a:ext cx="4360754" cy="1894493"/>
          </a:xfrm>
          <a:prstGeom prst="rect">
            <a:avLst/>
          </a:prstGeom>
          <a:noFill/>
        </p:spPr>
        <p:txBody>
          <a:bodyPr wrap="square">
            <a:spAutoFit/>
          </a:bodyPr>
          <a:lstStyle/>
          <a:p>
            <a:pPr>
              <a:spcAft>
                <a:spcPts val="200"/>
              </a:spcAft>
            </a:pPr>
            <a:r>
              <a:rPr sz="1019" b="0" dirty="0">
                <a:solidFill>
                  <a:srgbClr val="16294A"/>
                </a:solidFill>
                <a:latin typeface="Aptos"/>
              </a:rPr>
              <a:t>• Examines network activity through protocol, packet type, severity and action-taken dimensions, with ICMP, UDP and TCP as the core protocol categories.</a:t>
            </a:r>
          </a:p>
          <a:p>
            <a:pPr>
              <a:spcAft>
                <a:spcPts val="200"/>
              </a:spcAft>
            </a:pPr>
            <a:r>
              <a:rPr sz="1019" b="0" dirty="0">
                <a:solidFill>
                  <a:srgbClr val="16294A"/>
                </a:solidFill>
                <a:latin typeface="Aptos"/>
              </a:rPr>
              <a:t>• The stacked Protocol vs Action Taken chart shows how Blocked, Ignored and Logged outcomes distribute across protocols, supporting response comparison.</a:t>
            </a:r>
          </a:p>
          <a:p>
            <a:pPr>
              <a:spcAft>
                <a:spcPts val="200"/>
              </a:spcAft>
            </a:pPr>
            <a:r>
              <a:rPr sz="1019" b="0" dirty="0">
                <a:solidFill>
                  <a:srgbClr val="16294A"/>
                </a:solidFill>
                <a:latin typeface="Aptos"/>
              </a:rPr>
              <a:t>• Packet Type by Severity and Total Number of Packet Type expose the Control/Data mix, while the protocol </a:t>
            </a:r>
            <a:r>
              <a:rPr sz="1019" b="0" dirty="0" err="1">
                <a:solidFill>
                  <a:srgbClr val="16294A"/>
                </a:solidFill>
                <a:latin typeface="Aptos"/>
              </a:rPr>
              <a:t>treemap</a:t>
            </a: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average packet length.</a:t>
            </a:r>
          </a:p>
          <a:p>
            <a:pPr>
              <a:spcAft>
                <a:spcPts val="200"/>
              </a:spcAft>
            </a:pPr>
            <a:r>
              <a:rPr sz="1019" b="0" dirty="0">
                <a:solidFill>
                  <a:srgbClr val="16294A"/>
                </a:solidFill>
                <a:latin typeface="Aptos"/>
              </a:rPr>
              <a:t>• The year-and-protocol flow visual helps track how protocol composition changes over time, making it easier to spot shifts in network </a:t>
            </a:r>
            <a:r>
              <a:rPr sz="1019" b="0" dirty="0" err="1">
                <a:solidFill>
                  <a:srgbClr val="16294A"/>
                </a:solidFill>
                <a:latin typeface="Aptos"/>
              </a:rPr>
              <a:t>behaviour</a:t>
            </a:r>
            <a:r>
              <a:rPr sz="1019" b="0" dirty="0">
                <a:solidFill>
                  <a:srgbClr val="16294A"/>
                </a:solidFill>
                <a:latin typeface="Aptos"/>
              </a:rPr>
              <a:t>.</a:t>
            </a:r>
          </a:p>
        </p:txBody>
      </p:sp>
      <p:pic>
        <p:nvPicPr>
          <p:cNvPr id="12" name="Picture 11" descr="0fb00365-a45b-4fba-8c1f-dce55fbb2d48.png">
            <a:extLst>
              <a:ext uri="{FF2B5EF4-FFF2-40B4-BE49-F238E27FC236}">
                <a16:creationId xmlns:a16="http://schemas.microsoft.com/office/drawing/2014/main" xmlns="" id="{8C3F4CBE-E70D-AE14-E3BE-DE8536011080}"/>
              </a:ext>
            </a:extLst>
          </p:cNvPr>
          <p:cNvPicPr>
            <a:picLocks noChangeAspect="1"/>
          </p:cNvPicPr>
          <p:nvPr/>
        </p:nvPicPr>
        <p:blipFill>
          <a:blip r:embed="rId2"/>
          <a:stretch>
            <a:fillRect/>
          </a:stretch>
        </p:blipFill>
        <p:spPr>
          <a:xfrm>
            <a:off x="744451" y="3002080"/>
            <a:ext cx="5053603" cy="3106112"/>
          </a:xfrm>
          <a:prstGeom prst="rect">
            <a:avLst/>
          </a:prstGeom>
          <a:ln>
            <a:solidFill>
              <a:schemeClr val="tx1"/>
            </a:solidFill>
          </a:ln>
        </p:spPr>
      </p:pic>
      <p:sp>
        <p:nvSpPr>
          <p:cNvPr id="14" name="TextBox 13">
            <a:extLst>
              <a:ext uri="{FF2B5EF4-FFF2-40B4-BE49-F238E27FC236}">
                <a16:creationId xmlns:a16="http://schemas.microsoft.com/office/drawing/2014/main" xmlns="" id="{FCEA3134-4DC0-5D4C-F2A9-40BEF046DFE5}"/>
              </a:ext>
            </a:extLst>
          </p:cNvPr>
          <p:cNvSpPr txBox="1"/>
          <p:nvPr/>
        </p:nvSpPr>
        <p:spPr>
          <a:xfrm>
            <a:off x="6393947" y="223554"/>
            <a:ext cx="4636141" cy="369332"/>
          </a:xfrm>
          <a:prstGeom prst="rect">
            <a:avLst/>
          </a:prstGeom>
          <a:noFill/>
        </p:spPr>
        <p:txBody>
          <a:bodyPr wrap="none">
            <a:spAutoFit/>
          </a:bodyPr>
          <a:lstStyle/>
          <a:p>
            <a:r>
              <a:rPr b="1" dirty="0">
                <a:solidFill>
                  <a:srgbClr val="1D6FE6"/>
                </a:solidFill>
                <a:latin typeface="Aptos"/>
              </a:rPr>
              <a:t>04  Dashboard 4 </a:t>
            </a:r>
            <a:r>
              <a:rPr lang="en-IN" b="1" dirty="0">
                <a:solidFill>
                  <a:srgbClr val="1D6FE6"/>
                </a:solidFill>
                <a:latin typeface="Aptos"/>
              </a:rPr>
              <a:t>-</a:t>
            </a:r>
            <a:r>
              <a:rPr b="1" dirty="0">
                <a:solidFill>
                  <a:srgbClr val="1D6FE6"/>
                </a:solidFill>
                <a:latin typeface="Aptos"/>
              </a:rPr>
              <a:t> User </a:t>
            </a:r>
            <a:r>
              <a:rPr b="1" dirty="0" err="1">
                <a:solidFill>
                  <a:srgbClr val="1D6FE6"/>
                </a:solidFill>
                <a:latin typeface="Aptos"/>
              </a:rPr>
              <a:t>Behaviour</a:t>
            </a:r>
            <a:r>
              <a:rPr b="1" dirty="0">
                <a:solidFill>
                  <a:srgbClr val="1D6FE6"/>
                </a:solidFill>
                <a:latin typeface="Aptos"/>
              </a:rPr>
              <a:t> Analytics</a:t>
            </a:r>
          </a:p>
        </p:txBody>
      </p:sp>
      <p:sp>
        <p:nvSpPr>
          <p:cNvPr id="16" name="TextBox 15">
            <a:extLst>
              <a:ext uri="{FF2B5EF4-FFF2-40B4-BE49-F238E27FC236}">
                <a16:creationId xmlns:a16="http://schemas.microsoft.com/office/drawing/2014/main" xmlns="" id="{1F43371B-C283-9C15-98DF-AB1CF0C90623}"/>
              </a:ext>
            </a:extLst>
          </p:cNvPr>
          <p:cNvSpPr txBox="1"/>
          <p:nvPr/>
        </p:nvSpPr>
        <p:spPr>
          <a:xfrm>
            <a:off x="6393946" y="787702"/>
            <a:ext cx="4636142" cy="1580817"/>
          </a:xfrm>
          <a:prstGeom prst="rect">
            <a:avLst/>
          </a:prstGeom>
          <a:noFill/>
        </p:spPr>
        <p:txBody>
          <a:bodyPr wrap="square">
            <a:spAutoFit/>
          </a:bodyPr>
          <a:lstStyle/>
          <a:p>
            <a:pPr>
              <a:spcAft>
                <a:spcPts val="200"/>
              </a:spcAft>
            </a:pP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user/device context with total users and total devices, then connects browser </a:t>
            </a:r>
            <a:r>
              <a:rPr sz="1019" b="0" dirty="0" err="1">
                <a:solidFill>
                  <a:srgbClr val="16294A"/>
                </a:solidFill>
                <a:latin typeface="Aptos"/>
              </a:rPr>
              <a:t>behaviour</a:t>
            </a:r>
            <a:r>
              <a:rPr sz="1019" b="0" dirty="0">
                <a:solidFill>
                  <a:srgbClr val="16294A"/>
                </a:solidFill>
                <a:latin typeface="Aptos"/>
              </a:rPr>
              <a:t> to anomaly scores and operating-system distribution.</a:t>
            </a:r>
          </a:p>
          <a:p>
            <a:pPr>
              <a:spcAft>
                <a:spcPts val="200"/>
              </a:spcAft>
            </a:pPr>
            <a:r>
              <a:rPr sz="1019" b="0" dirty="0">
                <a:solidFill>
                  <a:srgbClr val="16294A"/>
                </a:solidFill>
                <a:latin typeface="Aptos"/>
              </a:rPr>
              <a:t>• The monthly attack matrix compares DDoS, Intrusion and Malware across the year, making seasonal or month-level differences visible in a compact table.</a:t>
            </a:r>
          </a:p>
          <a:p>
            <a:pPr>
              <a:spcAft>
                <a:spcPts val="200"/>
              </a:spcAft>
            </a:pPr>
            <a:r>
              <a:rPr sz="1019" b="0" dirty="0">
                <a:solidFill>
                  <a:srgbClr val="16294A"/>
                </a:solidFill>
                <a:latin typeface="Aptos"/>
              </a:rPr>
              <a:t>• OS Distribution and the OS Trend over Time show the relative presence of Windows, Linux, Mac OS, iOS and Android across the dataset period.</a:t>
            </a:r>
          </a:p>
          <a:p>
            <a:pPr>
              <a:spcAft>
                <a:spcPts val="200"/>
              </a:spcAft>
            </a:pPr>
            <a:r>
              <a:rPr sz="1019" b="0" dirty="0">
                <a:solidFill>
                  <a:srgbClr val="16294A"/>
                </a:solidFill>
                <a:latin typeface="Aptos"/>
              </a:rPr>
              <a:t>• Top 10 Source IPs ranks high-scoring sources, giving analysts a practical starting point for </a:t>
            </a:r>
            <a:r>
              <a:rPr sz="1019" b="0" dirty="0" err="1">
                <a:solidFill>
                  <a:srgbClr val="16294A"/>
                </a:solidFill>
                <a:latin typeface="Aptos"/>
              </a:rPr>
              <a:t>prioritising</a:t>
            </a:r>
            <a:r>
              <a:rPr sz="1019" b="0" dirty="0">
                <a:solidFill>
                  <a:srgbClr val="16294A"/>
                </a:solidFill>
                <a:latin typeface="Aptos"/>
              </a:rPr>
              <a:t> suspicious origins for deeper investigation.</a:t>
            </a:r>
          </a:p>
        </p:txBody>
      </p:sp>
      <p:pic>
        <p:nvPicPr>
          <p:cNvPr id="18" name="Picture 17" descr="f07b429a-4c7e-462b-be35-7826efd35caa.png">
            <a:extLst>
              <a:ext uri="{FF2B5EF4-FFF2-40B4-BE49-F238E27FC236}">
                <a16:creationId xmlns:a16="http://schemas.microsoft.com/office/drawing/2014/main" xmlns="" id="{44BB07A6-58F2-67CE-884D-7A424F9502C0}"/>
              </a:ext>
            </a:extLst>
          </p:cNvPr>
          <p:cNvPicPr>
            <a:picLocks noChangeAspect="1"/>
          </p:cNvPicPr>
          <p:nvPr/>
        </p:nvPicPr>
        <p:blipFill>
          <a:blip r:embed="rId3"/>
          <a:stretch>
            <a:fillRect/>
          </a:stretch>
        </p:blipFill>
        <p:spPr>
          <a:xfrm>
            <a:off x="6393946" y="3002080"/>
            <a:ext cx="5053603" cy="3106112"/>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xmlns="" id="{4900FA9A-C154-266B-70F8-6834D29BCD33}"/>
              </a:ext>
            </a:extLst>
          </p:cNvPr>
          <p:cNvSpPr txBox="1"/>
          <p:nvPr/>
        </p:nvSpPr>
        <p:spPr>
          <a:xfrm>
            <a:off x="502920" y="210312"/>
            <a:ext cx="5738174" cy="369332"/>
          </a:xfrm>
          <a:prstGeom prst="rect">
            <a:avLst/>
          </a:prstGeom>
          <a:noFill/>
        </p:spPr>
        <p:txBody>
          <a:bodyPr wrap="none">
            <a:spAutoFit/>
          </a:bodyPr>
          <a:lstStyle/>
          <a:p>
            <a:r>
              <a:rPr b="1" dirty="0">
                <a:solidFill>
                  <a:srgbClr val="1D6FE6"/>
                </a:solidFill>
                <a:latin typeface="Aptos"/>
              </a:rPr>
              <a:t>05  Dashboard 5 </a:t>
            </a:r>
            <a:r>
              <a:rPr lang="en-IN" b="1" dirty="0">
                <a:solidFill>
                  <a:srgbClr val="1D6FE6"/>
                </a:solidFill>
                <a:latin typeface="Aptos"/>
              </a:rPr>
              <a:t>-</a:t>
            </a:r>
            <a:r>
              <a:rPr b="1" dirty="0">
                <a:solidFill>
                  <a:srgbClr val="1D6FE6"/>
                </a:solidFill>
                <a:latin typeface="Aptos"/>
              </a:rPr>
              <a:t> Threat Profile &amp; Severity Breakdown</a:t>
            </a:r>
          </a:p>
        </p:txBody>
      </p:sp>
      <p:sp>
        <p:nvSpPr>
          <p:cNvPr id="10" name="TextBox 9">
            <a:extLst>
              <a:ext uri="{FF2B5EF4-FFF2-40B4-BE49-F238E27FC236}">
                <a16:creationId xmlns:a16="http://schemas.microsoft.com/office/drawing/2014/main" xmlns="" id="{57BF0790-41DE-E427-AFFA-6EE6CB6EBD90}"/>
              </a:ext>
            </a:extLst>
          </p:cNvPr>
          <p:cNvSpPr txBox="1"/>
          <p:nvPr/>
        </p:nvSpPr>
        <p:spPr>
          <a:xfrm>
            <a:off x="621792" y="749808"/>
            <a:ext cx="5474208" cy="1423980"/>
          </a:xfrm>
          <a:prstGeom prst="rect">
            <a:avLst/>
          </a:prstGeom>
          <a:noFill/>
        </p:spPr>
        <p:txBody>
          <a:bodyPr wrap="square">
            <a:spAutoFit/>
          </a:bodyPr>
          <a:lstStyle/>
          <a:p>
            <a:pPr>
              <a:spcAft>
                <a:spcPts val="200"/>
              </a:spcAft>
            </a:pPr>
            <a:r>
              <a:rPr sz="1019" b="0" dirty="0">
                <a:solidFill>
                  <a:srgbClr val="16294A"/>
                </a:solidFill>
                <a:latin typeface="Aptos"/>
              </a:rPr>
              <a:t>• Provides a detailed threat profile by combining attack type with High, Low and Medium severity counts; the table exposes the exact breakdown behind the totals.</a:t>
            </a:r>
          </a:p>
          <a:p>
            <a:pPr>
              <a:spcAft>
                <a:spcPts val="200"/>
              </a:spcAft>
            </a:pPr>
            <a:r>
              <a:rPr sz="1019" b="0" dirty="0">
                <a:solidFill>
                  <a:srgbClr val="16294A"/>
                </a:solidFill>
                <a:latin typeface="Aptos"/>
              </a:rPr>
              <a:t>• Action Taken by Attack Type compares Blocked, Ignored and Logged responses for DDoS, Malware and Intrusion, making response imbalance visible.</a:t>
            </a:r>
          </a:p>
          <a:p>
            <a:pPr>
              <a:spcAft>
                <a:spcPts val="200"/>
              </a:spcAft>
            </a:pPr>
            <a:r>
              <a:rPr sz="1019" b="0" dirty="0">
                <a:solidFill>
                  <a:srgbClr val="16294A"/>
                </a:solidFill>
                <a:latin typeface="Aptos"/>
              </a:rPr>
              <a:t>• The % High Severity and Malware Detected KPI cards turn the detailed dataset into quick executive indicators, while the decomposition tree supports guided exploration.</a:t>
            </a:r>
          </a:p>
          <a:p>
            <a:pPr>
              <a:spcAft>
                <a:spcPts val="200"/>
              </a:spcAft>
            </a:pPr>
            <a:r>
              <a:rPr sz="1019" b="0" dirty="0">
                <a:solidFill>
                  <a:srgbClr val="16294A"/>
                </a:solidFill>
                <a:latin typeface="Aptos"/>
              </a:rPr>
              <a:t>• Severity Mix by Network Segment, anomaly-band ranking and the attack-type/signature </a:t>
            </a:r>
            <a:r>
              <a:rPr sz="1019" b="0" dirty="0" err="1">
                <a:solidFill>
                  <a:srgbClr val="16294A"/>
                </a:solidFill>
                <a:latin typeface="Aptos"/>
              </a:rPr>
              <a:t>treemap</a:t>
            </a:r>
            <a:r>
              <a:rPr sz="1019" b="0" dirty="0">
                <a:solidFill>
                  <a:srgbClr val="16294A"/>
                </a:solidFill>
                <a:latin typeface="Aptos"/>
              </a:rPr>
              <a:t> connect severity, network segments and known patterns into one investigative view.</a:t>
            </a:r>
          </a:p>
        </p:txBody>
      </p:sp>
      <p:pic>
        <p:nvPicPr>
          <p:cNvPr id="12" name="Picture 11" descr="abc6cfe1-b2ee-488f-a8d1-feb55c6ca95e.png">
            <a:extLst>
              <a:ext uri="{FF2B5EF4-FFF2-40B4-BE49-F238E27FC236}">
                <a16:creationId xmlns:a16="http://schemas.microsoft.com/office/drawing/2014/main" xmlns="" id="{3CC62EA2-579F-C138-A9AA-7A07C63733E8}"/>
              </a:ext>
            </a:extLst>
          </p:cNvPr>
          <p:cNvPicPr>
            <a:picLocks noChangeAspect="1"/>
          </p:cNvPicPr>
          <p:nvPr/>
        </p:nvPicPr>
        <p:blipFill>
          <a:blip r:embed="rId2"/>
          <a:stretch>
            <a:fillRect/>
          </a:stretch>
        </p:blipFill>
        <p:spPr>
          <a:xfrm>
            <a:off x="738798" y="2714835"/>
            <a:ext cx="5263896" cy="3393357"/>
          </a:xfrm>
          <a:prstGeom prst="rect">
            <a:avLst/>
          </a:prstGeom>
          <a:ln>
            <a:solidFill>
              <a:schemeClr val="tx1"/>
            </a:solidFill>
          </a:ln>
        </p:spPr>
      </p:pic>
      <p:sp>
        <p:nvSpPr>
          <p:cNvPr id="14" name="TextBox 13">
            <a:extLst>
              <a:ext uri="{FF2B5EF4-FFF2-40B4-BE49-F238E27FC236}">
                <a16:creationId xmlns:a16="http://schemas.microsoft.com/office/drawing/2014/main" xmlns="" id="{6B7EBA3A-D46B-0DB1-9ABC-0DF99529F281}"/>
              </a:ext>
            </a:extLst>
          </p:cNvPr>
          <p:cNvSpPr txBox="1"/>
          <p:nvPr/>
        </p:nvSpPr>
        <p:spPr>
          <a:xfrm>
            <a:off x="6756773" y="210312"/>
            <a:ext cx="4618893" cy="369332"/>
          </a:xfrm>
          <a:prstGeom prst="rect">
            <a:avLst/>
          </a:prstGeom>
          <a:noFill/>
        </p:spPr>
        <p:txBody>
          <a:bodyPr wrap="none">
            <a:spAutoFit/>
          </a:bodyPr>
          <a:lstStyle/>
          <a:p>
            <a:r>
              <a:rPr b="1" dirty="0">
                <a:solidFill>
                  <a:srgbClr val="1D6FE6"/>
                </a:solidFill>
                <a:latin typeface="Aptos"/>
              </a:rPr>
              <a:t>06  Dashboard 6 </a:t>
            </a:r>
            <a:r>
              <a:rPr lang="en-IN" b="1" dirty="0">
                <a:solidFill>
                  <a:srgbClr val="1D6FE6"/>
                </a:solidFill>
                <a:latin typeface="Aptos"/>
              </a:rPr>
              <a:t>-</a:t>
            </a:r>
            <a:r>
              <a:rPr b="1" dirty="0">
                <a:solidFill>
                  <a:srgbClr val="1D6FE6"/>
                </a:solidFill>
                <a:latin typeface="Aptos"/>
              </a:rPr>
              <a:t> Security Alert Monitoring</a:t>
            </a:r>
          </a:p>
        </p:txBody>
      </p:sp>
      <p:sp>
        <p:nvSpPr>
          <p:cNvPr id="16" name="TextBox 15">
            <a:extLst>
              <a:ext uri="{FF2B5EF4-FFF2-40B4-BE49-F238E27FC236}">
                <a16:creationId xmlns:a16="http://schemas.microsoft.com/office/drawing/2014/main" xmlns="" id="{B8EBEDFF-2851-5A23-9327-EAD5BEFDCBE1}"/>
              </a:ext>
            </a:extLst>
          </p:cNvPr>
          <p:cNvSpPr txBox="1"/>
          <p:nvPr/>
        </p:nvSpPr>
        <p:spPr>
          <a:xfrm>
            <a:off x="6756772" y="821094"/>
            <a:ext cx="4837819" cy="1580817"/>
          </a:xfrm>
          <a:prstGeom prst="rect">
            <a:avLst/>
          </a:prstGeom>
          <a:noFill/>
        </p:spPr>
        <p:txBody>
          <a:bodyPr wrap="square">
            <a:spAutoFit/>
          </a:bodyPr>
          <a:lstStyle/>
          <a:p>
            <a:pPr>
              <a:spcAft>
                <a:spcPts val="200"/>
              </a:spcAft>
            </a:pPr>
            <a:r>
              <a:rPr sz="1019" b="0" dirty="0">
                <a:solidFill>
                  <a:srgbClr val="16294A"/>
                </a:solidFill>
                <a:latin typeface="Aptos"/>
              </a:rPr>
              <a:t>• Monitors alert activity over time and reports three headline rates: overall alert rate, IDS/IPS rate and malware-detected rate.</a:t>
            </a:r>
          </a:p>
          <a:p>
            <a:pPr>
              <a:spcAft>
                <a:spcPts val="200"/>
              </a:spcAft>
            </a:pPr>
            <a:r>
              <a:rPr sz="1019" b="0" dirty="0">
                <a:solidFill>
                  <a:srgbClr val="16294A"/>
                </a:solidFill>
                <a:latin typeface="Aptos"/>
              </a:rPr>
              <a:t>• Alerts/Warnings status by Attack Type compares triggered vs non-triggered status for DDoS, Malware and Intrusion, helping identify where alerting is concentrated.</a:t>
            </a:r>
          </a:p>
          <a:p>
            <a:pPr>
              <a:spcAft>
                <a:spcPts val="200"/>
              </a:spcAft>
            </a:pPr>
            <a:r>
              <a:rPr sz="1019" b="0" dirty="0">
                <a:solidFill>
                  <a:srgbClr val="16294A"/>
                </a:solidFill>
                <a:latin typeface="Aptos"/>
              </a:rPr>
              <a:t>• Proxy Information used vs not used shows the balance of proxy context, while firewall-log presence by severity indicates log coverage for High, Medium and Low events.</a:t>
            </a:r>
          </a:p>
          <a:p>
            <a:pPr>
              <a:spcAft>
                <a:spcPts val="200"/>
              </a:spcAft>
            </a:pPr>
            <a:r>
              <a:rPr sz="1019" b="0" dirty="0">
                <a:solidFill>
                  <a:srgbClr val="16294A"/>
                </a:solidFill>
                <a:latin typeface="Aptos"/>
              </a:rPr>
              <a:t>• The Blocked Rate gauge converts response activity into an easy-to-read percentage, complementing the time-series and categorical monitoring views.</a:t>
            </a:r>
          </a:p>
        </p:txBody>
      </p:sp>
      <p:pic>
        <p:nvPicPr>
          <p:cNvPr id="18" name="Picture 17" descr="8abc89e9-aac0-4520-9180-7c2c6ebd97b5.png">
            <a:extLst>
              <a:ext uri="{FF2B5EF4-FFF2-40B4-BE49-F238E27FC236}">
                <a16:creationId xmlns:a16="http://schemas.microsoft.com/office/drawing/2014/main" xmlns="" id="{2109F58D-61B4-BD3B-8D87-E1A8ADFB2304}"/>
              </a:ext>
            </a:extLst>
          </p:cNvPr>
          <p:cNvPicPr>
            <a:picLocks noChangeAspect="1"/>
          </p:cNvPicPr>
          <p:nvPr/>
        </p:nvPicPr>
        <p:blipFill>
          <a:blip r:embed="rId3"/>
          <a:stretch>
            <a:fillRect/>
          </a:stretch>
        </p:blipFill>
        <p:spPr>
          <a:xfrm>
            <a:off x="6859410" y="2714835"/>
            <a:ext cx="5111766" cy="3393357"/>
          </a:xfrm>
          <a:prstGeom prst="rect">
            <a:avLst/>
          </a:prstGeom>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7059497" cy="407804"/>
          </a:xfrm>
          <a:prstGeom prst="rect">
            <a:avLst/>
          </a:prstGeom>
          <a:noFill/>
        </p:spPr>
        <p:txBody>
          <a:bodyPr wrap="none">
            <a:spAutoFit/>
          </a:bodyPr>
          <a:lstStyle/>
          <a:p>
            <a:r>
              <a:rPr sz="2050" b="1" dirty="0">
                <a:solidFill>
                  <a:srgbClr val="1D6FE6"/>
                </a:solidFill>
                <a:latin typeface="Aptos"/>
              </a:rPr>
              <a:t>07  Dashboard 7 </a:t>
            </a:r>
            <a:r>
              <a:rPr lang="en-IN" sz="2050" b="1" dirty="0">
                <a:solidFill>
                  <a:srgbClr val="1D6FE6"/>
                </a:solidFill>
                <a:latin typeface="Aptos"/>
              </a:rPr>
              <a:t>-</a:t>
            </a:r>
            <a:r>
              <a:rPr sz="2050" b="1" dirty="0">
                <a:solidFill>
                  <a:srgbClr val="1D6FE6"/>
                </a:solidFill>
                <a:latin typeface="Aptos"/>
              </a:rPr>
              <a:t> Attack Trends &amp; Response Effectiveness</a:t>
            </a:r>
          </a:p>
        </p:txBody>
      </p:sp>
      <p:sp>
        <p:nvSpPr>
          <p:cNvPr id="4" name="TextBox 3"/>
          <p:cNvSpPr txBox="1"/>
          <p:nvPr/>
        </p:nvSpPr>
        <p:spPr>
          <a:xfrm>
            <a:off x="621792" y="749808"/>
            <a:ext cx="10972800" cy="1325880"/>
          </a:xfrm>
          <a:prstGeom prst="rect">
            <a:avLst/>
          </a:prstGeom>
          <a:noFill/>
        </p:spPr>
        <p:txBody>
          <a:bodyPr wrap="square">
            <a:spAutoFit/>
          </a:bodyPr>
          <a:lstStyle/>
          <a:p>
            <a:pPr>
              <a:spcAft>
                <a:spcPts val="200"/>
              </a:spcAft>
            </a:pPr>
            <a:r>
              <a:rPr sz="1019" b="0">
                <a:solidFill>
                  <a:srgbClr val="16294A"/>
                </a:solidFill>
                <a:latin typeface="Aptos"/>
              </a:rPr>
              <a:t>• Combines attack volume and blocked-rate trends with a response summary table, making it the strongest page for evaluating response effectiveness by attack type.</a:t>
            </a:r>
          </a:p>
          <a:p>
            <a:pPr>
              <a:spcAft>
                <a:spcPts val="200"/>
              </a:spcAft>
            </a:pPr>
            <a:r>
              <a:rPr sz="1019" b="0">
                <a:solidFill>
                  <a:srgbClr val="16294A"/>
                </a:solidFill>
                <a:latin typeface="Aptos"/>
              </a:rPr>
              <a:t>• The response table ranks DDoS, Malware and Intrusion by attack density and block rate, while the waterfall visual compares relative block-rate performance.</a:t>
            </a:r>
          </a:p>
          <a:p>
            <a:pPr>
              <a:spcAft>
                <a:spcPts val="200"/>
              </a:spcAft>
            </a:pPr>
            <a:r>
              <a:rPr sz="1019" b="0">
                <a:solidFill>
                  <a:srgbClr val="16294A"/>
                </a:solidFill>
                <a:latin typeface="Aptos"/>
              </a:rPr>
              <a:t>• The benchmark visual places alert-rate performance against a reference scale, and the Sankey flow traces each attack type into Blocked, Ignored and Logged outcomes.</a:t>
            </a:r>
          </a:p>
          <a:p>
            <a:pPr>
              <a:spcAft>
                <a:spcPts val="200"/>
              </a:spcAft>
            </a:pPr>
            <a:r>
              <a:rPr sz="1019" b="0">
                <a:solidFill>
                  <a:srgbClr val="16294A"/>
                </a:solidFill>
                <a:latin typeface="Aptos"/>
              </a:rPr>
              <a:t>• Together, the visuals highlight the central response question: how much malicious activity is detected, how much is blocked, and where the remaining gap sits.</a:t>
            </a:r>
          </a:p>
        </p:txBody>
      </p:sp>
      <p:pic>
        <p:nvPicPr>
          <p:cNvPr id="6" name="Picture 5" descr="076562bc-dcbe-464d-9719-3872546d0d5f.png"/>
          <p:cNvPicPr>
            <a:picLocks noChangeAspect="1"/>
          </p:cNvPicPr>
          <p:nvPr/>
        </p:nvPicPr>
        <p:blipFill>
          <a:blip r:embed="rId2"/>
          <a:stretch>
            <a:fillRect/>
          </a:stretch>
        </p:blipFill>
        <p:spPr>
          <a:xfrm>
            <a:off x="830424" y="2207380"/>
            <a:ext cx="9470571" cy="3691937"/>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06 · CHALLENGES &amp; RESOLUTIONS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Obstacles met and how the team solved them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6" name="Image 0" descr="preencoded.png"/>
          <p:cNvPicPr>
            <a:picLocks noChangeAspect="1"/>
          </p:cNvPicPr>
          <p:nvPr/>
        </p:nvPicPr>
        <p:blipFill>
          <a:blip r:embed="rId4"/>
          <a:stretch>
            <a:fillRect/>
          </a:stretch>
        </p:blipFill>
        <p:spPr>
          <a:xfrm>
            <a:off x="658368" y="1591056"/>
            <a:ext cx="237744" cy="237744"/>
          </a:xfrm>
          <a:prstGeom prst="rect">
            <a:avLst/>
          </a:prstGeom>
        </p:spPr>
      </p:pic>
      <p:sp>
        <p:nvSpPr>
          <p:cNvPr id="7" name="Text 4"/>
          <p:cNvSpPr/>
          <p:nvPr/>
        </p:nvSpPr>
        <p:spPr>
          <a:xfrm>
            <a:off x="1115568" y="1481328"/>
            <a:ext cx="44805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D97706"/>
                </a:solidFill>
                <a:effectLst/>
                <a:uLnTx/>
                <a:uFillTx/>
                <a:latin typeface="Bookman Old Style" pitchFamily="34" charset="0"/>
                <a:ea typeface="Bookman Old Style" pitchFamily="34" charset="-122"/>
                <a:cs typeface="Bookman Old Style" pitchFamily="34" charset="-120"/>
              </a:rPr>
              <a:t>CHALLENGES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263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9" name="Image 1" descr="preencoded.png"/>
          <p:cNvPicPr>
            <a:picLocks noChangeAspect="1"/>
          </p:cNvPicPr>
          <p:nvPr/>
        </p:nvPicPr>
        <p:blipFill>
          <a:blip r:embed="rId5"/>
          <a:stretch>
            <a:fillRect/>
          </a:stretch>
        </p:blipFill>
        <p:spPr>
          <a:xfrm>
            <a:off x="6373368" y="1591056"/>
            <a:ext cx="237744" cy="237744"/>
          </a:xfrm>
          <a:prstGeom prst="rect">
            <a:avLst/>
          </a:prstGeom>
        </p:spPr>
      </p:pic>
      <p:sp>
        <p:nvSpPr>
          <p:cNvPr id="10" name="Text 6"/>
          <p:cNvSpPr/>
          <p:nvPr/>
        </p:nvSpPr>
        <p:spPr>
          <a:xfrm>
            <a:off x="6830568" y="1481328"/>
            <a:ext cx="44805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59669"/>
                </a:solidFill>
                <a:effectLst/>
                <a:uLnTx/>
                <a:uFillTx/>
                <a:latin typeface="Bookman Old Style" pitchFamily="34" charset="0"/>
                <a:ea typeface="Bookman Old Style" pitchFamily="34" charset="-122"/>
                <a:cs typeface="Bookman Old Style" pitchFamily="34" charset="-120"/>
              </a:rPr>
              <a:t>RESOLUTIONS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5" name="Group 18">
            <a:extLst>
              <a:ext uri="{FF2B5EF4-FFF2-40B4-BE49-F238E27FC236}">
                <a16:creationId xmlns:a16="http://schemas.microsoft.com/office/drawing/2014/main" xmlns="" id="{3350ACB2-8EEB-E71C-6DD7-DF697B601A04}"/>
              </a:ext>
            </a:extLst>
          </p:cNvPr>
          <p:cNvGrpSpPr/>
          <p:nvPr/>
        </p:nvGrpSpPr>
        <p:grpSpPr>
          <a:xfrm>
            <a:off x="127718" y="92211"/>
            <a:ext cx="1168193" cy="227829"/>
            <a:chOff x="0" y="0"/>
            <a:chExt cx="3584702" cy="861695"/>
          </a:xfrm>
        </p:grpSpPr>
        <p:sp>
          <p:nvSpPr>
            <p:cNvPr id="36" name="Freeform 19">
              <a:extLst>
                <a:ext uri="{FF2B5EF4-FFF2-40B4-BE49-F238E27FC236}">
                  <a16:creationId xmlns:a16="http://schemas.microsoft.com/office/drawing/2014/main" xmlns="" id="{087B631E-0061-5493-FD7E-2FBF5FE4B28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
        <p:nvSpPr>
          <p:cNvPr id="37" name="TextBox 36">
            <a:extLst>
              <a:ext uri="{FF2B5EF4-FFF2-40B4-BE49-F238E27FC236}">
                <a16:creationId xmlns:a16="http://schemas.microsoft.com/office/drawing/2014/main" xmlns="" id="{CD467B9E-9B28-5BD7-4652-C98A80CEB335}"/>
              </a:ext>
            </a:extLst>
          </p:cNvPr>
          <p:cNvSpPr txBox="1"/>
          <p:nvPr/>
        </p:nvSpPr>
        <p:spPr>
          <a:xfrm>
            <a:off x="373225" y="2239347"/>
            <a:ext cx="11249608" cy="3359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0" name="Table 39">
            <a:extLst>
              <a:ext uri="{FF2B5EF4-FFF2-40B4-BE49-F238E27FC236}">
                <a16:creationId xmlns:a16="http://schemas.microsoft.com/office/drawing/2014/main" xmlns="" id="{27256643-314C-A09B-6744-116C2B35779A}"/>
              </a:ext>
            </a:extLst>
          </p:cNvPr>
          <p:cNvGraphicFramePr>
            <a:graphicFrameLocks noGrp="1"/>
          </p:cNvGraphicFramePr>
          <p:nvPr/>
        </p:nvGraphicFramePr>
        <p:xfrm>
          <a:off x="270588" y="2063742"/>
          <a:ext cx="11708052" cy="4599078"/>
        </p:xfrm>
        <a:graphic>
          <a:graphicData uri="http://schemas.openxmlformats.org/drawingml/2006/table">
            <a:tbl>
              <a:tblPr/>
              <a:tblGrid>
                <a:gridCol w="5854026">
                  <a:extLst>
                    <a:ext uri="{9D8B030D-6E8A-4147-A177-3AD203B41FA5}">
                      <a16:colId xmlns:a16="http://schemas.microsoft.com/office/drawing/2014/main" xmlns="" val="3889141794"/>
                    </a:ext>
                  </a:extLst>
                </a:gridCol>
                <a:gridCol w="5854026">
                  <a:extLst>
                    <a:ext uri="{9D8B030D-6E8A-4147-A177-3AD203B41FA5}">
                      <a16:colId xmlns:a16="http://schemas.microsoft.com/office/drawing/2014/main" xmlns="" val="585343023"/>
                    </a:ext>
                  </a:extLst>
                </a:gridCol>
              </a:tblGrid>
              <a:tr h="881961">
                <a:tc>
                  <a:txBody>
                    <a:bodyPr/>
                    <a:lstStyle/>
                    <a:p>
                      <a:pPr>
                        <a:buNone/>
                      </a:pPr>
                      <a:r>
                        <a:rPr lang="en-IN" sz="1400" b="1" dirty="0"/>
                        <a:t>1. Maintaining performance with a 40,000-row dataset</a:t>
                      </a:r>
                      <a:r>
                        <a:rPr lang="en-IN" sz="1400" dirty="0"/>
                        <a:t> - Keeping the Power BI model responsive while multiple visuals, KPIs and interactive filters operated simultaneously was a key performance challenge.</a:t>
                      </a:r>
                    </a:p>
                  </a:txBody>
                  <a:tcPr marL="52426" marR="52426" marT="26213" marB="26213" anchor="ctr">
                    <a:lnL>
                      <a:noFill/>
                    </a:lnL>
                    <a:lnR>
                      <a:noFill/>
                    </a:lnR>
                    <a:lnT>
                      <a:noFill/>
                    </a:lnT>
                    <a:lnB>
                      <a:noFill/>
                    </a:lnB>
                    <a:noFill/>
                  </a:tcPr>
                </a:tc>
                <a:tc>
                  <a:txBody>
                    <a:bodyPr/>
                    <a:lstStyle/>
                    <a:p>
                      <a:pPr>
                        <a:buNone/>
                      </a:pPr>
                      <a:r>
                        <a:rPr lang="en-IN" sz="1400" b="1" dirty="0"/>
                        <a:t>Optimised the data model and DAX</a:t>
                      </a:r>
                      <a:r>
                        <a:rPr lang="en-IN" sz="1400" dirty="0"/>
                        <a:t> - Used efficient DAX measures and disabled unnecessary automatic date/time tables to reduce model overhead and maintain dashboard responsiveness.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2325002842"/>
                  </a:ext>
                </a:extLst>
              </a:tr>
              <a:tr h="881961">
                <a:tc>
                  <a:txBody>
                    <a:bodyPr/>
                    <a:lstStyle/>
                    <a:p>
                      <a:pPr>
                        <a:buNone/>
                      </a:pPr>
                      <a:r>
                        <a:rPr lang="en-IN" sz="1400" b="1" dirty="0"/>
                        <a:t>2. Designing reliable derived metrics</a:t>
                      </a:r>
                      <a:r>
                        <a:rPr lang="en-IN" sz="1400" dirty="0"/>
                        <a:t> - Measures such as </a:t>
                      </a:r>
                      <a:r>
                        <a:rPr lang="en-IN" sz="1400" b="1" dirty="0"/>
                        <a:t>% High Severity, Block Rate %, Malware Detected and Anomaly Score Bands</a:t>
                      </a:r>
                      <a:r>
                        <a:rPr lang="en-IN" sz="1400" dirty="0"/>
                        <a:t> had to produce accurate results under different slicers and filter combinations.</a:t>
                      </a:r>
                    </a:p>
                  </a:txBody>
                  <a:tcPr marL="52426" marR="52426" marT="26213" marB="26213" anchor="ctr">
                    <a:lnL>
                      <a:noFill/>
                    </a:lnL>
                    <a:lnR>
                      <a:noFill/>
                    </a:lnR>
                    <a:lnT>
                      <a:noFill/>
                    </a:lnT>
                    <a:lnB>
                      <a:noFill/>
                    </a:lnB>
                    <a:noFill/>
                  </a:tcPr>
                </a:tc>
                <a:tc>
                  <a:txBody>
                    <a:bodyPr/>
                    <a:lstStyle/>
                    <a:p>
                      <a:pPr>
                        <a:buNone/>
                      </a:pPr>
                      <a:r>
                        <a:rPr lang="en-IN" sz="1400" b="1" dirty="0"/>
                        <a:t>Iterative testing and validation</a:t>
                      </a:r>
                      <a:r>
                        <a:rPr lang="en-IN" sz="1400" dirty="0"/>
                        <a:t> - Each measure was repeatedly tested across different slicers, visual interactions and filter contexts to ensure consistent and reliable outputs.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457163171"/>
                  </a:ext>
                </a:extLst>
              </a:tr>
              <a:tr h="881961">
                <a:tc>
                  <a:txBody>
                    <a:bodyPr/>
                    <a:lstStyle/>
                    <a:p>
                      <a:pPr>
                        <a:buNone/>
                      </a:pPr>
                      <a:r>
                        <a:rPr lang="en-IN" sz="1400" b="1" dirty="0"/>
                        <a:t>3. Handling and transforming raw cybersecurity data</a:t>
                      </a:r>
                      <a:r>
                        <a:rPr lang="en-IN" sz="1400" dirty="0"/>
                        <a:t> - The dataset required multiple cleaning and transformation operations, including missing values, duplicates, data types, geographic fields and derived analytical columns.</a:t>
                      </a:r>
                    </a:p>
                  </a:txBody>
                  <a:tcPr marL="52426" marR="52426" marT="26213" marB="26213" anchor="ctr">
                    <a:lnL>
                      <a:noFill/>
                    </a:lnL>
                    <a:lnR>
                      <a:noFill/>
                    </a:lnR>
                    <a:lnT>
                      <a:noFill/>
                    </a:lnT>
                    <a:lnB>
                      <a:noFill/>
                    </a:lnB>
                    <a:noFill/>
                  </a:tcPr>
                </a:tc>
                <a:tc>
                  <a:txBody>
                    <a:bodyPr/>
                    <a:lstStyle/>
                    <a:p>
                      <a:pPr>
                        <a:buNone/>
                      </a:pPr>
                      <a:r>
                        <a:rPr lang="en-IN" sz="1400" b="1" dirty="0"/>
                        <a:t>Structured Power Query preprocessing</a:t>
                      </a:r>
                      <a:r>
                        <a:rPr lang="en-IN" sz="1400" dirty="0"/>
                        <a:t> - The team applied a systematic transformation workflow to clean, standardise and prepare the data before modelling and dashboard development. </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2575479663"/>
                  </a:ext>
                </a:extLst>
              </a:tr>
              <a:tr h="881961">
                <a:tc>
                  <a:txBody>
                    <a:bodyPr/>
                    <a:lstStyle/>
                    <a:p>
                      <a:pPr>
                        <a:buNone/>
                      </a:pPr>
                      <a:r>
                        <a:rPr lang="en-IN" sz="1400" b="1" dirty="0"/>
                        <a:t>4. Maintaining consistency across dashboards</a:t>
                      </a:r>
                      <a:r>
                        <a:rPr lang="en-IN" sz="1400" dirty="0"/>
                        <a:t> - Different analytical views required a common visual language, severity representation, KPI structure and filtering experience, particularly when dashboards were developed collaboratively.</a:t>
                      </a:r>
                    </a:p>
                  </a:txBody>
                  <a:tcPr marL="52426" marR="52426" marT="26213" marB="26213" anchor="ctr">
                    <a:lnL>
                      <a:noFill/>
                    </a:lnL>
                    <a:lnR>
                      <a:noFill/>
                    </a:lnR>
                    <a:lnT>
                      <a:noFill/>
                    </a:lnT>
                    <a:lnB>
                      <a:noFill/>
                    </a:lnB>
                    <a:noFill/>
                  </a:tcPr>
                </a:tc>
                <a:tc>
                  <a:txBody>
                    <a:bodyPr/>
                    <a:lstStyle/>
                    <a:p>
                      <a:pPr>
                        <a:buNone/>
                      </a:pPr>
                      <a:r>
                        <a:rPr lang="en-IN" sz="1400" b="1" dirty="0"/>
                        <a:t>Standardised design and collaboration</a:t>
                      </a:r>
                      <a:r>
                        <a:rPr lang="en-IN" sz="1400" dirty="0"/>
                        <a:t> - Common colours, severity encoding, KPI conventions and dashboard layouts were followed, while Microsoft Teams and GitHub supported coordination and integration of team contributions.</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4274082641"/>
                  </a:ext>
                </a:extLst>
              </a:tr>
              <a:tr h="1047329">
                <a:tc>
                  <a:txBody>
                    <a:bodyPr/>
                    <a:lstStyle/>
                    <a:p>
                      <a:pPr>
                        <a:buNone/>
                      </a:pPr>
                      <a:r>
                        <a:rPr lang="en-IN" sz="1400" b="1" dirty="0"/>
                        <a:t>5. Ensuring analytical accuracy and meaningful insights</a:t>
                      </a:r>
                      <a:r>
                        <a:rPr lang="en-IN" sz="1400" dirty="0"/>
                        <a:t> - With multiple dimensions such as attack type, severity, network segment, anomaly bands and threat signatures, maintaining consistency between visuals and conclusions was challenging.</a:t>
                      </a:r>
                    </a:p>
                  </a:txBody>
                  <a:tcPr marL="52426" marR="52426" marT="26213" marB="26213" anchor="ctr">
                    <a:lnL>
                      <a:noFill/>
                    </a:lnL>
                    <a:lnR>
                      <a:noFill/>
                    </a:lnR>
                    <a:lnT>
                      <a:noFill/>
                    </a:lnT>
                    <a:lnB>
                      <a:noFill/>
                    </a:lnB>
                    <a:noFill/>
                  </a:tcPr>
                </a:tc>
                <a:tc>
                  <a:txBody>
                    <a:bodyPr/>
                    <a:lstStyle/>
                    <a:p>
                      <a:pPr>
                        <a:buNone/>
                      </a:pPr>
                      <a:r>
                        <a:rPr lang="en-IN" sz="1400" b="1" dirty="0"/>
                        <a:t>Cross-dashboard validation and analytical review</a:t>
                      </a:r>
                      <a:r>
                        <a:rPr lang="en-IN" sz="1400" dirty="0"/>
                        <a:t> - Findings were compared across dashboards and validated before being incorporated into the final report and presentation, helping ensure that the reported insights remained consistent with the underlying data. </a:t>
                      </a:r>
                    </a:p>
                  </a:txBody>
                  <a:tcPr marL="52426" marR="52426" marT="26213" marB="26213" anchor="ctr">
                    <a:lnL>
                      <a:noFill/>
                    </a:lnL>
                    <a:lnR>
                      <a:noFill/>
                    </a:lnR>
                    <a:lnT>
                      <a:noFill/>
                    </a:lnT>
                    <a:lnB>
                      <a:noFill/>
                    </a:lnB>
                    <a:noFill/>
                  </a:tcPr>
                </a:tc>
                <a:extLst>
                  <a:ext uri="{0D108BD9-81ED-4DB2-BD59-A6C34878D82A}">
                    <a16:rowId xmlns:a16="http://schemas.microsoft.com/office/drawing/2014/main" xmlns="" val="3325438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07 · LEARNINGS &amp; SKILLS ACQUIRED</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What this internship built</a:t>
            </a:r>
            <a:endParaRPr lang="en-US" sz="2400" dirty="0"/>
          </a:p>
        </p:txBody>
      </p:sp>
      <p:sp>
        <p:nvSpPr>
          <p:cNvPr id="5" name="Shape 3"/>
          <p:cNvSpPr/>
          <p:nvPr/>
        </p:nvSpPr>
        <p:spPr>
          <a:xfrm>
            <a:off x="548640" y="1508760"/>
            <a:ext cx="5440680" cy="3063240"/>
          </a:xfrm>
          <a:prstGeom prst="roundRect">
            <a:avLst>
              <a:gd name="adj" fmla="val 238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IN" dirty="0"/>
          </a:p>
        </p:txBody>
      </p:sp>
      <p:sp>
        <p:nvSpPr>
          <p:cNvPr id="6" name="Shape 4"/>
          <p:cNvSpPr/>
          <p:nvPr/>
        </p:nvSpPr>
        <p:spPr>
          <a:xfrm>
            <a:off x="822960" y="1764792"/>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896466"/>
            <a:ext cx="285293" cy="285293"/>
          </a:xfrm>
          <a:prstGeom prst="rect">
            <a:avLst/>
          </a:prstGeom>
        </p:spPr>
      </p:pic>
      <p:sp>
        <p:nvSpPr>
          <p:cNvPr id="8" name="Text 5"/>
          <p:cNvSpPr/>
          <p:nvPr/>
        </p:nvSpPr>
        <p:spPr>
          <a:xfrm>
            <a:off x="1508760" y="176479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TECHNICAL SKILLS</a:t>
            </a:r>
            <a:endParaRPr lang="en-US" sz="1600" dirty="0"/>
          </a:p>
        </p:txBody>
      </p:sp>
      <p:sp>
        <p:nvSpPr>
          <p:cNvPr id="9" name="Text 6"/>
          <p:cNvSpPr/>
          <p:nvPr/>
        </p:nvSpPr>
        <p:spPr>
          <a:xfrm>
            <a:off x="868680" y="2468880"/>
            <a:ext cx="4800600" cy="1920240"/>
          </a:xfrm>
          <a:prstGeom prst="rect">
            <a:avLst/>
          </a:prstGeom>
          <a:noFill/>
          <a:ln/>
        </p:spPr>
        <p:txBody>
          <a:bodyPr wrap="square" rtlCol="0" anchor="t"/>
          <a:lstStyle/>
          <a:p>
            <a:pPr algn="l">
              <a:spcAft>
                <a:spcPts val="800"/>
              </a:spcAft>
              <a:buSzPct val="100000"/>
            </a:pPr>
            <a:endParaRPr lang="en-US" sz="1250" dirty="0"/>
          </a:p>
        </p:txBody>
      </p:sp>
      <p:sp>
        <p:nvSpPr>
          <p:cNvPr id="10" name="Shape 7"/>
          <p:cNvSpPr/>
          <p:nvPr/>
        </p:nvSpPr>
        <p:spPr>
          <a:xfrm>
            <a:off x="6309360" y="1508760"/>
            <a:ext cx="5440680" cy="3063240"/>
          </a:xfrm>
          <a:prstGeom prst="roundRect">
            <a:avLst>
              <a:gd name="adj" fmla="val 238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1" name="Shape 8"/>
          <p:cNvSpPr/>
          <p:nvPr/>
        </p:nvSpPr>
        <p:spPr>
          <a:xfrm>
            <a:off x="6583680" y="1764792"/>
            <a:ext cx="548640" cy="548640"/>
          </a:xfrm>
          <a:prstGeom prst="roundRect">
            <a:avLst>
              <a:gd name="adj" fmla="val 15000"/>
            </a:avLst>
          </a:prstGeom>
          <a:solidFill>
            <a:srgbClr val="E9F2FE"/>
          </a:solidFill>
          <a:ln w="12700">
            <a:solidFill>
              <a:srgbClr val="1D6FE6">
                <a:alpha val="55000"/>
              </a:srgbClr>
            </a:solidFill>
            <a:prstDash val="solid"/>
          </a:ln>
        </p:spPr>
      </p:sp>
      <p:pic>
        <p:nvPicPr>
          <p:cNvPr id="12" name="Image 1" descr="preencoded.png"/>
          <p:cNvPicPr>
            <a:picLocks noChangeAspect="1"/>
          </p:cNvPicPr>
          <p:nvPr/>
        </p:nvPicPr>
        <p:blipFill>
          <a:blip r:embed="rId5"/>
          <a:stretch>
            <a:fillRect/>
          </a:stretch>
        </p:blipFill>
        <p:spPr>
          <a:xfrm>
            <a:off x="6715354" y="1896466"/>
            <a:ext cx="285293" cy="285293"/>
          </a:xfrm>
          <a:prstGeom prst="rect">
            <a:avLst/>
          </a:prstGeom>
        </p:spPr>
      </p:pic>
      <p:sp>
        <p:nvSpPr>
          <p:cNvPr id="13" name="Text 9"/>
          <p:cNvSpPr/>
          <p:nvPr/>
        </p:nvSpPr>
        <p:spPr>
          <a:xfrm>
            <a:off x="7269480" y="176479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SOFT SKILLS</a:t>
            </a:r>
            <a:endParaRPr lang="en-US" sz="1600" dirty="0"/>
          </a:p>
        </p:txBody>
      </p:sp>
      <p:sp>
        <p:nvSpPr>
          <p:cNvPr id="14" name="Text 10"/>
          <p:cNvSpPr/>
          <p:nvPr/>
        </p:nvSpPr>
        <p:spPr>
          <a:xfrm>
            <a:off x="6652260" y="2324069"/>
            <a:ext cx="4800600" cy="1920240"/>
          </a:xfrm>
          <a:prstGeom prst="rect">
            <a:avLst/>
          </a:prstGeom>
          <a:noFill/>
          <a:ln/>
        </p:spPr>
        <p:txBody>
          <a:bodyPr wrap="square" rtlCol="0" anchor="t"/>
          <a:lstStyle/>
          <a:p>
            <a:pPr lvl="0"/>
            <a:r>
              <a:rPr lang="en-IN" sz="1100" b="1" dirty="0"/>
              <a:t>Problem Solving</a:t>
            </a:r>
            <a:r>
              <a:rPr lang="en-IN" sz="1100" dirty="0"/>
              <a:t> - Tackled data-quality, modelling, performance and analytical challenges systematically. </a:t>
            </a:r>
          </a:p>
          <a:p>
            <a:pPr lvl="0"/>
            <a:r>
              <a:rPr lang="en-IN" sz="1100" b="1" dirty="0"/>
              <a:t>Analytical Thinking</a:t>
            </a:r>
            <a:r>
              <a:rPr lang="en-IN" sz="1100" dirty="0"/>
              <a:t> - Converted large volumes of raw security data into meaningful patterns and insights. </a:t>
            </a:r>
          </a:p>
          <a:p>
            <a:pPr lvl="0"/>
            <a:r>
              <a:rPr lang="en-IN" sz="1100" b="1" dirty="0"/>
              <a:t>Teamwork &amp; Collaboration</a:t>
            </a:r>
            <a:r>
              <a:rPr lang="en-IN" sz="1100" dirty="0"/>
              <a:t> - Coordinated dashboard development and integrated contributions across team members. </a:t>
            </a:r>
          </a:p>
          <a:p>
            <a:pPr lvl="0"/>
            <a:r>
              <a:rPr lang="en-IN" sz="1100" b="1" dirty="0"/>
              <a:t>Communication</a:t>
            </a:r>
            <a:r>
              <a:rPr lang="en-IN" sz="1100" dirty="0"/>
              <a:t> - Presented technical findings in a clear and understandable manner for different stakeholders. </a:t>
            </a:r>
          </a:p>
          <a:p>
            <a:pPr lvl="0"/>
            <a:r>
              <a:rPr lang="en-IN" sz="1100" b="1" dirty="0"/>
              <a:t>Presentation Skills</a:t>
            </a:r>
            <a:r>
              <a:rPr lang="en-IN" sz="1100" dirty="0"/>
              <a:t> - Developed and delivered structured project reports and dashboard walkthroughs. </a:t>
            </a:r>
          </a:p>
          <a:p>
            <a:pPr lvl="0"/>
            <a:r>
              <a:rPr lang="en-IN" sz="1100" b="1" dirty="0"/>
              <a:t>Decision-Oriented Thinking</a:t>
            </a:r>
            <a:r>
              <a:rPr lang="en-IN" sz="1100" dirty="0"/>
              <a:t> - Learned to connect analytical findings with practical cybersecurity actions and recommendations. </a:t>
            </a:r>
          </a:p>
          <a:p>
            <a:pPr>
              <a:lnSpc>
                <a:spcPct val="103000"/>
              </a:lnSpc>
              <a:spcAft>
                <a:spcPts val="1200"/>
              </a:spcAft>
              <a:buSzPct val="100000"/>
            </a:pPr>
            <a:endParaRPr lang="en-US" sz="1100" dirty="0"/>
          </a:p>
          <a:p>
            <a:pPr marL="177800" indent="-177800" algn="l">
              <a:spcAft>
                <a:spcPts val="1000"/>
              </a:spcAft>
              <a:buSzPct val="100000"/>
              <a:buChar char="•"/>
            </a:pPr>
            <a:endParaRPr lang="en-US" sz="1200" dirty="0"/>
          </a:p>
        </p:txBody>
      </p:sp>
      <p:sp>
        <p:nvSpPr>
          <p:cNvPr id="15" name="Shape 11"/>
          <p:cNvSpPr/>
          <p:nvPr/>
        </p:nvSpPr>
        <p:spPr>
          <a:xfrm>
            <a:off x="548640" y="4892040"/>
            <a:ext cx="11091672" cy="1234440"/>
          </a:xfrm>
          <a:prstGeom prst="roundRect">
            <a:avLst>
              <a:gd name="adj" fmla="val 5926"/>
            </a:avLst>
          </a:prstGeom>
          <a:solidFill>
            <a:srgbClr val="EAF3FF"/>
          </a:solidFill>
          <a:ln w="12700">
            <a:solidFill>
              <a:srgbClr val="1D6FE6">
                <a:alpha val="55000"/>
              </a:srgbClr>
            </a:solidFill>
            <a:prstDash val="solid"/>
          </a:ln>
        </p:spPr>
      </p:sp>
      <p:sp>
        <p:nvSpPr>
          <p:cNvPr id="16" name="Shape 12"/>
          <p:cNvSpPr/>
          <p:nvPr/>
        </p:nvSpPr>
        <p:spPr>
          <a:xfrm>
            <a:off x="822960" y="5230368"/>
            <a:ext cx="566928" cy="566928"/>
          </a:xfrm>
          <a:prstGeom prst="roundRect">
            <a:avLst>
              <a:gd name="adj" fmla="val 14516"/>
            </a:avLst>
          </a:prstGeom>
          <a:solidFill>
            <a:srgbClr val="FFFFFF"/>
          </a:solidFill>
          <a:ln w="12700">
            <a:solidFill>
              <a:srgbClr val="1D6FE6">
                <a:alpha val="55000"/>
              </a:srgbClr>
            </a:solidFill>
            <a:prstDash val="solid"/>
          </a:ln>
        </p:spPr>
      </p:sp>
      <p:pic>
        <p:nvPicPr>
          <p:cNvPr id="17" name="Image 2" descr="preencoded.png"/>
          <p:cNvPicPr>
            <a:picLocks noChangeAspect="1"/>
          </p:cNvPicPr>
          <p:nvPr/>
        </p:nvPicPr>
        <p:blipFill>
          <a:blip r:embed="rId6"/>
          <a:stretch>
            <a:fillRect/>
          </a:stretch>
        </p:blipFill>
        <p:spPr>
          <a:xfrm>
            <a:off x="959023" y="5366431"/>
            <a:ext cx="294803" cy="294803"/>
          </a:xfrm>
          <a:prstGeom prst="rect">
            <a:avLst/>
          </a:prstGeom>
        </p:spPr>
      </p:pic>
      <p:sp>
        <p:nvSpPr>
          <p:cNvPr id="18" name="Text 13"/>
          <p:cNvSpPr/>
          <p:nvPr/>
        </p:nvSpPr>
        <p:spPr>
          <a:xfrm>
            <a:off x="1417320" y="4892040"/>
            <a:ext cx="10332720" cy="1234440"/>
          </a:xfrm>
          <a:prstGeom prst="rect">
            <a:avLst/>
          </a:prstGeom>
          <a:noFill/>
          <a:ln/>
        </p:spPr>
        <p:txBody>
          <a:bodyPr wrap="square" rtlCol="0" anchor="ctr"/>
          <a:lstStyle/>
          <a:p>
            <a:pPr marL="0" indent="0" algn="l">
              <a:lnSpc>
                <a:spcPct val="105000"/>
              </a:lnSpc>
              <a:buNone/>
            </a:pPr>
            <a:r>
              <a:rPr lang="en-US" sz="1050" b="1" kern="0" spc="150" dirty="0">
                <a:solidFill>
                  <a:srgbClr val="1D6FE6"/>
                </a:solidFill>
                <a:latin typeface="Calibri" pitchFamily="34" charset="0"/>
                <a:ea typeface="Calibri" pitchFamily="34" charset="-122"/>
                <a:cs typeface="Calibri" pitchFamily="34" charset="-120"/>
              </a:rPr>
              <a:t>OVERALL EXPERIENCE
</a:t>
            </a:r>
            <a:r>
              <a:rPr lang="en-US" sz="1300" dirty="0">
                <a:solidFill>
                  <a:srgbClr val="16294A"/>
                </a:solidFill>
                <a:latin typeface="Calibri" pitchFamily="34" charset="0"/>
                <a:ea typeface="Calibri" pitchFamily="34" charset="-122"/>
                <a:cs typeface="Calibri" pitchFamily="34" charset="-120"/>
              </a:rPr>
              <a:t>Hands-on mastery of Power BI, DAX and analytical storytelling - reinforcing the real-world value of data-driven, evidence-based decision-making.</a:t>
            </a:r>
            <a:endParaRPr lang="en-US" sz="1050" dirty="0"/>
          </a:p>
        </p:txBody>
      </p:sp>
      <p:grpSp>
        <p:nvGrpSpPr>
          <p:cNvPr id="19" name="Group 18">
            <a:extLst>
              <a:ext uri="{FF2B5EF4-FFF2-40B4-BE49-F238E27FC236}">
                <a16:creationId xmlns:a16="http://schemas.microsoft.com/office/drawing/2014/main" xmlns="" id="{A0D558D1-36D2-7D24-E08B-9FFBC8740B00}"/>
              </a:ext>
            </a:extLst>
          </p:cNvPr>
          <p:cNvGrpSpPr/>
          <p:nvPr/>
        </p:nvGrpSpPr>
        <p:grpSpPr>
          <a:xfrm>
            <a:off x="127718" y="92211"/>
            <a:ext cx="1168193" cy="227829"/>
            <a:chOff x="0" y="0"/>
            <a:chExt cx="3584702" cy="861695"/>
          </a:xfrm>
        </p:grpSpPr>
        <p:sp>
          <p:nvSpPr>
            <p:cNvPr id="20" name="Freeform 19">
              <a:extLst>
                <a:ext uri="{FF2B5EF4-FFF2-40B4-BE49-F238E27FC236}">
                  <a16:creationId xmlns:a16="http://schemas.microsoft.com/office/drawing/2014/main" xmlns="" id="{CCEC6D07-3632-FF46-BD06-5FA6CA3E3031}"/>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7"/>
              <a:stretch>
                <a:fillRect t="-365" b="-365"/>
              </a:stretch>
            </a:blipFill>
          </p:spPr>
        </p:sp>
      </p:grpSp>
      <p:sp>
        <p:nvSpPr>
          <p:cNvPr id="24" name="Text 9">
            <a:extLst>
              <a:ext uri="{FF2B5EF4-FFF2-40B4-BE49-F238E27FC236}">
                <a16:creationId xmlns:a16="http://schemas.microsoft.com/office/drawing/2014/main" xmlns="" id="{1C6282DC-2987-C75A-41D2-0C03870EB882}"/>
              </a:ext>
            </a:extLst>
          </p:cNvPr>
          <p:cNvSpPr/>
          <p:nvPr/>
        </p:nvSpPr>
        <p:spPr>
          <a:xfrm>
            <a:off x="804672" y="2325934"/>
            <a:ext cx="4800600" cy="1920241"/>
          </a:xfrm>
          <a:prstGeom prst="rect">
            <a:avLst/>
          </a:prstGeom>
          <a:noFill/>
          <a:ln/>
        </p:spPr>
        <p:txBody>
          <a:bodyPr wrap="square" rtlCol="0" anchor="t"/>
          <a:lstStyle/>
          <a:p>
            <a:pPr lvl="0"/>
            <a:r>
              <a:rPr lang="en-IN" sz="1100" b="1" dirty="0"/>
              <a:t>Power BI &amp; Power Query</a:t>
            </a:r>
            <a:r>
              <a:rPr lang="en-IN" sz="1100" dirty="0"/>
              <a:t> - Data cleaning, transformation, ETL and dashboard development. </a:t>
            </a:r>
          </a:p>
          <a:p>
            <a:pPr lvl="0"/>
            <a:r>
              <a:rPr lang="en-IN" sz="1100" b="1" dirty="0"/>
              <a:t>Data Modelling &amp; DAX</a:t>
            </a:r>
            <a:r>
              <a:rPr lang="en-IN" sz="1100" dirty="0"/>
              <a:t> - Built relationships, Date tables, calculated columns, measures and KPI logic. </a:t>
            </a:r>
          </a:p>
          <a:p>
            <a:pPr lvl="0"/>
            <a:r>
              <a:rPr lang="en-IN" sz="1100" b="1" dirty="0"/>
              <a:t>Cybersecurity Analytics</a:t>
            </a:r>
            <a:r>
              <a:rPr lang="en-IN" sz="1100" dirty="0"/>
              <a:t> - Analysed attack types, severity, anomaly scores, network traffic, users and threat signatures. </a:t>
            </a:r>
          </a:p>
          <a:p>
            <a:pPr lvl="0"/>
            <a:r>
              <a:rPr lang="en-IN" sz="1100" b="1" dirty="0"/>
              <a:t>Advanced Visualization</a:t>
            </a:r>
            <a:r>
              <a:rPr lang="en-IN" sz="1100" dirty="0"/>
              <a:t> - Developed interactive dashboards using slicers, cross-filtering, Decomposition Tree, </a:t>
            </a:r>
            <a:r>
              <a:rPr lang="en-IN" sz="1100" dirty="0" err="1"/>
              <a:t>Treemap</a:t>
            </a:r>
            <a:r>
              <a:rPr lang="en-IN" sz="1100" dirty="0"/>
              <a:t>, Ribbon Chart and other visuals. </a:t>
            </a:r>
          </a:p>
          <a:p>
            <a:pPr lvl="0"/>
            <a:r>
              <a:rPr lang="en-IN" sz="1100" b="1" dirty="0"/>
              <a:t>Data Validation &amp; Reporting</a:t>
            </a:r>
            <a:r>
              <a:rPr lang="en-IN" sz="1100" dirty="0"/>
              <a:t> - Cross-checked analytical results and converted findings into structured reports and presentations. </a:t>
            </a:r>
          </a:p>
          <a:p>
            <a:pPr lvl="0"/>
            <a:r>
              <a:rPr lang="en-IN" sz="1100" b="1" dirty="0"/>
              <a:t>Collaboration &amp; Version Control</a:t>
            </a:r>
            <a:r>
              <a:rPr lang="en-IN" sz="1100" dirty="0"/>
              <a:t> - Used Microsoft Teams and GitHub to coordinate development and maintain project artefacts. </a:t>
            </a:r>
          </a:p>
          <a:p>
            <a:pPr algn="l">
              <a:lnSpc>
                <a:spcPct val="103000"/>
              </a:lnSpc>
              <a:spcAft>
                <a:spcPts val="1400"/>
              </a:spcAft>
              <a:buSzPct val="100000"/>
            </a:pP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400" b="1" kern="0" spc="300" dirty="0">
                <a:solidFill>
                  <a:srgbClr val="1D6FE6"/>
                </a:solidFill>
                <a:latin typeface="Calibri" pitchFamily="34" charset="0"/>
                <a:ea typeface="Calibri" pitchFamily="34" charset="-122"/>
                <a:cs typeface="Calibri" pitchFamily="34" charset="-120"/>
              </a:rPr>
              <a:t>08 · FUTURE ENHANCEMENTS &amp; KEY INSIGHTS</a:t>
            </a:r>
            <a:endParaRPr lang="en-US" sz="24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Where the framework goes next</a:t>
            </a:r>
            <a:endParaRPr lang="en-US" sz="2400" dirty="0"/>
          </a:p>
        </p:txBody>
      </p:sp>
      <p:sp>
        <p:nvSpPr>
          <p:cNvPr id="5" name="Shape 3"/>
          <p:cNvSpPr/>
          <p:nvPr/>
        </p:nvSpPr>
        <p:spPr>
          <a:xfrm>
            <a:off x="548640" y="1508760"/>
            <a:ext cx="5989320" cy="4709160"/>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783080"/>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914754"/>
            <a:ext cx="285293" cy="285293"/>
          </a:xfrm>
          <a:prstGeom prst="rect">
            <a:avLst/>
          </a:prstGeom>
        </p:spPr>
      </p:pic>
      <p:sp>
        <p:nvSpPr>
          <p:cNvPr id="8" name="Text 5"/>
          <p:cNvSpPr/>
          <p:nvPr/>
        </p:nvSpPr>
        <p:spPr>
          <a:xfrm>
            <a:off x="1508760" y="1783080"/>
            <a:ext cx="480060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FUTURE ENHANCEMENTS</a:t>
            </a:r>
            <a:endParaRPr lang="en-US" sz="1600" dirty="0"/>
          </a:p>
        </p:txBody>
      </p:sp>
      <p:sp>
        <p:nvSpPr>
          <p:cNvPr id="9" name="Text 6"/>
          <p:cNvSpPr/>
          <p:nvPr/>
        </p:nvSpPr>
        <p:spPr>
          <a:xfrm>
            <a:off x="868680" y="2560320"/>
            <a:ext cx="5349240" cy="3474720"/>
          </a:xfrm>
          <a:prstGeom prst="rect">
            <a:avLst/>
          </a:prstGeom>
          <a:noFill/>
          <a:ln/>
        </p:spPr>
        <p:txBody>
          <a:bodyPr wrap="square" rtlCol="0" anchor="t"/>
          <a:lstStyle/>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Integrate near-real-time data via scheduled refresh or DirectQuery</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Add predictive analytics - anomaly forecasting &amp; risk scoring (Python / R / Azure ML)</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Row-level security for role-based dashboards + automated alerting via Power Automate</a:t>
            </a:r>
            <a:endParaRPr lang="en-US" sz="1300" dirty="0"/>
          </a:p>
          <a:p>
            <a:pPr marL="203200" indent="-2032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Drill-through to raw incidents, a true India choropleth, and publish to the Power BI Service</a:t>
            </a:r>
            <a:endParaRPr lang="en-US" sz="1300" dirty="0"/>
          </a:p>
        </p:txBody>
      </p:sp>
      <p:sp>
        <p:nvSpPr>
          <p:cNvPr id="10" name="Text 7"/>
          <p:cNvSpPr/>
          <p:nvPr/>
        </p:nvSpPr>
        <p:spPr>
          <a:xfrm>
            <a:off x="6766560" y="1527048"/>
            <a:ext cx="4873752" cy="320040"/>
          </a:xfrm>
          <a:prstGeom prst="rect">
            <a:avLst/>
          </a:prstGeom>
          <a:noFill/>
          <a:ln/>
        </p:spPr>
        <p:txBody>
          <a:bodyPr wrap="square" rtlCol="0" anchor="ctr"/>
          <a:lstStyle/>
          <a:p>
            <a:pPr marL="0" indent="0">
              <a:buNone/>
            </a:pPr>
            <a:r>
              <a:rPr lang="en-US" sz="1100" b="1" kern="0" spc="200" dirty="0">
                <a:solidFill>
                  <a:srgbClr val="1D6FE6"/>
                </a:solidFill>
                <a:latin typeface="Calibri" pitchFamily="34" charset="0"/>
                <a:ea typeface="Calibri" pitchFamily="34" charset="-122"/>
                <a:cs typeface="Calibri" pitchFamily="34" charset="-120"/>
              </a:rPr>
              <a:t>KEY INSIGHTS</a:t>
            </a:r>
            <a:endParaRPr lang="en-US" sz="1100" dirty="0"/>
          </a:p>
        </p:txBody>
      </p:sp>
      <p:sp>
        <p:nvSpPr>
          <p:cNvPr id="11" name="Shape 8"/>
          <p:cNvSpPr/>
          <p:nvPr/>
        </p:nvSpPr>
        <p:spPr>
          <a:xfrm>
            <a:off x="6766560" y="1965960"/>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Text 9"/>
          <p:cNvSpPr/>
          <p:nvPr/>
        </p:nvSpPr>
        <p:spPr>
          <a:xfrm>
            <a:off x="7022592" y="2075688"/>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33.6%</a:t>
            </a:r>
            <a:endParaRPr lang="en-US" sz="3200" dirty="0"/>
          </a:p>
        </p:txBody>
      </p:sp>
      <p:sp>
        <p:nvSpPr>
          <p:cNvPr id="13" name="Text 10"/>
          <p:cNvSpPr/>
          <p:nvPr/>
        </p:nvSpPr>
        <p:spPr>
          <a:xfrm>
            <a:off x="8732520" y="2075688"/>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DDoS marginally leads a broad, multi-vector threat mix (Malware 33.3%, Intrusion 33.2%).</a:t>
            </a:r>
            <a:endParaRPr lang="en-US" sz="1150" dirty="0"/>
          </a:p>
        </p:txBody>
      </p:sp>
      <p:sp>
        <p:nvSpPr>
          <p:cNvPr id="14" name="Shape 11"/>
          <p:cNvSpPr/>
          <p:nvPr/>
        </p:nvSpPr>
        <p:spPr>
          <a:xfrm>
            <a:off x="6766560" y="3410712"/>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5" name="Text 12"/>
          <p:cNvSpPr/>
          <p:nvPr/>
        </p:nvSpPr>
        <p:spPr>
          <a:xfrm>
            <a:off x="7022592" y="3520440"/>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~45%</a:t>
            </a:r>
            <a:endParaRPr lang="en-US" sz="3200" dirty="0"/>
          </a:p>
        </p:txBody>
      </p:sp>
      <p:sp>
        <p:nvSpPr>
          <p:cNvPr id="16" name="Text 13"/>
          <p:cNvSpPr/>
          <p:nvPr/>
        </p:nvSpPr>
        <p:spPr>
          <a:xfrm>
            <a:off x="8732520" y="3520440"/>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Windows is the most-targeted OS; malware indicators appear in exactly 50% of events.</a:t>
            </a:r>
            <a:endParaRPr lang="en-US" sz="1150" dirty="0"/>
          </a:p>
        </p:txBody>
      </p:sp>
      <p:sp>
        <p:nvSpPr>
          <p:cNvPr id="17" name="Shape 14"/>
          <p:cNvSpPr/>
          <p:nvPr/>
        </p:nvSpPr>
        <p:spPr>
          <a:xfrm>
            <a:off x="6766560" y="4855464"/>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Text 15"/>
          <p:cNvSpPr/>
          <p:nvPr/>
        </p:nvSpPr>
        <p:spPr>
          <a:xfrm>
            <a:off x="7022592" y="4965192"/>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33.8%</a:t>
            </a:r>
            <a:endParaRPr lang="en-US" sz="3200" dirty="0"/>
          </a:p>
        </p:txBody>
      </p:sp>
      <p:sp>
        <p:nvSpPr>
          <p:cNvPr id="19" name="Text 16"/>
          <p:cNvSpPr/>
          <p:nvPr/>
        </p:nvSpPr>
        <p:spPr>
          <a:xfrm>
            <a:off x="8732520" y="4965192"/>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Only about a third of attacks are actively blocked - a clear, quantified response gap.</a:t>
            </a:r>
            <a:endParaRPr lang="en-US" sz="1150" dirty="0"/>
          </a:p>
        </p:txBody>
      </p:sp>
      <p:grpSp>
        <p:nvGrpSpPr>
          <p:cNvPr id="20" name="Group 18">
            <a:extLst>
              <a:ext uri="{FF2B5EF4-FFF2-40B4-BE49-F238E27FC236}">
                <a16:creationId xmlns:a16="http://schemas.microsoft.com/office/drawing/2014/main" xmlns="" id="{97835448-8758-8FF5-3988-1D9E00C6154E}"/>
              </a:ext>
            </a:extLst>
          </p:cNvPr>
          <p:cNvGrpSpPr/>
          <p:nvPr/>
        </p:nvGrpSpPr>
        <p:grpSpPr>
          <a:xfrm>
            <a:off x="127718" y="92211"/>
            <a:ext cx="1168193" cy="227829"/>
            <a:chOff x="0" y="0"/>
            <a:chExt cx="3584702" cy="861695"/>
          </a:xfrm>
        </p:grpSpPr>
        <p:sp>
          <p:nvSpPr>
            <p:cNvPr id="21" name="Freeform 19">
              <a:extLst>
                <a:ext uri="{FF2B5EF4-FFF2-40B4-BE49-F238E27FC236}">
                  <a16:creationId xmlns:a16="http://schemas.microsoft.com/office/drawing/2014/main" xmlns="" id="{41476127-8E1F-81DB-8ACB-7766B5014D05}"/>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09 · CONCLUSION</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From raw events to intelligence</a:t>
            </a:r>
            <a:endParaRPr lang="en-US" sz="2400" dirty="0"/>
          </a:p>
        </p:txBody>
      </p:sp>
      <p:sp>
        <p:nvSpPr>
          <p:cNvPr id="5" name="Text 3"/>
          <p:cNvSpPr/>
          <p:nvPr/>
        </p:nvSpPr>
        <p:spPr>
          <a:xfrm>
            <a:off x="548640" y="1508760"/>
            <a:ext cx="11064240" cy="960120"/>
          </a:xfrm>
          <a:prstGeom prst="rect">
            <a:avLst/>
          </a:prstGeom>
          <a:noFill/>
          <a:ln/>
        </p:spPr>
        <p:txBody>
          <a:bodyPr wrap="square" rtlCol="0" anchor="ctr"/>
          <a:lstStyle/>
          <a:p>
            <a:pPr marL="0" indent="0" algn="l">
              <a:lnSpc>
                <a:spcPct val="106000"/>
              </a:lnSpc>
              <a:buNone/>
            </a:pPr>
            <a:r>
              <a:rPr lang="en-US" sz="1900" b="1" dirty="0">
                <a:solidFill>
                  <a:srgbClr val="16294A"/>
                </a:solidFill>
                <a:latin typeface="Bookman Old Style" pitchFamily="34" charset="0"/>
                <a:ea typeface="Bookman Old Style" pitchFamily="34" charset="-122"/>
                <a:cs typeface="Bookman Old Style" pitchFamily="34" charset="-120"/>
              </a:rPr>
              <a:t>The Cyber Threat Analytics Platform successfully transformed 40,000 raw cybersecurity incidents into seven interactive Power BI dashboards</a:t>
            </a:r>
            <a:r>
              <a:rPr lang="en-US" sz="1900" dirty="0">
                <a:solidFill>
                  <a:srgbClr val="51617C"/>
                </a:solidFill>
                <a:latin typeface="Bookman Old Style" pitchFamily="34" charset="0"/>
                <a:ea typeface="Bookman Old Style" pitchFamily="34" charset="-122"/>
                <a:cs typeface="Bookman Old Style" pitchFamily="34" charset="-120"/>
              </a:rPr>
              <a:t> - delivering a complete, drill-able view of the threat landscape for technical and non-technical audiences alike.</a:t>
            </a:r>
            <a:endParaRPr lang="en-US" sz="1900" dirty="0"/>
          </a:p>
        </p:txBody>
      </p:sp>
      <p:sp>
        <p:nvSpPr>
          <p:cNvPr id="6" name="Shape 4"/>
          <p:cNvSpPr/>
          <p:nvPr/>
        </p:nvSpPr>
        <p:spPr>
          <a:xfrm>
            <a:off x="548639" y="2788919"/>
            <a:ext cx="3614929" cy="3976869"/>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7" name="Shape 5"/>
          <p:cNvSpPr/>
          <p:nvPr/>
        </p:nvSpPr>
        <p:spPr>
          <a:xfrm>
            <a:off x="822960"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8" name="Image 0" descr="preencoded.png"/>
          <p:cNvPicPr>
            <a:picLocks noChangeAspect="1"/>
          </p:cNvPicPr>
          <p:nvPr/>
        </p:nvPicPr>
        <p:blipFill>
          <a:blip r:embed="rId4"/>
          <a:stretch>
            <a:fillRect/>
          </a:stretch>
        </p:blipFill>
        <p:spPr>
          <a:xfrm>
            <a:off x="980968" y="3239536"/>
            <a:ext cx="342351" cy="342351"/>
          </a:xfrm>
          <a:prstGeom prst="rect">
            <a:avLst/>
          </a:prstGeom>
        </p:spPr>
      </p:pic>
      <p:sp>
        <p:nvSpPr>
          <p:cNvPr id="9" name="Text 6"/>
          <p:cNvSpPr/>
          <p:nvPr/>
        </p:nvSpPr>
        <p:spPr>
          <a:xfrm>
            <a:off x="822960" y="3904488"/>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Technical Impact</a:t>
            </a:r>
            <a:endParaRPr lang="en-US" sz="1600" dirty="0"/>
          </a:p>
        </p:txBody>
      </p:sp>
      <p:sp>
        <p:nvSpPr>
          <p:cNvPr id="10" name="Text 7"/>
          <p:cNvSpPr/>
          <p:nvPr/>
        </p:nvSpPr>
        <p:spPr>
          <a:xfrm>
            <a:off x="822960" y="4032505"/>
            <a:ext cx="3054096" cy="2610891"/>
          </a:xfrm>
          <a:prstGeom prst="rect">
            <a:avLst/>
          </a:prstGeom>
          <a:noFill/>
          <a:ln/>
        </p:spPr>
        <p:txBody>
          <a:bodyPr wrap="square" rtlCol="0" anchor="ctr"/>
          <a:lstStyle/>
          <a:p>
            <a:r>
              <a:rPr lang="en-IN" sz="1100" dirty="0"/>
              <a:t>The Cyber Threat Analytics project successfully ingested and transformed over 40,000 raw cybersecurity incident records into seven interactive Power BI dashboards. By executing a complete end-to-end Business Intelligence pipeline, the initiative achieved hands-on mastery of advanced DAX calculations, relational data </a:t>
            </a:r>
            <a:r>
              <a:rPr lang="en-IN" sz="1100" dirty="0" err="1"/>
              <a:t>modeling</a:t>
            </a:r>
            <a:r>
              <a:rPr lang="en-IN" sz="1100" dirty="0"/>
              <a:t>, and dynamic data visualization-converting fragmented technical logs into structured, drill-able security intelligence accessible to both SOC analysts and non-technical stakeholders.</a:t>
            </a:r>
            <a:endParaRPr lang="en-US" sz="1100" dirty="0"/>
          </a:p>
        </p:txBody>
      </p:sp>
      <p:sp>
        <p:nvSpPr>
          <p:cNvPr id="11" name="Shape 8"/>
          <p:cNvSpPr/>
          <p:nvPr/>
        </p:nvSpPr>
        <p:spPr>
          <a:xfrm>
            <a:off x="4288536" y="2788920"/>
            <a:ext cx="3453384" cy="3976868"/>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IN"/>
          </a:p>
        </p:txBody>
      </p:sp>
      <p:sp>
        <p:nvSpPr>
          <p:cNvPr id="12" name="Shape 9"/>
          <p:cNvSpPr/>
          <p:nvPr/>
        </p:nvSpPr>
        <p:spPr>
          <a:xfrm>
            <a:off x="4562856"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13" name="Image 1" descr="preencoded.png"/>
          <p:cNvPicPr>
            <a:picLocks noChangeAspect="1"/>
          </p:cNvPicPr>
          <p:nvPr/>
        </p:nvPicPr>
        <p:blipFill>
          <a:blip r:embed="rId5"/>
          <a:stretch>
            <a:fillRect/>
          </a:stretch>
        </p:blipFill>
        <p:spPr>
          <a:xfrm>
            <a:off x="4720864" y="3239536"/>
            <a:ext cx="342351" cy="342351"/>
          </a:xfrm>
          <a:prstGeom prst="rect">
            <a:avLst/>
          </a:prstGeom>
        </p:spPr>
      </p:pic>
      <p:sp>
        <p:nvSpPr>
          <p:cNvPr id="14" name="Text 10"/>
          <p:cNvSpPr/>
          <p:nvPr/>
        </p:nvSpPr>
        <p:spPr>
          <a:xfrm>
            <a:off x="4562856" y="3904488"/>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Practical Experience</a:t>
            </a:r>
            <a:endParaRPr lang="en-US" sz="1600" dirty="0"/>
          </a:p>
        </p:txBody>
      </p:sp>
      <p:sp>
        <p:nvSpPr>
          <p:cNvPr id="15" name="Text 11"/>
          <p:cNvSpPr/>
          <p:nvPr/>
        </p:nvSpPr>
        <p:spPr>
          <a:xfrm>
            <a:off x="4562856" y="4032504"/>
            <a:ext cx="2892303" cy="2610892"/>
          </a:xfrm>
          <a:prstGeom prst="rect">
            <a:avLst/>
          </a:prstGeom>
          <a:noFill/>
          <a:ln/>
        </p:spPr>
        <p:txBody>
          <a:bodyPr wrap="square" rtlCol="0" anchor="ctr"/>
          <a:lstStyle/>
          <a:p>
            <a:r>
              <a:rPr lang="en-IN" sz="1100" dirty="0"/>
              <a:t>Applying business intelligence directly to security monitoring provided actionable clarity on operational strengths and gaps. Most notably, the platform quantified a critical threat landscape baseline: only approximately one-third (~33%) of identified incidents were actively blocked by existing automated mechanisms. This key finding gives leadership data-driven justification to enhance automated threat containment strategies while laying a robust analytical foundation for future security monitoring and incident response initiatives.</a:t>
            </a:r>
            <a:endParaRPr lang="en-US" sz="1100" dirty="0"/>
          </a:p>
        </p:txBody>
      </p:sp>
      <p:sp>
        <p:nvSpPr>
          <p:cNvPr id="16" name="Shape 12"/>
          <p:cNvSpPr/>
          <p:nvPr/>
        </p:nvSpPr>
        <p:spPr>
          <a:xfrm>
            <a:off x="8028432" y="2788920"/>
            <a:ext cx="3602736" cy="3976868"/>
          </a:xfrm>
          <a:prstGeom prst="roundRect">
            <a:avLst>
              <a:gd name="adj" fmla="val 271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7" name="Shape 13"/>
          <p:cNvSpPr/>
          <p:nvPr/>
        </p:nvSpPr>
        <p:spPr>
          <a:xfrm>
            <a:off x="8302752" y="3081528"/>
            <a:ext cx="658368" cy="658368"/>
          </a:xfrm>
          <a:prstGeom prst="roundRect">
            <a:avLst>
              <a:gd name="adj" fmla="val 12500"/>
            </a:avLst>
          </a:prstGeom>
          <a:solidFill>
            <a:srgbClr val="E9F2FE"/>
          </a:solidFill>
          <a:ln w="12700">
            <a:solidFill>
              <a:srgbClr val="1D6FE6">
                <a:alpha val="55000"/>
              </a:srgbClr>
            </a:solidFill>
            <a:prstDash val="solid"/>
          </a:ln>
        </p:spPr>
      </p:sp>
      <p:pic>
        <p:nvPicPr>
          <p:cNvPr id="18" name="Image 2" descr="preencoded.png"/>
          <p:cNvPicPr>
            <a:picLocks noChangeAspect="1"/>
          </p:cNvPicPr>
          <p:nvPr/>
        </p:nvPicPr>
        <p:blipFill>
          <a:blip r:embed="rId6"/>
          <a:stretch>
            <a:fillRect/>
          </a:stretch>
        </p:blipFill>
        <p:spPr>
          <a:xfrm>
            <a:off x="8460760" y="3239536"/>
            <a:ext cx="342351" cy="342351"/>
          </a:xfrm>
          <a:prstGeom prst="rect">
            <a:avLst/>
          </a:prstGeom>
        </p:spPr>
      </p:pic>
      <p:sp>
        <p:nvSpPr>
          <p:cNvPr id="19" name="Text 14"/>
          <p:cNvSpPr/>
          <p:nvPr/>
        </p:nvSpPr>
        <p:spPr>
          <a:xfrm>
            <a:off x="8314944" y="3781511"/>
            <a:ext cx="3054096" cy="411480"/>
          </a:xfrm>
          <a:prstGeom prst="rect">
            <a:avLst/>
          </a:prstGeom>
          <a:noFill/>
          <a:ln/>
        </p:spPr>
        <p:txBody>
          <a:bodyPr wrap="square" rtlCol="0" anchor="ctr"/>
          <a:lstStyle/>
          <a:p>
            <a:pPr marL="0" indent="0" algn="l">
              <a:buNone/>
            </a:pPr>
            <a:r>
              <a:rPr lang="en-US" sz="1600" b="1" dirty="0">
                <a:solidFill>
                  <a:srgbClr val="16294A"/>
                </a:solidFill>
                <a:latin typeface="Bookman Old Style" pitchFamily="34" charset="0"/>
                <a:ea typeface="Bookman Old Style" pitchFamily="34" charset="-122"/>
                <a:cs typeface="Bookman Old Style" pitchFamily="34" charset="-120"/>
              </a:rPr>
              <a:t>Overall Outcome</a:t>
            </a:r>
            <a:endParaRPr lang="en-US" sz="1600" dirty="0"/>
          </a:p>
        </p:txBody>
      </p:sp>
      <p:sp>
        <p:nvSpPr>
          <p:cNvPr id="20" name="Text 15"/>
          <p:cNvSpPr/>
          <p:nvPr/>
        </p:nvSpPr>
        <p:spPr>
          <a:xfrm>
            <a:off x="8321040" y="5185582"/>
            <a:ext cx="3310128" cy="758952"/>
          </a:xfrm>
          <a:prstGeom prst="rect">
            <a:avLst/>
          </a:prstGeom>
          <a:noFill/>
          <a:ln/>
        </p:spPr>
        <p:txBody>
          <a:bodyPr wrap="square" rtlCol="0" anchor="ctr"/>
          <a:lstStyle/>
          <a:p>
            <a:pPr lvl="0"/>
            <a:r>
              <a:rPr lang="en-IN" sz="1050" b="1" dirty="0"/>
              <a:t>End-to-End Intelligence Pipeline:</a:t>
            </a:r>
            <a:r>
              <a:rPr lang="en-IN" sz="1050" dirty="0"/>
              <a:t> Successfully converted 40,000 raw cybersecurity event logs into seven multi-dimensional, interactive Power BI dashboards for real-time monitoring.</a:t>
            </a:r>
          </a:p>
          <a:p>
            <a:pPr lvl="0"/>
            <a:r>
              <a:rPr lang="en-IN" sz="1050" b="1" dirty="0"/>
              <a:t>Technical Mastery:</a:t>
            </a:r>
            <a:r>
              <a:rPr lang="en-IN" sz="1050" dirty="0"/>
              <a:t> Demonstrated full lifecycle BI capability-including custom DAX </a:t>
            </a:r>
            <a:r>
              <a:rPr lang="en-IN" sz="1050" dirty="0" err="1"/>
              <a:t>modeling</a:t>
            </a:r>
            <a:r>
              <a:rPr lang="en-IN" sz="1050" dirty="0"/>
              <a:t>, relational schema architecture, and multi-layered analytical storytelling.</a:t>
            </a:r>
          </a:p>
          <a:p>
            <a:pPr lvl="0"/>
            <a:r>
              <a:rPr lang="en-IN" sz="1050" b="1" dirty="0"/>
              <a:t>Operational Bridge:</a:t>
            </a:r>
            <a:r>
              <a:rPr lang="en-IN" sz="1050" dirty="0"/>
              <a:t> Connected raw technical event telemetry with high-level executive decision-making, providing seamless drill-down capabilities for both engineers and leadership.</a:t>
            </a:r>
          </a:p>
          <a:p>
            <a:pPr lvl="0"/>
            <a:r>
              <a:rPr lang="en-IN" sz="1050" b="1" dirty="0"/>
              <a:t>Quantified Posture Gap:</a:t>
            </a:r>
            <a:r>
              <a:rPr lang="en-IN" sz="1050" dirty="0"/>
              <a:t> Identified that only ~33% of detected threats were actively blocked, delivering clear data evidence to drive automated threat response improvements and guide future security roadmap investments.</a:t>
            </a:r>
          </a:p>
          <a:p>
            <a:pPr marL="0" indent="0" algn="l">
              <a:lnSpc>
                <a:spcPct val="104000"/>
              </a:lnSpc>
              <a:buNone/>
            </a:pPr>
            <a:endParaRPr lang="en-US" sz="1050" dirty="0"/>
          </a:p>
        </p:txBody>
      </p:sp>
      <p:grpSp>
        <p:nvGrpSpPr>
          <p:cNvPr id="21" name="Group 18">
            <a:extLst>
              <a:ext uri="{FF2B5EF4-FFF2-40B4-BE49-F238E27FC236}">
                <a16:creationId xmlns:a16="http://schemas.microsoft.com/office/drawing/2014/main" xmlns="" id="{13633F44-D353-98EC-CE9A-8FAB0C3CAB8A}"/>
              </a:ext>
            </a:extLst>
          </p:cNvPr>
          <p:cNvGrpSpPr/>
          <p:nvPr/>
        </p:nvGrpSpPr>
        <p:grpSpPr>
          <a:xfrm>
            <a:off x="127718" y="92211"/>
            <a:ext cx="1168193" cy="227829"/>
            <a:chOff x="0" y="0"/>
            <a:chExt cx="3584702" cy="861695"/>
          </a:xfrm>
        </p:grpSpPr>
        <p:sp>
          <p:nvSpPr>
            <p:cNvPr id="22" name="Freeform 19">
              <a:extLst>
                <a:ext uri="{FF2B5EF4-FFF2-40B4-BE49-F238E27FC236}">
                  <a16:creationId xmlns:a16="http://schemas.microsoft.com/office/drawing/2014/main" xmlns="" id="{54AD58F1-8210-0075-BD02-728CEEC03A2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7"/>
              <a:stretch>
                <a:fillRect t="-365" b="-365"/>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0" spc="300" dirty="0">
                <a:solidFill>
                  <a:srgbClr val="1D6FE6"/>
                </a:solidFill>
                <a:latin typeface="Calibri" pitchFamily="34" charset="0"/>
                <a:ea typeface="Calibri" pitchFamily="34" charset="-122"/>
                <a:cs typeface="Calibri" pitchFamily="34" charset="-120"/>
              </a:rPr>
              <a:t>10</a:t>
            </a: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 · ACKNOWLEDGEMENTS &amp; REFERENCES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With gratitude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1389888"/>
            <a:ext cx="7465310" cy="5257029"/>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The coordinated distribution of responsibilities, open communication, and collective problem-solving approach significantly contributed to the successful execution of this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a:t>
            </a:r>
            <a:r>
              <a:rPr kumimoji="0" lang="en-IN" sz="1300" b="0" i="0" u="none" strike="noStrike" kern="1200" cap="none" spc="0" normalizeH="0" baseline="0" noProof="0" dirty="0" err="1">
                <a:ln>
                  <a:noFill/>
                </a:ln>
                <a:solidFill>
                  <a:prstClr val="black"/>
                </a:solidFill>
                <a:effectLst/>
                <a:uLnTx/>
                <a:uFillTx/>
                <a:latin typeface="Calibri" panose="020F0502020204030204"/>
                <a:ea typeface="+mn-ea"/>
                <a:cs typeface="+mn-cs"/>
              </a:rPr>
              <a:t>experience.The</a:t>
            </a:r>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07704"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717804" y="1629609"/>
            <a:ext cx="285293" cy="285293"/>
          </a:xfrm>
          <a:prstGeom prst="rect">
            <a:avLst/>
          </a:prstGeom>
        </p:spPr>
      </p:pic>
      <p:sp>
        <p:nvSpPr>
          <p:cNvPr id="8" name="Text 5"/>
          <p:cNvSpPr/>
          <p:nvPr/>
        </p:nvSpPr>
        <p:spPr>
          <a:xfrm>
            <a:off x="1211580" y="1444564"/>
            <a:ext cx="516636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ACKNOWLEDGEMENTS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8145624" y="1408177"/>
            <a:ext cx="3494688" cy="5238740"/>
          </a:xfrm>
          <a:prstGeom prst="roundRect">
            <a:avLst>
              <a:gd name="adj" fmla="val 160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7" name="Shape 14"/>
          <p:cNvSpPr/>
          <p:nvPr/>
        </p:nvSpPr>
        <p:spPr>
          <a:xfrm>
            <a:off x="8250375"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18" name="Image 1" descr="preencoded.png"/>
          <p:cNvPicPr>
            <a:picLocks noChangeAspect="1"/>
          </p:cNvPicPr>
          <p:nvPr/>
        </p:nvPicPr>
        <p:blipFill>
          <a:blip r:embed="rId5"/>
          <a:stretch>
            <a:fillRect/>
          </a:stretch>
        </p:blipFill>
        <p:spPr>
          <a:xfrm>
            <a:off x="8382048" y="1636627"/>
            <a:ext cx="285293" cy="285293"/>
          </a:xfrm>
          <a:prstGeom prst="rect">
            <a:avLst/>
          </a:prstGeom>
        </p:spPr>
      </p:pic>
      <p:sp>
        <p:nvSpPr>
          <p:cNvPr id="19" name="Text 15"/>
          <p:cNvSpPr/>
          <p:nvPr/>
        </p:nvSpPr>
        <p:spPr>
          <a:xfrm>
            <a:off x="8799014" y="1497936"/>
            <a:ext cx="336499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REFERENCES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8250375" y="2216991"/>
            <a:ext cx="3016027" cy="3429000"/>
          </a:xfrm>
          <a:prstGeom prst="rect">
            <a:avLst/>
          </a:prstGeom>
          <a:noFill/>
          <a:ln/>
        </p:spPr>
        <p:txBody>
          <a:bodyPr wrap="square" rtlCol="0" anchor="t"/>
          <a:lstStyle/>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Kaggle - “Cyber Security Attacks” dataset (40,000 records, 2020–2023)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Microsoft Power BI &amp; DAX official documentation and community resources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54000" marR="0" lvl="0" indent="-254000" algn="l" defTabSz="914400" rtl="0" eaLnBrk="1" fontAlgn="auto" latinLnBrk="0" hangingPunct="1">
              <a:lnSpc>
                <a:spcPct val="105000"/>
              </a:lnSpc>
              <a:spcBef>
                <a:spcPts val="0"/>
              </a:spcBef>
              <a:spcAft>
                <a:spcPts val="1600"/>
              </a:spcAft>
              <a:buClrTx/>
              <a:buSzPct val="100000"/>
              <a:buFont typeface="+mj-lt"/>
              <a:buAutoNum type="arabicPeriod"/>
              <a:tabLst/>
              <a:defRPr/>
            </a:pPr>
            <a:r>
              <a:rPr kumimoji="0" lang="en-US" sz="12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Infosys Springboard learning modules and training materials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18">
            <a:extLst>
              <a:ext uri="{FF2B5EF4-FFF2-40B4-BE49-F238E27FC236}">
                <a16:creationId xmlns:a16="http://schemas.microsoft.com/office/drawing/2014/main" xmlns="" id="{DD860F22-34AD-4436-1234-34FE6D2CFAAF}"/>
              </a:ext>
            </a:extLst>
          </p:cNvPr>
          <p:cNvGrpSpPr/>
          <p:nvPr/>
        </p:nvGrpSpPr>
        <p:grpSpPr>
          <a:xfrm>
            <a:off x="127718" y="92211"/>
            <a:ext cx="1168193" cy="227829"/>
            <a:chOff x="0" y="0"/>
            <a:chExt cx="3584702" cy="861695"/>
          </a:xfrm>
        </p:grpSpPr>
        <p:sp>
          <p:nvSpPr>
            <p:cNvPr id="22" name="Freeform 19">
              <a:extLst>
                <a:ext uri="{FF2B5EF4-FFF2-40B4-BE49-F238E27FC236}">
                  <a16:creationId xmlns:a16="http://schemas.microsoft.com/office/drawing/2014/main" xmlns="" id="{31AAF27D-FD5F-79F0-AD4F-589EB9F014C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230368" y="1234440"/>
            <a:ext cx="1737360" cy="1997964"/>
          </a:xfrm>
          <a:prstGeom prst="rect">
            <a:avLst/>
          </a:prstGeom>
        </p:spPr>
      </p:pic>
      <p:sp>
        <p:nvSpPr>
          <p:cNvPr id="3" name="Text 0"/>
          <p:cNvSpPr/>
          <p:nvPr/>
        </p:nvSpPr>
        <p:spPr>
          <a:xfrm>
            <a:off x="0" y="3520440"/>
            <a:ext cx="12191695" cy="914400"/>
          </a:xfrm>
          <a:prstGeom prst="rect">
            <a:avLst/>
          </a:prstGeom>
          <a:noFill/>
          <a:ln/>
        </p:spPr>
        <p:txBody>
          <a:bodyPr wrap="square" rtlCol="0" anchor="ctr"/>
          <a:lstStyle/>
          <a:p>
            <a:pPr marL="0" indent="0" algn="ctr">
              <a:buNone/>
            </a:pPr>
            <a:r>
              <a:rPr lang="en-US" sz="5200" b="1" dirty="0">
                <a:solidFill>
                  <a:srgbClr val="16294A"/>
                </a:solidFill>
                <a:latin typeface="Bookman Old Style" pitchFamily="34" charset="0"/>
                <a:ea typeface="Bookman Old Style" pitchFamily="34" charset="-122"/>
                <a:cs typeface="Bookman Old Style" pitchFamily="34" charset="-120"/>
              </a:rPr>
              <a:t>Thank You</a:t>
            </a:r>
            <a:endParaRPr lang="en-US" sz="5200" dirty="0"/>
          </a:p>
        </p:txBody>
      </p:sp>
      <p:sp>
        <p:nvSpPr>
          <p:cNvPr id="4" name="Text 1"/>
          <p:cNvSpPr/>
          <p:nvPr/>
        </p:nvSpPr>
        <p:spPr>
          <a:xfrm>
            <a:off x="0" y="4480560"/>
            <a:ext cx="12191695" cy="365760"/>
          </a:xfrm>
          <a:prstGeom prst="rect">
            <a:avLst/>
          </a:prstGeom>
          <a:noFill/>
          <a:ln/>
        </p:spPr>
        <p:txBody>
          <a:bodyPr wrap="square" rtlCol="0" anchor="ctr"/>
          <a:lstStyle/>
          <a:p>
            <a:pPr marL="0" indent="0" algn="ctr">
              <a:buNone/>
            </a:pPr>
            <a:r>
              <a:rPr lang="en-US" sz="1400" dirty="0">
                <a:solidFill>
                  <a:srgbClr val="1D6FE6"/>
                </a:solidFill>
                <a:latin typeface="Calibri" pitchFamily="34" charset="0"/>
                <a:ea typeface="Calibri" pitchFamily="34" charset="-122"/>
                <a:cs typeface="Calibri" pitchFamily="34" charset="-120"/>
              </a:rPr>
              <a:t>Cyber Threat Analytics Platform with Incident Visualization System</a:t>
            </a:r>
            <a:endParaRPr lang="en-US" sz="1400" dirty="0"/>
          </a:p>
        </p:txBody>
      </p:sp>
      <p:sp>
        <p:nvSpPr>
          <p:cNvPr id="5" name="Text 2"/>
          <p:cNvSpPr/>
          <p:nvPr/>
        </p:nvSpPr>
        <p:spPr>
          <a:xfrm>
            <a:off x="0" y="4937760"/>
            <a:ext cx="12191695" cy="365760"/>
          </a:xfrm>
          <a:prstGeom prst="rect">
            <a:avLst/>
          </a:prstGeom>
          <a:noFill/>
          <a:ln/>
        </p:spPr>
        <p:txBody>
          <a:bodyPr wrap="square" rtlCol="0" anchor="ctr"/>
          <a:lstStyle/>
          <a:p>
            <a:pPr marL="0" indent="0" algn="ctr">
              <a:buNone/>
            </a:pPr>
            <a:r>
              <a:rPr lang="en-US" sz="1200" dirty="0">
                <a:solidFill>
                  <a:srgbClr val="51617C"/>
                </a:solidFill>
                <a:latin typeface="Calibri" pitchFamily="34" charset="0"/>
                <a:ea typeface="Calibri" pitchFamily="34" charset="-122"/>
                <a:cs typeface="Calibri" pitchFamily="34" charset="-120"/>
              </a:rPr>
              <a:t>Siddhant Singh   ·   Infosys Springboard Virtual Internship 7.0   ·   Mentor: Ms. Nithyasri S J</a:t>
            </a:r>
            <a:endParaRPr lang="en-US" sz="1200" dirty="0"/>
          </a:p>
        </p:txBody>
      </p:sp>
      <p:grpSp>
        <p:nvGrpSpPr>
          <p:cNvPr id="6" name="Group 18">
            <a:extLst>
              <a:ext uri="{FF2B5EF4-FFF2-40B4-BE49-F238E27FC236}">
                <a16:creationId xmlns:a16="http://schemas.microsoft.com/office/drawing/2014/main" xmlns="" id="{662F8DA0-B29A-CD62-2538-C0CC7AEA025C}"/>
              </a:ext>
            </a:extLst>
          </p:cNvPr>
          <p:cNvGrpSpPr/>
          <p:nvPr/>
        </p:nvGrpSpPr>
        <p:grpSpPr>
          <a:xfrm>
            <a:off x="10021078" y="206125"/>
            <a:ext cx="1939723" cy="447018"/>
            <a:chOff x="0" y="0"/>
            <a:chExt cx="3584702" cy="861695"/>
          </a:xfrm>
        </p:grpSpPr>
        <p:sp>
          <p:nvSpPr>
            <p:cNvPr id="7" name="Freeform 19">
              <a:extLst>
                <a:ext uri="{FF2B5EF4-FFF2-40B4-BE49-F238E27FC236}">
                  <a16:creationId xmlns:a16="http://schemas.microsoft.com/office/drawing/2014/main" xmlns="" id="{9E16037E-5CD3-674E-2EBE-21AB68E6F89B}"/>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2960</Words>
  <Application>Microsoft Office PowerPoint</Application>
  <PresentationFormat>Widescreen</PresentationFormat>
  <Paragraphs>255</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13</cp:revision>
  <dcterms:created xsi:type="dcterms:W3CDTF">2026-08-16T16:15:30Z</dcterms:created>
  <dcterms:modified xsi:type="dcterms:W3CDTF">2026-08-25T14:54:39Z</dcterms:modified>
</cp:coreProperties>
</file>